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556"/>
                </a:solidFill>
                <a:latin typeface="Calibri"/>
              </a:defRPr>
            </a:pPr>
            <a:r>
              <a:rPr lang="en-US" sz="1200" b="0" i="0" u="none" strike="noStrike">
                <a:solidFill>
                  <a:srgbClr val="0B3556"/>
                </a:solidFill>
                <a:latin typeface="Calibri"/>
              </a:rPr>
              <a:t>Monthly Active Users — 2023 (verified from Fact_Streaming)</a:t>
            </a:r>
          </a:p>
        </c:rich>
      </c:tx>
      <c:overlay val="0"/>
    </c:title>
    <c:autoTitleDeleted val="0"/>
    <c:plotArea>
      <c:layout/>
      <c:lineChart>
        <c:grouping val="standard"/>
        <c:varyColors val="0"/>
        <c:ser>
          <c:idx val="0"/>
          <c:order val="0"/>
          <c:tx>
            <c:strRef>
              <c:f>Sheet1!$B$1</c:f>
              <c:strCache>
                <c:ptCount val="1"/>
                <c:pt idx="0">
                  <c:v>Users</c:v>
                </c:pt>
              </c:strCache>
            </c:strRef>
          </c:tx>
          <c:spPr>
            <a:ln w="31750" cap="flat">
              <a:solidFill>
                <a:srgbClr val="1E6FA8"/>
              </a:solidFill>
              <a:prstDash val="solid"/>
              <a:round/>
            </a:ln>
            <a:effectLst/>
          </c:spPr>
          <c:marker>
            <c:symbol val="circle"/>
            <c:size val="6"/>
            <c:spPr>
              <a:solidFill>
                <a:srgbClr val="1E6FA8"/>
              </a:solidFill>
              <a:ln w="9525" cap="flat">
                <a:solidFill>
                  <a:srgbClr val="1E6FA8"/>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196</c:v>
                </c:pt>
                <c:pt idx="1">
                  <c:v>207</c:v>
                </c:pt>
                <c:pt idx="2">
                  <c:v>165</c:v>
                </c:pt>
                <c:pt idx="3">
                  <c:v>140</c:v>
                </c:pt>
                <c:pt idx="4">
                  <c:v>5553</c:v>
                </c:pt>
                <c:pt idx="5">
                  <c:v>2501</c:v>
                </c:pt>
                <c:pt idx="6">
                  <c:v>1</c:v>
                </c:pt>
                <c:pt idx="7">
                  <c:v>3</c:v>
                </c:pt>
                <c:pt idx="8">
                  <c:v>3</c:v>
                </c:pt>
                <c:pt idx="9">
                  <c:v>7</c:v>
                </c:pt>
                <c:pt idx="10">
                  <c:v>642</c:v>
                </c:pt>
                <c:pt idx="11">
                  <c:v>582</c:v>
                </c:pt>
              </c:numCache>
            </c:numRef>
          </c:val>
          <c:smooth val="0"/>
          <c:extLst>
            <c:ext xmlns:c16="http://schemas.microsoft.com/office/drawing/2014/chart" uri="{C3380CC4-5D6E-409C-BE32-E72D297353CC}">
              <c16:uniqueId val="{00000000-3ACC-4D07-823D-B5F72C5C626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7DEE6"/>
            </a:solidFill>
            <a:prstDash val="solid"/>
            <a:round/>
          </a:ln>
        </c:spPr>
        <c:txPr>
          <a:bodyPr/>
          <a:lstStyle/>
          <a:p>
            <a:pPr>
              <a:defRPr sz="1000" b="0" i="0" u="none" strike="noStrike">
                <a:solidFill>
                  <a:srgbClr val="6E7A8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7DE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E7A8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556"/>
                </a:solidFill>
                <a:latin typeface="Calibri"/>
              </a:defRPr>
            </a:pPr>
            <a:r>
              <a:rPr lang="en-US" sz="1200" b="0" i="0" u="none" strike="noStrike">
                <a:solidFill>
                  <a:srgbClr val="0B3556"/>
                </a:solidFill>
                <a:latin typeface="Calibri"/>
              </a:rPr>
              <a:t>Streaming Hours by Content Type</a:t>
            </a:r>
          </a:p>
        </c:rich>
      </c:tx>
      <c:overlay val="0"/>
    </c:title>
    <c:autoTitleDeleted val="0"/>
    <c:plotArea>
      <c:layout/>
      <c:doughnutChart>
        <c:varyColors val="1"/>
        <c:ser>
          <c:idx val="0"/>
          <c:order val="0"/>
          <c:tx>
            <c:strRef>
              <c:f>Sheet1!$B$1</c:f>
              <c:strCache>
                <c:ptCount val="1"/>
                <c:pt idx="0">
                  <c:v>Hours</c:v>
                </c:pt>
              </c:strCache>
            </c:strRef>
          </c:tx>
          <c:spPr>
            <a:solidFill>
              <a:schemeClr val="accent1"/>
            </a:solidFill>
            <a:ln w="9525" cap="flat">
              <a:solidFill>
                <a:srgbClr val="F9F9F9"/>
              </a:solidFill>
              <a:prstDash val="solid"/>
              <a:round/>
            </a:ln>
            <a:effectLst/>
          </c:spPr>
          <c:dPt>
            <c:idx val="0"/>
            <c:bubble3D val="0"/>
            <c:spPr>
              <a:solidFill>
                <a:srgbClr val="0B3556"/>
              </a:solidFill>
              <a:effectLst/>
            </c:spPr>
            <c:extLst>
              <c:ext xmlns:c16="http://schemas.microsoft.com/office/drawing/2014/chart" uri="{C3380CC4-5D6E-409C-BE32-E72D297353CC}">
                <c16:uniqueId val="{00000001-8EDA-4265-96DF-FE40A2385ACF}"/>
              </c:ext>
            </c:extLst>
          </c:dPt>
          <c:dPt>
            <c:idx val="1"/>
            <c:bubble3D val="0"/>
            <c:spPr>
              <a:solidFill>
                <a:srgbClr val="1E6FA8"/>
              </a:solidFill>
              <a:effectLst/>
            </c:spPr>
            <c:extLst>
              <c:ext xmlns:c16="http://schemas.microsoft.com/office/drawing/2014/chart" uri="{C3380CC4-5D6E-409C-BE32-E72D297353CC}">
                <c16:uniqueId val="{00000003-8EDA-4265-96DF-FE40A2385ACF}"/>
              </c:ext>
            </c:extLst>
          </c:dPt>
          <c:dPt>
            <c:idx val="2"/>
            <c:bubble3D val="0"/>
            <c:spPr>
              <a:solidFill>
                <a:srgbClr val="3DB8F0"/>
              </a:solidFill>
              <a:effectLst/>
            </c:spPr>
            <c:extLst>
              <c:ext xmlns:c16="http://schemas.microsoft.com/office/drawing/2014/chart" uri="{C3380CC4-5D6E-409C-BE32-E72D297353CC}">
                <c16:uniqueId val="{00000005-8EDA-4265-96DF-FE40A2385ACF}"/>
              </c:ext>
            </c:extLst>
          </c:dPt>
          <c:dPt>
            <c:idx val="3"/>
            <c:bubble3D val="0"/>
            <c:spPr>
              <a:solidFill>
                <a:srgbClr val="D7DEE6"/>
              </a:solidFill>
              <a:effectLst/>
            </c:spPr>
            <c:extLst>
              <c:ext xmlns:c16="http://schemas.microsoft.com/office/drawing/2014/chart" uri="{C3380CC4-5D6E-409C-BE32-E72D297353CC}">
                <c16:uniqueId val="{00000007-8EDA-4265-96DF-FE40A2385ACF}"/>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EDA-4265-96DF-FE40A2385ACF}"/>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EDA-4265-96DF-FE40A2385ACF}"/>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EDA-4265-96DF-FE40A2385ACF}"/>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EDA-4265-96DF-FE40A2385AC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Channel Live</c:v>
                </c:pt>
                <c:pt idx="1">
                  <c:v>Series</c:v>
                </c:pt>
                <c:pt idx="2">
                  <c:v>Movie</c:v>
                </c:pt>
                <c:pt idx="3">
                  <c:v>Catchup</c:v>
                </c:pt>
              </c:strCache>
            </c:strRef>
          </c:cat>
          <c:val>
            <c:numRef>
              <c:f>Sheet1!$B$2:$B$5</c:f>
              <c:numCache>
                <c:formatCode>General</c:formatCode>
                <c:ptCount val="4"/>
                <c:pt idx="0">
                  <c:v>1320.4</c:v>
                </c:pt>
                <c:pt idx="1">
                  <c:v>1278.0999999999999</c:v>
                </c:pt>
                <c:pt idx="2">
                  <c:v>56</c:v>
                </c:pt>
                <c:pt idx="3">
                  <c:v>4.7</c:v>
                </c:pt>
              </c:numCache>
            </c:numRef>
          </c:val>
          <c:extLst>
            <c:ext xmlns:c16="http://schemas.microsoft.com/office/drawing/2014/chart" uri="{C3380CC4-5D6E-409C-BE32-E72D297353CC}">
              <c16:uniqueId val="{00000008-8EDA-4265-96DF-FE40A2385ACF}"/>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900">
              <a:solidFill>
                <a:srgbClr val="13212B"/>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556"/>
                </a:solidFill>
                <a:latin typeface="Calibri"/>
              </a:defRPr>
            </a:pPr>
            <a:r>
              <a:rPr lang="en-ID" sz="1200" b="0" i="0" u="none" strike="noStrike">
                <a:solidFill>
                  <a:srgbClr val="0B3556"/>
                </a:solidFill>
                <a:latin typeface="Calibri"/>
              </a:rPr>
              <a:t>Users by Package Tier</a:t>
            </a:r>
          </a:p>
        </c:rich>
      </c:tx>
      <c:overlay val="0"/>
    </c:title>
    <c:autoTitleDeleted val="0"/>
    <c:plotArea>
      <c:layout/>
      <c:barChart>
        <c:barDir val="col"/>
        <c:grouping val="clustered"/>
        <c:varyColors val="0"/>
        <c:ser>
          <c:idx val="0"/>
          <c:order val="0"/>
          <c:tx>
            <c:strRef>
              <c:f>Sheet1!$B$1</c:f>
              <c:strCache>
                <c:ptCount val="1"/>
                <c:pt idx="0">
                  <c:v>Users</c:v>
                </c:pt>
              </c:strCache>
            </c:strRef>
          </c:tx>
          <c:spPr>
            <a:solidFill>
              <a:srgbClr val="1E6FA8"/>
            </a:solidFill>
            <a:effectLst/>
          </c:spPr>
          <c:invertIfNegative val="0"/>
          <c:dLbls>
            <c:numFmt formatCode="#,##0" sourceLinked="0"/>
            <c:spPr>
              <a:noFill/>
              <a:ln>
                <a:noFill/>
              </a:ln>
              <a:effectLst/>
            </c:spPr>
            <c:txPr>
              <a:bodyPr/>
              <a:lstStyle/>
              <a:p>
                <a:pPr>
                  <a:defRPr sz="1000" b="0" i="0" u="none" strike="noStrike">
                    <a:solidFill>
                      <a:srgbClr val="0B355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Premium</c:v>
                </c:pt>
                <c:pt idx="1">
                  <c:v>Premium Sports</c:v>
                </c:pt>
                <c:pt idx="2">
                  <c:v>Premium Ultimate</c:v>
                </c:pt>
                <c:pt idx="3">
                  <c:v>VIP</c:v>
                </c:pt>
              </c:strCache>
            </c:strRef>
          </c:cat>
          <c:val>
            <c:numRef>
              <c:f>Sheet1!$B$2:$B$5</c:f>
              <c:numCache>
                <c:formatCode>General</c:formatCode>
                <c:ptCount val="4"/>
                <c:pt idx="0">
                  <c:v>2500</c:v>
                </c:pt>
                <c:pt idx="1">
                  <c:v>2500</c:v>
                </c:pt>
                <c:pt idx="2">
                  <c:v>2500</c:v>
                </c:pt>
                <c:pt idx="3">
                  <c:v>2500</c:v>
                </c:pt>
              </c:numCache>
            </c:numRef>
          </c:val>
          <c:extLst>
            <c:ext xmlns:c16="http://schemas.microsoft.com/office/drawing/2014/chart" uri="{C3380CC4-5D6E-409C-BE32-E72D297353CC}">
              <c16:uniqueId val="{00000000-3ABD-42EE-B5ED-3CFDDD10DCF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A8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3556"/>
                </a:solidFill>
                <a:latin typeface="Calibri"/>
              </a:defRPr>
            </a:pPr>
            <a:r>
              <a:rPr lang="en-US" sz="1200" b="0" i="0" u="none" strike="noStrike">
                <a:solidFill>
                  <a:srgbClr val="0B3556"/>
                </a:solidFill>
                <a:latin typeface="Calibri"/>
              </a:rPr>
              <a:t>Total Users by Province (Top 8 of 79)</a:t>
            </a:r>
          </a:p>
        </c:rich>
      </c:tx>
      <c:overlay val="0"/>
    </c:title>
    <c:autoTitleDeleted val="0"/>
    <c:plotArea>
      <c:layout/>
      <c:barChart>
        <c:barDir val="bar"/>
        <c:grouping val="clustered"/>
        <c:varyColors val="0"/>
        <c:ser>
          <c:idx val="0"/>
          <c:order val="0"/>
          <c:tx>
            <c:strRef>
              <c:f>Sheet1!$B$1</c:f>
              <c:strCache>
                <c:ptCount val="1"/>
                <c:pt idx="0">
                  <c:v>Users</c:v>
                </c:pt>
              </c:strCache>
            </c:strRef>
          </c:tx>
          <c:spPr>
            <a:solidFill>
              <a:srgbClr val="1E6FA8"/>
            </a:solidFill>
            <a:effectLst/>
          </c:spPr>
          <c:invertIfNegative val="0"/>
          <c:dLbls>
            <c:numFmt formatCode="#,##0" sourceLinked="0"/>
            <c:spPr>
              <a:noFill/>
              <a:ln>
                <a:noFill/>
              </a:ln>
              <a:effectLst/>
            </c:spPr>
            <c:txPr>
              <a:bodyPr/>
              <a:lstStyle/>
              <a:p>
                <a:pPr>
                  <a:defRPr sz="900" b="0" i="0" u="none" strike="noStrike">
                    <a:solidFill>
                      <a:srgbClr val="0B355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Jakarta</c:v>
                </c:pt>
                <c:pt idx="1">
                  <c:v>West Java</c:v>
                </c:pt>
                <c:pt idx="2">
                  <c:v>East Java</c:v>
                </c:pt>
                <c:pt idx="3">
                  <c:v>Central Java</c:v>
                </c:pt>
                <c:pt idx="4">
                  <c:v>Riau</c:v>
                </c:pt>
                <c:pt idx="5">
                  <c:v>Banten</c:v>
                </c:pt>
                <c:pt idx="6">
                  <c:v>E. Kalimantan</c:v>
                </c:pt>
                <c:pt idx="7">
                  <c:v>N. Sumatra</c:v>
                </c:pt>
                <c:pt idx="8">
                  <c:v>Other 71 prov.</c:v>
                </c:pt>
              </c:strCache>
            </c:strRef>
          </c:cat>
          <c:val>
            <c:numRef>
              <c:f>Sheet1!$B$2:$B$10</c:f>
              <c:numCache>
                <c:formatCode>General</c:formatCode>
                <c:ptCount val="9"/>
                <c:pt idx="0">
                  <c:v>2386</c:v>
                </c:pt>
                <c:pt idx="1">
                  <c:v>2133</c:v>
                </c:pt>
                <c:pt idx="2">
                  <c:v>1456</c:v>
                </c:pt>
                <c:pt idx="3">
                  <c:v>594</c:v>
                </c:pt>
                <c:pt idx="4">
                  <c:v>363</c:v>
                </c:pt>
                <c:pt idx="5">
                  <c:v>298</c:v>
                </c:pt>
                <c:pt idx="6">
                  <c:v>273</c:v>
                </c:pt>
                <c:pt idx="7">
                  <c:v>264</c:v>
                </c:pt>
                <c:pt idx="8">
                  <c:v>2233</c:v>
                </c:pt>
              </c:numCache>
            </c:numRef>
          </c:val>
          <c:extLst>
            <c:ext xmlns:c16="http://schemas.microsoft.com/office/drawing/2014/chart" uri="{C3380CC4-5D6E-409C-BE32-E72D297353CC}">
              <c16:uniqueId val="{00000000-0390-4AF1-896A-83B7349D85C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E7A8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3556"/>
                </a:solidFill>
                <a:latin typeface="Calibri"/>
              </a:defRPr>
            </a:pPr>
            <a:r>
              <a:rPr lang="en-ID" sz="1100" b="0" i="0" u="none" strike="noStrike">
                <a:solidFill>
                  <a:srgbClr val="0B3556"/>
                </a:solidFill>
                <a:latin typeface="Calibri"/>
              </a:rPr>
              <a:t>Users by Age Group</a:t>
            </a:r>
          </a:p>
        </c:rich>
      </c:tx>
      <c:overlay val="0"/>
    </c:title>
    <c:autoTitleDeleted val="0"/>
    <c:plotArea>
      <c:layout/>
      <c:barChart>
        <c:barDir val="col"/>
        <c:grouping val="clustered"/>
        <c:varyColors val="0"/>
        <c:ser>
          <c:idx val="0"/>
          <c:order val="0"/>
          <c:tx>
            <c:strRef>
              <c:f>Sheet1!$B$1</c:f>
              <c:strCache>
                <c:ptCount val="1"/>
                <c:pt idx="0">
                  <c:v>Users</c:v>
                </c:pt>
              </c:strCache>
            </c:strRef>
          </c:tx>
          <c:spPr>
            <a:solidFill>
              <a:srgbClr val="0B3556"/>
            </a:solidFill>
            <a:effectLst/>
          </c:spPr>
          <c:invertIfNegative val="0"/>
          <c:dLbls>
            <c:numFmt formatCode="#,##0" sourceLinked="0"/>
            <c:spPr>
              <a:noFill/>
              <a:ln>
                <a:noFill/>
              </a:ln>
              <a:effectLst/>
            </c:spPr>
            <c:txPr>
              <a:bodyPr/>
              <a:lstStyle/>
              <a:p>
                <a:pPr>
                  <a:defRPr sz="900" b="0" i="0" u="none" strike="noStrike">
                    <a:solidFill>
                      <a:srgbClr val="0B355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26–35</c:v>
                </c:pt>
                <c:pt idx="1">
                  <c:v>17–25</c:v>
                </c:pt>
                <c:pt idx="2">
                  <c:v>36–50</c:v>
                </c:pt>
              </c:strCache>
            </c:strRef>
          </c:cat>
          <c:val>
            <c:numRef>
              <c:f>Sheet1!$B$2:$B$4</c:f>
              <c:numCache>
                <c:formatCode>General</c:formatCode>
                <c:ptCount val="3"/>
                <c:pt idx="0">
                  <c:v>4629</c:v>
                </c:pt>
                <c:pt idx="1">
                  <c:v>2917</c:v>
                </c:pt>
                <c:pt idx="2">
                  <c:v>2454</c:v>
                </c:pt>
              </c:numCache>
            </c:numRef>
          </c:val>
          <c:extLst>
            <c:ext xmlns:c16="http://schemas.microsoft.com/office/drawing/2014/chart" uri="{C3380CC4-5D6E-409C-BE32-E72D297353CC}">
              <c16:uniqueId val="{00000000-6808-44E9-A3E2-ED35A82F5BE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E7A8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08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portfolio case study: an end-to-end Power BI dashboard built from a raw streaming-activity dataset.
WHAT TO SAY: This project turns raw streaming activity data into an interactive two-page Power BI dashboard covering engagement, content, geography and demographics, with a national-to-province drill-down.
WHY IT MATTERS: Sets the frame that this is a full analytics workflow — data prep, modeling, DAX, and dashboard design — not just a pretty chart.
POSSIBLE INTERVIEWER QUESTION: "What was the main purpose of this dashboard?"
RECOMMENDED ANSWER: I wanted to give stakeholders one place to see how users engage with the platform — not just totals, but how that breaks down by region, content and device — and to let them drill from a national view into any single province in two clicks.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dashboard exists to solve a real analysis problem: fragmented raw data with no unified, drillable view.
WHAT TO SAY: Streaming activity data has a lot of raw attributes, but no single view connected engagement, content, geography and behavior — and there was no way to go from a national number to what's happening in one province.
WHY IT MATTERS: Shows the interviewer I think about the business problem before touching a chart.
POSSIBLE INTERVIEWER QUESTION: "How did you decide what this dashboard needed to show?"
RECOMMENDED ANSWER: I started from the questions stakeholders would actually ask — how big is the user base, where are they, what do they watch — and worked backward to the data needed to answer each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Five concrete analytical questions map directly onto the two dashboard pages.
WHAT TO SAY: I translated the business question into five specific questions, then split them across two pages: Dashboard for the national view, Detail Province for regional drill-down.
WHY IT MATTERS: Demonstrates structured thinking — questions first, visuals second — rather than starting from 'what chart looks nice'.
POSSIBLE INTERVIEWER QUESTION: "Why two pages instead of one?"
RECOMMENDED ANSWER: A single page can't hold both a clean national overview and a detailed regional breakdown without becoming cluttered — splitting them keeps each page focused and lets users drill down only when they need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model is a compact 4-table structure with real, verified Power Query transformation logic.
WHAT TO SAY: The core fact table has 10,000 rows and 20 columns, one row per viewing activity. A calendar table supports time intelligence, and a field-parameter table lets one chart switch metrics dynamically.
WHY IT MATTERS: Shows I can read and explain a real data model and its ETL logic, not just describe visuals.
POSSIBLE INTERVIEWER QUESTION: "Walk me through your data model."
RECOMMENDED ANSWER: Fact_Streaming holds the activity-level detail, Dim_Calendar supports month-over-month DAX calculations, and a small parameter table called Metric Selector lets the trend chart switch between three KPIs without duplicating visuals. Province names are also standardized against a reference list during data prep.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Dashboard page tells a national story, but the honest headline is a data concentration pattern, not smooth growth.
WHAT TO SAY: Three findings stand out from the executive page: a two-month concentration in activity, three provinces carrying most of the user base, and two content formats driving nearly all watch time.
WHY IT MATTERS: Shows I report what the data actually shows, including inconvenient patterns, instead of only flattering findings.
POSSIBLE INTERVIEWER QUESTION: "What was the most interesting finding on this page?"
RECOMMENDED ANSWER: Honestly, the monthly trend — 80% of users fall in just two months. Before I'd present that as growth, I'd want to confirm with the data owner whether that reflects a real usage spike or how the source data was collected.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Engagement headline numbers are solid, but the monthly trend needs a concentration caveat, not a growth narrative.
WHAT TO SAY: Total Users, Streaming Hours and Avg Watch Time are all straightforward aggregates. The interesting part is the monthly pattern — a huge spike in May–June, and a small decline from November to December.
WHY IT MATTERS: Shows comfort with time intelligence DAX (DATEADD) and honesty about what a card value depends on.
POSSIBLE INTERVIEWER QUESTION: "How would you calculate month-over-month growth in DAX?"
RECOMMENDED ANSWER: I'd use CALCULATE with DATEADD on the date table to shift the filter context back one month, then compare against the current period with DIVIDE to avoid divide-by-zero errors — that's exactly how the Users MoM% measure here is built.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Content consumption is concentrated by format (Live + Series) but spread across many titles — two very different kinds of concentration.
WHAT TO SAY: Live and Series make up 97.7% of hours, but no single title dominates — the top title is only 14.2% of hours out of 663 titles. Package tiers are evenly split at 25% each.
WHY IT MATTERS: Shows I can tell the difference between concentration by category and concentration by individual item, and I don't over-read an even split as a finding by itself.
POSSIBLE INTERVIEWER QUESTION: "Which package tier would you recommend the business invest in?"
RECOMMENDED ANSWER: I can't answer that from this dashboard alone — the tiers are exactly even in user count, so I'd need watch-hours or revenue per tier before recommending where to invest.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Geography is concentrated in 3 provinces; the device split needs an explicit data-quality caveat.
WHAT TO SAY: Jakarta, West Java and East Java are almost 60% of the national user base. Age skews toward 26–35. The device OS split looks like Android dominance, but that's actually a placeholder rule in the ETL, not real device data.
WHY IT MATTERS: Catching and disclosing the synthetic Device OS rule is exactly the kind of due diligence a hiring manager wants to see before trusting a number.
POSSIBLE INTERVIEWER QUESTION: "I noticed the Android/iOS split — what would you do with that?"
RECOMMENDED ANSWER: I'd flag it before using it. When I checked the Power Query logic, iOS was being assigned to every 5th record by index rather than captured from real device data, so I wouldn't use that split to justify a device strategy without going back to the source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Detail Province page turns a national number into a specific, actionable regional story in one click.
WHAT TO SAY: Selecting a province on the national map carries the province context into the Detail Province page, which shows rank, share of national users, dominant age group, top content, and an auto-generated narrative sentence.
WHY IT MATTERS: This is the clearest demonstration of interactivity and DAX text-generation in the whole report — good for a live demo.
POSSIBLE INTERVIEWER QUESTION: "How does the province filter get passed between pages?"
RECOMMENDED ANSWER: The Detail Province page carries a page-level filter on Province, driven by the selection made on the national map — so selecting Jakarta on the map carries the Jakarta province context to this page, where the visuals and narrative text update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Five insights, each traceable to a specific number in the dataset — no generic filler.
WHAT TO SAY: These five insights summarize the whole dashboard: a data-collection pattern to verify, a content format story, a geographic concentration, an even package split, and a demographic core with one caveat attached.
WHY IT MATTERS: Every insight follows Finding → Evidence → Implication, which is the structure a hiring manager wants to see in a real analyst's output.
POSSIBLE INTERVIEWER QUESTION: "If you had to pick one insight to act on first, which would it be?"
RECOMMENDED ANSWER: The geographic one — three provinces already representing 60% of users is something a marketing or retention team could act on immediately, whereas the monthly spike and package-tier findings both need one more round of verification first.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Recommendations are split by team and each traces back to a specific, verified finding — nothing generic.
WHAT TO SAY: Each team gets one clear, evidence-linked action: product investigates the spike and device data, content prioritizes Live and Series, marketing focuses on three provinces, and management holds off on tier pricing until usage data is available.
WHY IT MATTERS: Shows the ability to turn analysis into role-specific next steps, which is what separates a dashboard demo from a business deliverable.
POSSIBLE INTERVIEWER QUESTION: "How does this dashboard support better decision-making, concretely?"
RECOMMENDED ANSWER: It moves a stakeholder from a single national number to a specific, regional, evidence-backed action in a few clicks — for example, from 'we have 10,000 users' to 'Jakarta is 24% of them, mostly aged 26–35, favoring Series' to 'here's what our content team should prioritize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556"/>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E6FA8"/>
          </a:solidFill>
          <a:ln/>
        </p:spPr>
        <p:txBody>
          <a:bodyPr/>
          <a:lstStyle/>
          <a:p>
            <a:endParaRPr/>
          </a:p>
        </p:txBody>
      </p:sp>
      <p:sp>
        <p:nvSpPr>
          <p:cNvPr id="3" name="Shape 1"/>
          <p:cNvSpPr/>
          <p:nvPr/>
        </p:nvSpPr>
        <p:spPr>
          <a:xfrm>
            <a:off x="10607040" y="-548640"/>
            <a:ext cx="3291840" cy="3291840"/>
          </a:xfrm>
          <a:prstGeom prst="ellipse">
            <a:avLst/>
          </a:prstGeom>
          <a:solidFill>
            <a:srgbClr val="0B3556"/>
          </a:solidFill>
          <a:ln/>
        </p:spPr>
        <p:txBody>
          <a:bodyPr/>
          <a:lstStyle/>
          <a:p>
            <a:endParaRPr/>
          </a:p>
        </p:txBody>
      </p:sp>
      <p:sp>
        <p:nvSpPr>
          <p:cNvPr id="4" name="Shape 2"/>
          <p:cNvSpPr/>
          <p:nvPr/>
        </p:nvSpPr>
        <p:spPr>
          <a:xfrm>
            <a:off x="-1645920" y="4754880"/>
            <a:ext cx="3840480" cy="3840480"/>
          </a:xfrm>
          <a:prstGeom prst="ellipse">
            <a:avLst/>
          </a:prstGeom>
          <a:solidFill>
            <a:srgbClr val="1E6FA8"/>
          </a:solidFill>
          <a:ln/>
        </p:spPr>
        <p:txBody>
          <a:bodyPr/>
          <a:lstStyle/>
          <a:p>
            <a:endParaRPr/>
          </a:p>
        </p:txBody>
      </p:sp>
      <p:sp>
        <p:nvSpPr>
          <p:cNvPr id="5" name="Shape 3"/>
          <p:cNvSpPr/>
          <p:nvPr/>
        </p:nvSpPr>
        <p:spPr>
          <a:xfrm>
            <a:off x="640080" y="640080"/>
            <a:ext cx="566928" cy="566928"/>
          </a:xfrm>
          <a:prstGeom prst="ellipse">
            <a:avLst/>
          </a:prstGeom>
          <a:solidFill>
            <a:srgbClr val="3DB8F0"/>
          </a:solidFill>
          <a:ln/>
        </p:spPr>
        <p:txBody>
          <a:bodyPr/>
          <a:lstStyle/>
          <a:p>
            <a:endParaRPr/>
          </a:p>
        </p:txBody>
      </p:sp>
      <p:pic>
        <p:nvPicPr>
          <p:cNvPr id="6" name="Image 0" descr="/home/claude/work/icons/tv_0B3556.png"/>
          <p:cNvPicPr>
            <a:picLocks noChangeAspect="1"/>
          </p:cNvPicPr>
          <p:nvPr/>
        </p:nvPicPr>
        <p:blipFill>
          <a:blip r:embed="rId3"/>
          <a:stretch>
            <a:fillRect/>
          </a:stretch>
        </p:blipFill>
        <p:spPr>
          <a:xfrm>
            <a:off x="776143" y="776143"/>
            <a:ext cx="294803" cy="294803"/>
          </a:xfrm>
          <a:prstGeom prst="rect">
            <a:avLst/>
          </a:prstGeom>
        </p:spPr>
      </p:pic>
      <p:sp>
        <p:nvSpPr>
          <p:cNvPr id="7" name="Text 4"/>
          <p:cNvSpPr/>
          <p:nvPr/>
        </p:nvSpPr>
        <p:spPr>
          <a:xfrm>
            <a:off x="1371600" y="658368"/>
            <a:ext cx="4572000" cy="365760"/>
          </a:xfrm>
          <a:prstGeom prst="rect">
            <a:avLst/>
          </a:prstGeom>
          <a:noFill/>
          <a:ln/>
        </p:spPr>
        <p:txBody>
          <a:bodyPr wrap="square" lIns="0" tIns="0" rIns="0" bIns="0" rtlCol="0" anchor="ctr"/>
          <a:lstStyle/>
          <a:p>
            <a:pPr marL="0" indent="0">
              <a:buNone/>
            </a:pPr>
            <a:r>
              <a:rPr lang="en-US" sz="1300" b="1" kern="0" spc="200" dirty="0">
                <a:solidFill>
                  <a:srgbClr val="3DB8F0"/>
                </a:solidFill>
                <a:latin typeface="Calibri" pitchFamily="34" charset="0"/>
                <a:ea typeface="Calibri" pitchFamily="34" charset="-122"/>
                <a:cs typeface="Calibri" pitchFamily="34" charset="-120"/>
              </a:rPr>
              <a:t>PORTFOLIO CASE STUDY</a:t>
            </a:r>
            <a:endParaRPr lang="en-US" sz="1300" dirty="0"/>
          </a:p>
        </p:txBody>
      </p:sp>
      <p:sp>
        <p:nvSpPr>
          <p:cNvPr id="8" name="Text 5"/>
          <p:cNvSpPr/>
          <p:nvPr/>
        </p:nvSpPr>
        <p:spPr>
          <a:xfrm>
            <a:off x="640080" y="2286000"/>
            <a:ext cx="960120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Streaming Platform</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Analytics Dashboard</a:t>
            </a:r>
            <a:endParaRPr lang="en-US" sz="4400" dirty="0"/>
          </a:p>
        </p:txBody>
      </p:sp>
      <p:sp>
        <p:nvSpPr>
          <p:cNvPr id="9" name="Text 6"/>
          <p:cNvSpPr/>
          <p:nvPr/>
        </p:nvSpPr>
        <p:spPr>
          <a:xfrm>
            <a:off x="658368" y="3977640"/>
            <a:ext cx="9144000" cy="457200"/>
          </a:xfrm>
          <a:prstGeom prst="rect">
            <a:avLst/>
          </a:prstGeom>
          <a:noFill/>
          <a:ln/>
        </p:spPr>
        <p:txBody>
          <a:bodyPr wrap="square" lIns="0" tIns="0" rIns="0" bIns="0" rtlCol="0" anchor="ctr"/>
          <a:lstStyle/>
          <a:p>
            <a:pPr marL="0" indent="0">
              <a:buNone/>
            </a:pPr>
            <a:r>
              <a:rPr lang="en-US" sz="1800" i="1" dirty="0">
                <a:solidFill>
                  <a:srgbClr val="E4EEF8"/>
                </a:solidFill>
                <a:latin typeface="Calibri" pitchFamily="34" charset="0"/>
                <a:ea typeface="Calibri" pitchFamily="34" charset="-122"/>
                <a:cs typeface="Calibri" pitchFamily="34" charset="-120"/>
              </a:rPr>
              <a:t>User Engagement, Content Performance &amp; Geographic Insights</a:t>
            </a:r>
            <a:endParaRPr lang="en-US" sz="1800" dirty="0"/>
          </a:p>
        </p:txBody>
      </p:sp>
      <p:sp>
        <p:nvSpPr>
          <p:cNvPr id="10" name="Shape 7"/>
          <p:cNvSpPr/>
          <p:nvPr/>
        </p:nvSpPr>
        <p:spPr>
          <a:xfrm>
            <a:off x="658368" y="4617720"/>
            <a:ext cx="2011680" cy="0"/>
          </a:xfrm>
          <a:prstGeom prst="line">
            <a:avLst/>
          </a:prstGeom>
          <a:noFill/>
          <a:ln w="25400">
            <a:solidFill>
              <a:srgbClr val="3DB8F0"/>
            </a:solidFill>
            <a:prstDash val="solid"/>
          </a:ln>
        </p:spPr>
        <p:txBody>
          <a:bodyPr/>
          <a:lstStyle/>
          <a:p>
            <a:endParaRPr/>
          </a:p>
        </p:txBody>
      </p:sp>
      <p:sp>
        <p:nvSpPr>
          <p:cNvPr id="11" name="Text 8"/>
          <p:cNvSpPr txBox="1"/>
          <p:nvPr/>
        </p:nvSpPr>
        <p:spPr>
          <a:xfrm>
            <a:off x="658368" y="4846320"/>
            <a:ext cx="7315200" cy="1005840"/>
          </a:xfrm>
          <a:prstGeom prst="rect">
            <a:avLst/>
          </a:prstGeom>
          <a:noFill/>
          <a:ln/>
        </p:spPr>
        <p:txBody>
          <a:bodyPr wrap="square" lIns="0" tIns="0" rIns="0" bIns="0" rtlCol="0" anchor="ctr"/>
          <a:lstStyle/>
          <a:p>
            <a:pPr marL="0" indent="0">
              <a:lnSpc>
                <a:spcPts val="2200"/>
              </a:lnSpc>
              <a:buNone/>
            </a:pPr>
            <a:r>
              <a:rPr lang="en-US" sz="1600" b="1" dirty="0">
                <a:solidFill>
                  <a:srgbClr val="FFFFFF"/>
                </a:solidFill>
                <a:latin typeface="Calibri" pitchFamily="34" charset="0"/>
                <a:ea typeface="Calibri" pitchFamily="34" charset="-122"/>
                <a:cs typeface="Calibri" pitchFamily="34" charset="-120"/>
              </a:rPr>
              <a:t>Brian Naufal</a:t>
            </a:r>
            <a:endParaRPr lang="en-US" sz="1600" dirty="0"/>
          </a:p>
          <a:p>
            <a:pPr marL="0" indent="0">
              <a:lnSpc>
                <a:spcPts val="2200"/>
              </a:lnSpc>
              <a:buNone/>
            </a:pPr>
            <a:r>
              <a:rPr lang="en-US" sz="1300" dirty="0">
                <a:solidFill>
                  <a:srgbClr val="E4EEF8"/>
                </a:solidFill>
                <a:latin typeface="Calibri" pitchFamily="34" charset="0"/>
                <a:ea typeface="Calibri" pitchFamily="34" charset="-122"/>
                <a:cs typeface="Calibri" pitchFamily="34" charset="-120"/>
              </a:rPr>
              <a:t>Data Analyst / Business Intelligence</a:t>
            </a:r>
            <a:endParaRPr lang="en-US" sz="1600" dirty="0"/>
          </a:p>
          <a:p>
            <a:pPr marL="0" indent="0">
              <a:lnSpc>
                <a:spcPts val="2200"/>
              </a:lnSpc>
              <a:buNone/>
            </a:pPr>
            <a:r>
              <a:rPr lang="en-US" sz="1300" dirty="0">
                <a:solidFill>
                  <a:srgbClr val="E4EEF8"/>
                </a:solidFill>
                <a:latin typeface="Calibri" pitchFamily="34" charset="0"/>
                <a:ea typeface="Calibri" pitchFamily="34" charset="-122"/>
                <a:cs typeface="Calibri" pitchFamily="34" charset="-120"/>
              </a:rPr>
              <a:t>Built with Power BI  •  DAX  •  Power Query</a:t>
            </a:r>
            <a:endParaRPr lang="en-US" sz="1600" dirty="0"/>
          </a:p>
        </p:txBody>
      </p:sp>
      <p:sp>
        <p:nvSpPr>
          <p:cNvPr id="13" name="Text 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Streaming Platform Analytics Dashboard — Portfolio Case Study</a:t>
            </a:r>
            <a:endParaRPr lang="en-US" sz="900" dirty="0"/>
          </a:p>
        </p:txBody>
      </p:sp>
      <p:sp>
        <p:nvSpPr>
          <p:cNvPr id="14" name="Text 1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 / 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BUSINESS CONTEXT</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Why This Dashboard Was Built</a:t>
            </a:r>
            <a:endParaRPr lang="en-US" sz="2800" dirty="0"/>
          </a:p>
        </p:txBody>
      </p:sp>
      <p:sp>
        <p:nvSpPr>
          <p:cNvPr id="4" name="Shape 2"/>
          <p:cNvSpPr/>
          <p:nvPr/>
        </p:nvSpPr>
        <p:spPr>
          <a:xfrm>
            <a:off x="548640" y="1554480"/>
            <a:ext cx="11064240" cy="960120"/>
          </a:xfrm>
          <a:prstGeom prst="roundRect">
            <a:avLst>
              <a:gd name="adj" fmla="val 761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5" name="Shape 3"/>
          <p:cNvSpPr/>
          <p:nvPr/>
        </p:nvSpPr>
        <p:spPr>
          <a:xfrm>
            <a:off x="777240" y="1755648"/>
            <a:ext cx="548640" cy="548640"/>
          </a:xfrm>
          <a:prstGeom prst="ellipse">
            <a:avLst/>
          </a:prstGeom>
          <a:solidFill>
            <a:srgbClr val="1E6FA8"/>
          </a:solidFill>
          <a:ln/>
        </p:spPr>
        <p:txBody>
          <a:bodyPr/>
          <a:lstStyle/>
          <a:p>
            <a:endParaRPr/>
          </a:p>
        </p:txBody>
      </p:sp>
      <p:pic>
        <p:nvPicPr>
          <p:cNvPr id="6" name="Image 0" descr="/home/claude/work/icons/alert_FFFFFF.png"/>
          <p:cNvPicPr>
            <a:picLocks noChangeAspect="1"/>
          </p:cNvPicPr>
          <p:nvPr/>
        </p:nvPicPr>
        <p:blipFill>
          <a:blip r:embed="rId3"/>
          <a:stretch>
            <a:fillRect/>
          </a:stretch>
        </p:blipFill>
        <p:spPr>
          <a:xfrm>
            <a:off x="908914" y="1887322"/>
            <a:ext cx="285293" cy="285293"/>
          </a:xfrm>
          <a:prstGeom prst="rect">
            <a:avLst/>
          </a:prstGeom>
        </p:spPr>
      </p:pic>
      <p:sp>
        <p:nvSpPr>
          <p:cNvPr id="7" name="Text 4"/>
          <p:cNvSpPr/>
          <p:nvPr/>
        </p:nvSpPr>
        <p:spPr>
          <a:xfrm>
            <a:off x="1554480" y="1645920"/>
            <a:ext cx="9784080" cy="320040"/>
          </a:xfrm>
          <a:prstGeom prst="rect">
            <a:avLst/>
          </a:prstGeom>
          <a:noFill/>
          <a:ln/>
        </p:spPr>
        <p:txBody>
          <a:bodyPr wrap="square" lIns="0" tIns="0" rIns="0" bIns="0" rtlCol="0" anchor="ctr"/>
          <a:lstStyle/>
          <a:p>
            <a:pPr marL="0" indent="0">
              <a:buNone/>
            </a:pPr>
            <a:r>
              <a:rPr lang="en-US" sz="1500" b="1" dirty="0">
                <a:solidFill>
                  <a:srgbClr val="0B3556"/>
                </a:solidFill>
                <a:latin typeface="Calibri" pitchFamily="34" charset="0"/>
                <a:ea typeface="Calibri" pitchFamily="34" charset="-122"/>
                <a:cs typeface="Calibri" pitchFamily="34" charset="-120"/>
              </a:rPr>
              <a:t>Metrics scattered across raw fields</a:t>
            </a:r>
            <a:endParaRPr lang="en-US" sz="1500" dirty="0"/>
          </a:p>
        </p:txBody>
      </p:sp>
      <p:sp>
        <p:nvSpPr>
          <p:cNvPr id="8" name="Text 5"/>
          <p:cNvSpPr/>
          <p:nvPr/>
        </p:nvSpPr>
        <p:spPr>
          <a:xfrm>
            <a:off x="1554480" y="1965960"/>
            <a:ext cx="9784080" cy="502920"/>
          </a:xfrm>
          <a:prstGeom prst="rect">
            <a:avLst/>
          </a:prstGeom>
          <a:noFill/>
          <a:ln/>
        </p:spPr>
        <p:txBody>
          <a:bodyPr wrap="square" lIns="0" tIns="0" rIns="0" bIns="0" rtlCol="0" anchor="ctr"/>
          <a:lstStyle/>
          <a:p>
            <a:pPr marL="0" indent="0">
              <a:buNone/>
            </a:pPr>
            <a:r>
              <a:rPr lang="en-US" sz="1200" dirty="0">
                <a:solidFill>
                  <a:srgbClr val="13212B"/>
                </a:solidFill>
                <a:latin typeface="Calibri" pitchFamily="34" charset="0"/>
                <a:ea typeface="Calibri" pitchFamily="34" charset="-122"/>
                <a:cs typeface="Calibri" pitchFamily="34" charset="-120"/>
              </a:rPr>
              <a:t>Every streaming session generates a dozen raw attributes — user, device, province, content, package, timestamp — with no single view that connects them.</a:t>
            </a:r>
            <a:endParaRPr lang="en-US" sz="1200" dirty="0"/>
          </a:p>
        </p:txBody>
      </p:sp>
      <p:sp>
        <p:nvSpPr>
          <p:cNvPr id="9" name="Shape 6"/>
          <p:cNvSpPr/>
          <p:nvPr/>
        </p:nvSpPr>
        <p:spPr>
          <a:xfrm>
            <a:off x="548640" y="2697480"/>
            <a:ext cx="11064240" cy="960120"/>
          </a:xfrm>
          <a:prstGeom prst="roundRect">
            <a:avLst>
              <a:gd name="adj" fmla="val 761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0" name="Shape 7"/>
          <p:cNvSpPr/>
          <p:nvPr/>
        </p:nvSpPr>
        <p:spPr>
          <a:xfrm>
            <a:off x="777240" y="2898648"/>
            <a:ext cx="548640" cy="548640"/>
          </a:xfrm>
          <a:prstGeom prst="ellipse">
            <a:avLst/>
          </a:prstGeom>
          <a:solidFill>
            <a:srgbClr val="1E6FA8"/>
          </a:solidFill>
          <a:ln/>
        </p:spPr>
        <p:txBody>
          <a:bodyPr/>
          <a:lstStyle/>
          <a:p>
            <a:endParaRPr/>
          </a:p>
        </p:txBody>
      </p:sp>
      <p:pic>
        <p:nvPicPr>
          <p:cNvPr id="11" name="Image 1" descr="/home/claude/work/icons/layers_FFFFFF.png"/>
          <p:cNvPicPr>
            <a:picLocks noChangeAspect="1"/>
          </p:cNvPicPr>
          <p:nvPr/>
        </p:nvPicPr>
        <p:blipFill>
          <a:blip r:embed="rId4"/>
          <a:stretch>
            <a:fillRect/>
          </a:stretch>
        </p:blipFill>
        <p:spPr>
          <a:xfrm>
            <a:off x="908914" y="3030322"/>
            <a:ext cx="285293" cy="285293"/>
          </a:xfrm>
          <a:prstGeom prst="rect">
            <a:avLst/>
          </a:prstGeom>
        </p:spPr>
      </p:pic>
      <p:sp>
        <p:nvSpPr>
          <p:cNvPr id="12" name="Text 8"/>
          <p:cNvSpPr/>
          <p:nvPr/>
        </p:nvSpPr>
        <p:spPr>
          <a:xfrm>
            <a:off x="1554480" y="2788920"/>
            <a:ext cx="9784080" cy="320040"/>
          </a:xfrm>
          <a:prstGeom prst="rect">
            <a:avLst/>
          </a:prstGeom>
          <a:noFill/>
          <a:ln/>
        </p:spPr>
        <p:txBody>
          <a:bodyPr wrap="square" lIns="0" tIns="0" rIns="0" bIns="0" rtlCol="0" anchor="ctr"/>
          <a:lstStyle/>
          <a:p>
            <a:pPr marL="0" indent="0">
              <a:buNone/>
            </a:pPr>
            <a:r>
              <a:rPr lang="en-US" sz="1500" b="1" dirty="0">
                <a:solidFill>
                  <a:srgbClr val="0B3556"/>
                </a:solidFill>
                <a:latin typeface="Calibri" pitchFamily="34" charset="0"/>
                <a:ea typeface="Calibri" pitchFamily="34" charset="-122"/>
                <a:cs typeface="Calibri" pitchFamily="34" charset="-120"/>
              </a:rPr>
              <a:t>No unified source of insight</a:t>
            </a:r>
            <a:endParaRPr lang="en-US" sz="1500" dirty="0"/>
          </a:p>
        </p:txBody>
      </p:sp>
      <p:sp>
        <p:nvSpPr>
          <p:cNvPr id="13" name="Text 9"/>
          <p:cNvSpPr/>
          <p:nvPr/>
        </p:nvSpPr>
        <p:spPr>
          <a:xfrm>
            <a:off x="1554480" y="3108960"/>
            <a:ext cx="9784080" cy="502920"/>
          </a:xfrm>
          <a:prstGeom prst="rect">
            <a:avLst/>
          </a:prstGeom>
          <a:noFill/>
          <a:ln/>
        </p:spPr>
        <p:txBody>
          <a:bodyPr wrap="square" lIns="0" tIns="0" rIns="0" bIns="0" rtlCol="0" anchor="ctr"/>
          <a:lstStyle/>
          <a:p>
            <a:pPr marL="0" indent="0">
              <a:buNone/>
            </a:pPr>
            <a:r>
              <a:rPr lang="en-US" sz="1200" dirty="0">
                <a:solidFill>
                  <a:srgbClr val="13212B"/>
                </a:solidFill>
                <a:latin typeface="Calibri" pitchFamily="34" charset="0"/>
                <a:ea typeface="Calibri" pitchFamily="34" charset="-122"/>
                <a:cs typeface="Calibri" pitchFamily="34" charset="-120"/>
              </a:rPr>
              <a:t>Stakeholders need one place to see engagement, content performance, geography and user behavior together, instead of pulling separate exports for each question.</a:t>
            </a:r>
            <a:endParaRPr lang="en-US" sz="1200" dirty="0"/>
          </a:p>
        </p:txBody>
      </p:sp>
      <p:sp>
        <p:nvSpPr>
          <p:cNvPr id="14" name="Shape 10"/>
          <p:cNvSpPr/>
          <p:nvPr/>
        </p:nvSpPr>
        <p:spPr>
          <a:xfrm>
            <a:off x="548640" y="3840480"/>
            <a:ext cx="11064240" cy="960120"/>
          </a:xfrm>
          <a:prstGeom prst="roundRect">
            <a:avLst>
              <a:gd name="adj" fmla="val 761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5" name="Shape 11"/>
          <p:cNvSpPr/>
          <p:nvPr/>
        </p:nvSpPr>
        <p:spPr>
          <a:xfrm>
            <a:off x="777240" y="4041648"/>
            <a:ext cx="548640" cy="548640"/>
          </a:xfrm>
          <a:prstGeom prst="ellipse">
            <a:avLst/>
          </a:prstGeom>
          <a:solidFill>
            <a:srgbClr val="1E6FA8"/>
          </a:solidFill>
          <a:ln/>
        </p:spPr>
        <p:txBody>
          <a:bodyPr/>
          <a:lstStyle/>
          <a:p>
            <a:endParaRPr/>
          </a:p>
        </p:txBody>
      </p:sp>
      <p:pic>
        <p:nvPicPr>
          <p:cNvPr id="16" name="Image 2" descr="/home/claude/work/icons/mappin_FFFFFF.png"/>
          <p:cNvPicPr>
            <a:picLocks noChangeAspect="1"/>
          </p:cNvPicPr>
          <p:nvPr/>
        </p:nvPicPr>
        <p:blipFill>
          <a:blip r:embed="rId5"/>
          <a:stretch>
            <a:fillRect/>
          </a:stretch>
        </p:blipFill>
        <p:spPr>
          <a:xfrm>
            <a:off x="908914" y="4173322"/>
            <a:ext cx="285293" cy="285293"/>
          </a:xfrm>
          <a:prstGeom prst="rect">
            <a:avLst/>
          </a:prstGeom>
        </p:spPr>
      </p:pic>
      <p:sp>
        <p:nvSpPr>
          <p:cNvPr id="17" name="Text 12"/>
          <p:cNvSpPr/>
          <p:nvPr/>
        </p:nvSpPr>
        <p:spPr>
          <a:xfrm>
            <a:off x="1554480" y="3931920"/>
            <a:ext cx="9784080" cy="320040"/>
          </a:xfrm>
          <a:prstGeom prst="rect">
            <a:avLst/>
          </a:prstGeom>
          <a:noFill/>
          <a:ln/>
        </p:spPr>
        <p:txBody>
          <a:bodyPr wrap="square" lIns="0" tIns="0" rIns="0" bIns="0" rtlCol="0" anchor="ctr"/>
          <a:lstStyle/>
          <a:p>
            <a:pPr marL="0" indent="0">
              <a:buNone/>
            </a:pPr>
            <a:r>
              <a:rPr lang="en-US" sz="1500" b="1" dirty="0">
                <a:solidFill>
                  <a:srgbClr val="0B3556"/>
                </a:solidFill>
                <a:latin typeface="Calibri" pitchFamily="34" charset="0"/>
                <a:ea typeface="Calibri" pitchFamily="34" charset="-122"/>
                <a:cs typeface="Calibri" pitchFamily="34" charset="-120"/>
              </a:rPr>
              <a:t>No path from national to regional detail</a:t>
            </a:r>
            <a:endParaRPr lang="en-US" sz="1500" dirty="0"/>
          </a:p>
        </p:txBody>
      </p:sp>
      <p:sp>
        <p:nvSpPr>
          <p:cNvPr id="18" name="Text 13"/>
          <p:cNvSpPr/>
          <p:nvPr/>
        </p:nvSpPr>
        <p:spPr>
          <a:xfrm>
            <a:off x="1554480" y="4251960"/>
            <a:ext cx="9784080" cy="502920"/>
          </a:xfrm>
          <a:prstGeom prst="rect">
            <a:avLst/>
          </a:prstGeom>
          <a:noFill/>
          <a:ln/>
        </p:spPr>
        <p:txBody>
          <a:bodyPr wrap="square" lIns="0" tIns="0" rIns="0" bIns="0" rtlCol="0" anchor="ctr"/>
          <a:lstStyle/>
          <a:p>
            <a:pPr marL="0" indent="0">
              <a:buNone/>
            </a:pPr>
            <a:r>
              <a:rPr lang="en-US" sz="1200" dirty="0">
                <a:solidFill>
                  <a:srgbClr val="13212B"/>
                </a:solidFill>
                <a:latin typeface="Calibri" pitchFamily="34" charset="0"/>
                <a:ea typeface="Calibri" pitchFamily="34" charset="-122"/>
                <a:cs typeface="Calibri" pitchFamily="34" charset="-120"/>
              </a:rPr>
              <a:t>A national summary alone can't tell a regional manager what is happening in their own province — there was no easy way to drill from an overview into one specific region.</a:t>
            </a:r>
            <a:endParaRPr lang="en-US" sz="1200" dirty="0"/>
          </a:p>
        </p:txBody>
      </p:sp>
      <p:sp>
        <p:nvSpPr>
          <p:cNvPr id="19" name="Shape 14"/>
          <p:cNvSpPr/>
          <p:nvPr/>
        </p:nvSpPr>
        <p:spPr>
          <a:xfrm>
            <a:off x="548640" y="5074920"/>
            <a:ext cx="11064240" cy="960120"/>
          </a:xfrm>
          <a:prstGeom prst="roundRect">
            <a:avLst>
              <a:gd name="adj" fmla="val 7619"/>
            </a:avLst>
          </a:prstGeom>
          <a:solidFill>
            <a:srgbClr val="0B3556"/>
          </a:solidFill>
          <a:ln w="9525">
            <a:solidFill>
              <a:srgbClr val="0B3556"/>
            </a:solidFill>
            <a:prstDash val="solid"/>
          </a:ln>
          <a:effectLst>
            <a:outerShdw blurRad="76200" dist="25400" dir="5400000" algn="bl" rotWithShape="0">
              <a:srgbClr val="3A4552">
                <a:alpha val="18000"/>
              </a:srgbClr>
            </a:outerShdw>
          </a:effectLst>
        </p:spPr>
        <p:txBody>
          <a:bodyPr/>
          <a:lstStyle/>
          <a:p>
            <a:endParaRPr/>
          </a:p>
        </p:txBody>
      </p:sp>
      <p:sp>
        <p:nvSpPr>
          <p:cNvPr id="20" name="Text 15"/>
          <p:cNvSpPr/>
          <p:nvPr/>
        </p:nvSpPr>
        <p:spPr>
          <a:xfrm>
            <a:off x="868680" y="5184648"/>
            <a:ext cx="3657600" cy="274320"/>
          </a:xfrm>
          <a:prstGeom prst="rect">
            <a:avLst/>
          </a:prstGeom>
          <a:noFill/>
          <a:ln/>
        </p:spPr>
        <p:txBody>
          <a:bodyPr wrap="square" lIns="0" tIns="0" rIns="0" bIns="0" rtlCol="0" anchor="ctr"/>
          <a:lstStyle/>
          <a:p>
            <a:pPr marL="0" indent="0">
              <a:buNone/>
            </a:pPr>
            <a:r>
              <a:rPr lang="en-US" sz="1100" b="1" kern="0" spc="150" dirty="0">
                <a:solidFill>
                  <a:srgbClr val="3DB8F0"/>
                </a:solidFill>
                <a:latin typeface="Calibri" pitchFamily="34" charset="0"/>
                <a:ea typeface="Calibri" pitchFamily="34" charset="-122"/>
                <a:cs typeface="Calibri" pitchFamily="34" charset="-120"/>
              </a:rPr>
              <a:t>BUSINESS QUESTION</a:t>
            </a:r>
            <a:endParaRPr lang="en-US" sz="1100" dirty="0"/>
          </a:p>
        </p:txBody>
      </p:sp>
      <p:sp>
        <p:nvSpPr>
          <p:cNvPr id="21" name="Text 16"/>
          <p:cNvSpPr/>
          <p:nvPr/>
        </p:nvSpPr>
        <p:spPr>
          <a:xfrm>
            <a:off x="868680" y="5440680"/>
            <a:ext cx="10424160" cy="54864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How can streaming activity data be transformed into actionable insight on user engagement, content performance, and regional behavior — from a national overview down to province-level detail?</a:t>
            </a:r>
            <a:endParaRPr lang="en-US" sz="1350" dirty="0"/>
          </a:p>
        </p:txBody>
      </p:sp>
      <p:sp>
        <p:nvSpPr>
          <p:cNvPr id="23" name="Text 17"/>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Business Context</a:t>
            </a:r>
            <a:endParaRPr lang="en-US" sz="900" dirty="0"/>
          </a:p>
        </p:txBody>
      </p:sp>
      <p:sp>
        <p:nvSpPr>
          <p:cNvPr id="24" name="Text 18"/>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Analytical Questions &amp; Dashboard Scope</a:t>
            </a:r>
            <a:endParaRPr lang="en-US" sz="2800" dirty="0"/>
          </a:p>
        </p:txBody>
      </p:sp>
      <p:sp>
        <p:nvSpPr>
          <p:cNvPr id="4" name="Shape 2"/>
          <p:cNvSpPr/>
          <p:nvPr/>
        </p:nvSpPr>
        <p:spPr>
          <a:xfrm>
            <a:off x="548640" y="1508760"/>
            <a:ext cx="384048" cy="384048"/>
          </a:xfrm>
          <a:prstGeom prst="ellipse">
            <a:avLst/>
          </a:prstGeom>
          <a:solidFill>
            <a:srgbClr val="3DB8F0"/>
          </a:solidFill>
          <a:ln/>
        </p:spPr>
        <p:txBody>
          <a:bodyPr/>
          <a:lstStyle/>
          <a:p>
            <a:endParaRPr/>
          </a:p>
        </p:txBody>
      </p:sp>
      <p:sp>
        <p:nvSpPr>
          <p:cNvPr id="5" name="Text 3"/>
          <p:cNvSpPr/>
          <p:nvPr/>
        </p:nvSpPr>
        <p:spPr>
          <a:xfrm>
            <a:off x="548640" y="1508760"/>
            <a:ext cx="384048" cy="384048"/>
          </a:xfrm>
          <a:prstGeom prst="rect">
            <a:avLst/>
          </a:prstGeom>
          <a:noFill/>
          <a:ln/>
        </p:spPr>
        <p:txBody>
          <a:bodyPr wrap="square" lIns="0" tIns="0" rIns="0" bIns="0" rtlCol="0" anchor="ctr"/>
          <a:lstStyle/>
          <a:p>
            <a:pPr marL="0" indent="0" algn="ctr">
              <a:buNone/>
            </a:pPr>
            <a:r>
              <a:rPr lang="en-US" sz="1500" b="1" dirty="0">
                <a:solidFill>
                  <a:srgbClr val="0B3556"/>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490472"/>
            <a:ext cx="10515600" cy="420624"/>
          </a:xfrm>
          <a:prstGeom prst="rect">
            <a:avLst/>
          </a:prstGeom>
          <a:noFill/>
          <a:ln/>
        </p:spPr>
        <p:txBody>
          <a:bodyPr wrap="square" lIns="0" tIns="0" rIns="0" bIns="0" rtlCol="0" anchor="ctr"/>
          <a:lstStyle/>
          <a:p>
            <a:pPr marL="0" indent="0">
              <a:buNone/>
            </a:pPr>
            <a:r>
              <a:rPr lang="en-US" sz="1400" dirty="0">
                <a:solidFill>
                  <a:srgbClr val="13212B"/>
                </a:solidFill>
                <a:latin typeface="Calibri" pitchFamily="34" charset="0"/>
                <a:ea typeface="Calibri" pitchFamily="34" charset="-122"/>
                <a:cs typeface="Calibri" pitchFamily="34" charset="-120"/>
              </a:rPr>
              <a:t>How large is the active user base, and how does activity move over time?</a:t>
            </a:r>
            <a:endParaRPr lang="en-US" sz="1400" dirty="0"/>
          </a:p>
        </p:txBody>
      </p:sp>
      <p:sp>
        <p:nvSpPr>
          <p:cNvPr id="7" name="Shape 5"/>
          <p:cNvSpPr/>
          <p:nvPr/>
        </p:nvSpPr>
        <p:spPr>
          <a:xfrm>
            <a:off x="548640" y="2039112"/>
            <a:ext cx="384048" cy="384048"/>
          </a:xfrm>
          <a:prstGeom prst="ellipse">
            <a:avLst/>
          </a:prstGeom>
          <a:solidFill>
            <a:srgbClr val="3DB8F0"/>
          </a:solidFill>
          <a:ln/>
        </p:spPr>
        <p:txBody>
          <a:bodyPr/>
          <a:lstStyle/>
          <a:p>
            <a:endParaRPr/>
          </a:p>
        </p:txBody>
      </p:sp>
      <p:sp>
        <p:nvSpPr>
          <p:cNvPr id="8" name="Text 6"/>
          <p:cNvSpPr/>
          <p:nvPr/>
        </p:nvSpPr>
        <p:spPr>
          <a:xfrm>
            <a:off x="548640" y="2039112"/>
            <a:ext cx="384048" cy="384048"/>
          </a:xfrm>
          <a:prstGeom prst="rect">
            <a:avLst/>
          </a:prstGeom>
          <a:noFill/>
          <a:ln/>
        </p:spPr>
        <p:txBody>
          <a:bodyPr wrap="square" lIns="0" tIns="0" rIns="0" bIns="0" rtlCol="0" anchor="ctr"/>
          <a:lstStyle/>
          <a:p>
            <a:pPr marL="0" indent="0" algn="ctr">
              <a:buNone/>
            </a:pPr>
            <a:r>
              <a:rPr lang="en-US" sz="1500" b="1" dirty="0">
                <a:solidFill>
                  <a:srgbClr val="0B3556"/>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2020824"/>
            <a:ext cx="10515600" cy="420624"/>
          </a:xfrm>
          <a:prstGeom prst="rect">
            <a:avLst/>
          </a:prstGeom>
          <a:noFill/>
          <a:ln/>
        </p:spPr>
        <p:txBody>
          <a:bodyPr wrap="square" lIns="0" tIns="0" rIns="0" bIns="0" rtlCol="0" anchor="ctr"/>
          <a:lstStyle/>
          <a:p>
            <a:pPr marL="0" indent="0">
              <a:buNone/>
            </a:pPr>
            <a:r>
              <a:rPr lang="en-US" sz="1400" dirty="0">
                <a:solidFill>
                  <a:srgbClr val="13212B"/>
                </a:solidFill>
                <a:latin typeface="Calibri" pitchFamily="34" charset="0"/>
                <a:ea typeface="Calibri" pitchFamily="34" charset="-122"/>
                <a:cs typeface="Calibri" pitchFamily="34" charset="-120"/>
              </a:rPr>
              <a:t>Which provinces contribute the most users at the national level?</a:t>
            </a:r>
            <a:endParaRPr lang="en-US" sz="1400" dirty="0"/>
          </a:p>
        </p:txBody>
      </p:sp>
      <p:sp>
        <p:nvSpPr>
          <p:cNvPr id="10" name="Shape 8"/>
          <p:cNvSpPr/>
          <p:nvPr/>
        </p:nvSpPr>
        <p:spPr>
          <a:xfrm>
            <a:off x="548640" y="2569464"/>
            <a:ext cx="384048" cy="384048"/>
          </a:xfrm>
          <a:prstGeom prst="ellipse">
            <a:avLst/>
          </a:prstGeom>
          <a:solidFill>
            <a:srgbClr val="3DB8F0"/>
          </a:solidFill>
          <a:ln/>
        </p:spPr>
        <p:txBody>
          <a:bodyPr/>
          <a:lstStyle/>
          <a:p>
            <a:endParaRPr/>
          </a:p>
        </p:txBody>
      </p:sp>
      <p:sp>
        <p:nvSpPr>
          <p:cNvPr id="11" name="Text 9"/>
          <p:cNvSpPr/>
          <p:nvPr/>
        </p:nvSpPr>
        <p:spPr>
          <a:xfrm>
            <a:off x="548640" y="2569464"/>
            <a:ext cx="384048" cy="384048"/>
          </a:xfrm>
          <a:prstGeom prst="rect">
            <a:avLst/>
          </a:prstGeom>
          <a:noFill/>
          <a:ln/>
        </p:spPr>
        <p:txBody>
          <a:bodyPr wrap="square" lIns="0" tIns="0" rIns="0" bIns="0" rtlCol="0" anchor="ctr"/>
          <a:lstStyle/>
          <a:p>
            <a:pPr marL="0" indent="0" algn="ctr">
              <a:buNone/>
            </a:pPr>
            <a:r>
              <a:rPr lang="en-US" sz="1500" b="1" dirty="0">
                <a:solidFill>
                  <a:srgbClr val="0B3556"/>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97280" y="2551176"/>
            <a:ext cx="10515600" cy="420624"/>
          </a:xfrm>
          <a:prstGeom prst="rect">
            <a:avLst/>
          </a:prstGeom>
          <a:noFill/>
          <a:ln/>
        </p:spPr>
        <p:txBody>
          <a:bodyPr wrap="square" lIns="0" tIns="0" rIns="0" bIns="0" rtlCol="0" anchor="ctr"/>
          <a:lstStyle/>
          <a:p>
            <a:pPr marL="0" indent="0">
              <a:buNone/>
            </a:pPr>
            <a:r>
              <a:rPr lang="en-US" sz="1400" dirty="0">
                <a:solidFill>
                  <a:srgbClr val="13212B"/>
                </a:solidFill>
                <a:latin typeface="Calibri" pitchFamily="34" charset="0"/>
                <a:ea typeface="Calibri" pitchFamily="34" charset="-122"/>
                <a:cs typeface="Calibri" pitchFamily="34" charset="-120"/>
              </a:rPr>
              <a:t>Which content titles and package tiers drive the most engagement?</a:t>
            </a:r>
            <a:endParaRPr lang="en-US" sz="1400" dirty="0"/>
          </a:p>
        </p:txBody>
      </p:sp>
      <p:sp>
        <p:nvSpPr>
          <p:cNvPr id="13" name="Shape 11"/>
          <p:cNvSpPr/>
          <p:nvPr/>
        </p:nvSpPr>
        <p:spPr>
          <a:xfrm>
            <a:off x="548640" y="3099816"/>
            <a:ext cx="384048" cy="384048"/>
          </a:xfrm>
          <a:prstGeom prst="ellipse">
            <a:avLst/>
          </a:prstGeom>
          <a:solidFill>
            <a:srgbClr val="3DB8F0"/>
          </a:solidFill>
          <a:ln/>
        </p:spPr>
        <p:txBody>
          <a:bodyPr/>
          <a:lstStyle/>
          <a:p>
            <a:endParaRPr/>
          </a:p>
        </p:txBody>
      </p:sp>
      <p:sp>
        <p:nvSpPr>
          <p:cNvPr id="14" name="Text 12"/>
          <p:cNvSpPr/>
          <p:nvPr/>
        </p:nvSpPr>
        <p:spPr>
          <a:xfrm>
            <a:off x="548640" y="3099816"/>
            <a:ext cx="384048" cy="384048"/>
          </a:xfrm>
          <a:prstGeom prst="rect">
            <a:avLst/>
          </a:prstGeom>
          <a:noFill/>
          <a:ln/>
        </p:spPr>
        <p:txBody>
          <a:bodyPr wrap="square" lIns="0" tIns="0" rIns="0" bIns="0" rtlCol="0" anchor="ctr"/>
          <a:lstStyle/>
          <a:p>
            <a:pPr marL="0" indent="0" algn="ctr">
              <a:buNone/>
            </a:pPr>
            <a:r>
              <a:rPr lang="en-US" sz="1500" b="1" dirty="0">
                <a:solidFill>
                  <a:srgbClr val="0B3556"/>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97280" y="3081528"/>
            <a:ext cx="10515600" cy="420624"/>
          </a:xfrm>
          <a:prstGeom prst="rect">
            <a:avLst/>
          </a:prstGeom>
          <a:noFill/>
          <a:ln/>
        </p:spPr>
        <p:txBody>
          <a:bodyPr wrap="square" lIns="0" tIns="0" rIns="0" bIns="0" rtlCol="0" anchor="ctr"/>
          <a:lstStyle/>
          <a:p>
            <a:pPr marL="0" indent="0">
              <a:buNone/>
            </a:pPr>
            <a:r>
              <a:rPr lang="en-US" sz="1400" dirty="0">
                <a:solidFill>
                  <a:srgbClr val="13212B"/>
                </a:solidFill>
                <a:latin typeface="Calibri" pitchFamily="34" charset="0"/>
                <a:ea typeface="Calibri" pitchFamily="34" charset="-122"/>
                <a:cs typeface="Calibri" pitchFamily="34" charset="-120"/>
              </a:rPr>
              <a:t>How does user behavior differ across age groups and devices?</a:t>
            </a:r>
            <a:endParaRPr lang="en-US" sz="1400" dirty="0"/>
          </a:p>
        </p:txBody>
      </p:sp>
      <p:sp>
        <p:nvSpPr>
          <p:cNvPr id="16" name="Shape 14"/>
          <p:cNvSpPr/>
          <p:nvPr/>
        </p:nvSpPr>
        <p:spPr>
          <a:xfrm>
            <a:off x="548640" y="3630168"/>
            <a:ext cx="384048" cy="384048"/>
          </a:xfrm>
          <a:prstGeom prst="ellipse">
            <a:avLst/>
          </a:prstGeom>
          <a:solidFill>
            <a:srgbClr val="3DB8F0"/>
          </a:solidFill>
          <a:ln/>
        </p:spPr>
        <p:txBody>
          <a:bodyPr/>
          <a:lstStyle/>
          <a:p>
            <a:endParaRPr/>
          </a:p>
        </p:txBody>
      </p:sp>
      <p:sp>
        <p:nvSpPr>
          <p:cNvPr id="17" name="Text 15"/>
          <p:cNvSpPr/>
          <p:nvPr/>
        </p:nvSpPr>
        <p:spPr>
          <a:xfrm>
            <a:off x="548640" y="3630168"/>
            <a:ext cx="384048" cy="384048"/>
          </a:xfrm>
          <a:prstGeom prst="rect">
            <a:avLst/>
          </a:prstGeom>
          <a:noFill/>
          <a:ln/>
        </p:spPr>
        <p:txBody>
          <a:bodyPr wrap="square" lIns="0" tIns="0" rIns="0" bIns="0" rtlCol="0" anchor="ctr"/>
          <a:lstStyle/>
          <a:p>
            <a:pPr marL="0" indent="0" algn="ctr">
              <a:buNone/>
            </a:pPr>
            <a:r>
              <a:rPr lang="en-US" sz="1500" b="1" dirty="0">
                <a:solidFill>
                  <a:srgbClr val="0B3556"/>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97280" y="3611880"/>
            <a:ext cx="10515600" cy="420624"/>
          </a:xfrm>
          <a:prstGeom prst="rect">
            <a:avLst/>
          </a:prstGeom>
          <a:noFill/>
          <a:ln/>
        </p:spPr>
        <p:txBody>
          <a:bodyPr wrap="square" lIns="0" tIns="0" rIns="0" bIns="0" rtlCol="0" anchor="ctr"/>
          <a:lstStyle/>
          <a:p>
            <a:pPr marL="0" indent="0">
              <a:buNone/>
            </a:pPr>
            <a:r>
              <a:rPr lang="en-US" sz="1400" dirty="0">
                <a:solidFill>
                  <a:srgbClr val="13212B"/>
                </a:solidFill>
                <a:latin typeface="Calibri" pitchFamily="34" charset="0"/>
                <a:ea typeface="Calibri" pitchFamily="34" charset="-122"/>
                <a:cs typeface="Calibri" pitchFamily="34" charset="-120"/>
              </a:rPr>
              <a:t>How can a stakeholder move from a national view into one specific province?</a:t>
            </a:r>
            <a:endParaRPr lang="en-US" sz="1400" dirty="0"/>
          </a:p>
        </p:txBody>
      </p:sp>
      <p:sp>
        <p:nvSpPr>
          <p:cNvPr id="19" name="Shape 17"/>
          <p:cNvSpPr/>
          <p:nvPr/>
        </p:nvSpPr>
        <p:spPr>
          <a:xfrm>
            <a:off x="548640" y="4297680"/>
            <a:ext cx="5349240" cy="1417320"/>
          </a:xfrm>
          <a:prstGeom prst="roundRect">
            <a:avLst>
              <a:gd name="adj" fmla="val 5161"/>
            </a:avLst>
          </a:prstGeom>
          <a:solidFill>
            <a:srgbClr val="E4EEF8"/>
          </a:solidFill>
          <a:ln w="9525">
            <a:solidFill>
              <a:srgbClr val="E4EEF8"/>
            </a:solidFill>
            <a:prstDash val="solid"/>
          </a:ln>
          <a:effectLst>
            <a:outerShdw blurRad="76200" dist="25400" dir="5400000" algn="bl" rotWithShape="0">
              <a:srgbClr val="3A4552">
                <a:alpha val="18000"/>
              </a:srgbClr>
            </a:outerShdw>
          </a:effectLst>
        </p:spPr>
        <p:txBody>
          <a:bodyPr/>
          <a:lstStyle/>
          <a:p>
            <a:endParaRPr/>
          </a:p>
        </p:txBody>
      </p:sp>
      <p:sp>
        <p:nvSpPr>
          <p:cNvPr id="20" name="Shape 18"/>
          <p:cNvSpPr/>
          <p:nvPr/>
        </p:nvSpPr>
        <p:spPr>
          <a:xfrm>
            <a:off x="777240" y="4498848"/>
            <a:ext cx="457200" cy="457200"/>
          </a:xfrm>
          <a:prstGeom prst="ellipse">
            <a:avLst/>
          </a:prstGeom>
          <a:solidFill>
            <a:srgbClr val="1E6FA8"/>
          </a:solidFill>
          <a:ln/>
        </p:spPr>
        <p:txBody>
          <a:bodyPr/>
          <a:lstStyle/>
          <a:p>
            <a:endParaRPr/>
          </a:p>
        </p:txBody>
      </p:sp>
      <p:pic>
        <p:nvPicPr>
          <p:cNvPr id="21" name="Image 0" descr="/home/claude/work/icons/grid_FFFFFF.png"/>
          <p:cNvPicPr>
            <a:picLocks noChangeAspect="1"/>
          </p:cNvPicPr>
          <p:nvPr/>
        </p:nvPicPr>
        <p:blipFill>
          <a:blip r:embed="rId3"/>
          <a:stretch>
            <a:fillRect/>
          </a:stretch>
        </p:blipFill>
        <p:spPr>
          <a:xfrm>
            <a:off x="886968" y="4608576"/>
            <a:ext cx="237744" cy="237744"/>
          </a:xfrm>
          <a:prstGeom prst="rect">
            <a:avLst/>
          </a:prstGeom>
        </p:spPr>
      </p:pic>
      <p:sp>
        <p:nvSpPr>
          <p:cNvPr id="22" name="Text 19"/>
          <p:cNvSpPr/>
          <p:nvPr/>
        </p:nvSpPr>
        <p:spPr>
          <a:xfrm>
            <a:off x="1417320" y="4480560"/>
            <a:ext cx="4206240" cy="320040"/>
          </a:xfrm>
          <a:prstGeom prst="rect">
            <a:avLst/>
          </a:prstGeom>
          <a:noFill/>
          <a:ln/>
        </p:spPr>
        <p:txBody>
          <a:bodyPr wrap="square" lIns="0" tIns="0" rIns="0" bIns="0" rtlCol="0" anchor="ctr"/>
          <a:lstStyle/>
          <a:p>
            <a:pPr marL="0" indent="0">
              <a:buNone/>
            </a:pPr>
            <a:r>
              <a:rPr lang="en-US" sz="1400" b="1" dirty="0">
                <a:solidFill>
                  <a:srgbClr val="0B3556"/>
                </a:solidFill>
                <a:latin typeface="Calibri" pitchFamily="34" charset="0"/>
                <a:ea typeface="Calibri" pitchFamily="34" charset="-122"/>
                <a:cs typeface="Calibri" pitchFamily="34" charset="-120"/>
              </a:rPr>
              <a:t>Dashboard (Executive)</a:t>
            </a:r>
            <a:endParaRPr lang="en-US" sz="1400" dirty="0"/>
          </a:p>
        </p:txBody>
      </p:sp>
      <p:sp>
        <p:nvSpPr>
          <p:cNvPr id="23" name="Text 20"/>
          <p:cNvSpPr/>
          <p:nvPr/>
        </p:nvSpPr>
        <p:spPr>
          <a:xfrm>
            <a:off x="777240" y="4983480"/>
            <a:ext cx="4846320" cy="640080"/>
          </a:xfrm>
          <a:prstGeom prst="rect">
            <a:avLst/>
          </a:prstGeom>
          <a:noFill/>
          <a:ln/>
        </p:spPr>
        <p:txBody>
          <a:bodyPr wrap="square" lIns="0" tIns="0" rIns="0" bIns="0" rtlCol="0" anchor="ctr"/>
          <a:lstStyle/>
          <a:p>
            <a:pPr marL="0" indent="0">
              <a:buNone/>
            </a:pPr>
            <a:r>
              <a:rPr lang="en-US" sz="1150" dirty="0">
                <a:solidFill>
                  <a:srgbClr val="13212B"/>
                </a:solidFill>
                <a:latin typeface="Calibri" pitchFamily="34" charset="0"/>
                <a:ea typeface="Calibri" pitchFamily="34" charset="-122"/>
                <a:cs typeface="Calibri" pitchFamily="34" charset="-120"/>
              </a:rPr>
              <a:t>National overview: KPIs, trend, map, content and package performance, demographic breakdown.</a:t>
            </a:r>
            <a:endParaRPr lang="en-US" sz="1150" dirty="0"/>
          </a:p>
        </p:txBody>
      </p:sp>
      <p:sp>
        <p:nvSpPr>
          <p:cNvPr id="24" name="Shape 21"/>
          <p:cNvSpPr/>
          <p:nvPr/>
        </p:nvSpPr>
        <p:spPr>
          <a:xfrm>
            <a:off x="6080760" y="4297680"/>
            <a:ext cx="5532120" cy="1417320"/>
          </a:xfrm>
          <a:prstGeom prst="roundRect">
            <a:avLst>
              <a:gd name="adj" fmla="val 5161"/>
            </a:avLst>
          </a:prstGeom>
          <a:solidFill>
            <a:srgbClr val="E4EEF8"/>
          </a:solidFill>
          <a:ln w="9525">
            <a:solidFill>
              <a:srgbClr val="E4EEF8"/>
            </a:solidFill>
            <a:prstDash val="solid"/>
          </a:ln>
          <a:effectLst>
            <a:outerShdw blurRad="76200" dist="25400" dir="5400000" algn="bl" rotWithShape="0">
              <a:srgbClr val="3A4552">
                <a:alpha val="18000"/>
              </a:srgbClr>
            </a:outerShdw>
          </a:effectLst>
        </p:spPr>
        <p:txBody>
          <a:bodyPr/>
          <a:lstStyle/>
          <a:p>
            <a:endParaRPr/>
          </a:p>
        </p:txBody>
      </p:sp>
      <p:sp>
        <p:nvSpPr>
          <p:cNvPr id="25" name="Shape 22"/>
          <p:cNvSpPr/>
          <p:nvPr/>
        </p:nvSpPr>
        <p:spPr>
          <a:xfrm>
            <a:off x="6309360" y="4498848"/>
            <a:ext cx="457200" cy="457200"/>
          </a:xfrm>
          <a:prstGeom prst="ellipse">
            <a:avLst/>
          </a:prstGeom>
          <a:solidFill>
            <a:srgbClr val="1E6FA8"/>
          </a:solidFill>
          <a:ln/>
        </p:spPr>
        <p:txBody>
          <a:bodyPr/>
          <a:lstStyle/>
          <a:p>
            <a:endParaRPr/>
          </a:p>
        </p:txBody>
      </p:sp>
      <p:pic>
        <p:nvPicPr>
          <p:cNvPr id="26" name="Image 1" descr="/home/claude/work/icons/mappin_FFFFFF.png"/>
          <p:cNvPicPr>
            <a:picLocks noChangeAspect="1"/>
          </p:cNvPicPr>
          <p:nvPr/>
        </p:nvPicPr>
        <p:blipFill>
          <a:blip r:embed="rId4"/>
          <a:stretch>
            <a:fillRect/>
          </a:stretch>
        </p:blipFill>
        <p:spPr>
          <a:xfrm>
            <a:off x="6419088" y="4608576"/>
            <a:ext cx="237744" cy="237744"/>
          </a:xfrm>
          <a:prstGeom prst="rect">
            <a:avLst/>
          </a:prstGeom>
        </p:spPr>
      </p:pic>
      <p:sp>
        <p:nvSpPr>
          <p:cNvPr id="27" name="Text 23"/>
          <p:cNvSpPr/>
          <p:nvPr/>
        </p:nvSpPr>
        <p:spPr>
          <a:xfrm>
            <a:off x="6949440" y="4480560"/>
            <a:ext cx="4480560" cy="320040"/>
          </a:xfrm>
          <a:prstGeom prst="rect">
            <a:avLst/>
          </a:prstGeom>
          <a:noFill/>
          <a:ln/>
        </p:spPr>
        <p:txBody>
          <a:bodyPr wrap="square" lIns="0" tIns="0" rIns="0" bIns="0" rtlCol="0" anchor="ctr"/>
          <a:lstStyle/>
          <a:p>
            <a:pPr marL="0" indent="0">
              <a:buNone/>
            </a:pPr>
            <a:r>
              <a:rPr lang="en-US" sz="1400" b="1" dirty="0">
                <a:solidFill>
                  <a:srgbClr val="0B3556"/>
                </a:solidFill>
                <a:latin typeface="Calibri" pitchFamily="34" charset="0"/>
                <a:ea typeface="Calibri" pitchFamily="34" charset="-122"/>
                <a:cs typeface="Calibri" pitchFamily="34" charset="-120"/>
              </a:rPr>
              <a:t>Detail Province (Drill-down)</a:t>
            </a:r>
            <a:endParaRPr lang="en-US" sz="1400" dirty="0"/>
          </a:p>
        </p:txBody>
      </p:sp>
      <p:sp>
        <p:nvSpPr>
          <p:cNvPr id="28" name="Text 24"/>
          <p:cNvSpPr/>
          <p:nvPr/>
        </p:nvSpPr>
        <p:spPr>
          <a:xfrm>
            <a:off x="6309360" y="4983480"/>
            <a:ext cx="5074920" cy="640080"/>
          </a:xfrm>
          <a:prstGeom prst="rect">
            <a:avLst/>
          </a:prstGeom>
          <a:noFill/>
          <a:ln/>
        </p:spPr>
        <p:txBody>
          <a:bodyPr wrap="square" lIns="0" tIns="0" rIns="0" bIns="0" rtlCol="0" anchor="ctr"/>
          <a:lstStyle/>
          <a:p>
            <a:pPr marL="0" indent="0">
              <a:buNone/>
            </a:pPr>
            <a:r>
              <a:rPr lang="en-US" sz="1150" dirty="0">
                <a:solidFill>
                  <a:srgbClr val="13212B"/>
                </a:solidFill>
                <a:latin typeface="Calibri" pitchFamily="34" charset="0"/>
                <a:ea typeface="Calibri" pitchFamily="34" charset="-122"/>
                <a:cs typeface="Calibri" pitchFamily="34" charset="-120"/>
              </a:rPr>
              <a:t>Regional detail: province KPI, trend, content ranking, package split, and a dynamic text insight.</a:t>
            </a:r>
            <a:endParaRPr lang="en-US" sz="1150" dirty="0"/>
          </a:p>
        </p:txBody>
      </p:sp>
      <p:sp>
        <p:nvSpPr>
          <p:cNvPr id="30" name="Text 25"/>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Objectives &amp; Analytical Questions</a:t>
            </a:r>
            <a:endParaRPr lang="en-US" sz="900" dirty="0"/>
          </a:p>
        </p:txBody>
      </p:sp>
      <p:sp>
        <p:nvSpPr>
          <p:cNvPr id="31" name="Text 26"/>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Dataset &amp; Data Model</a:t>
            </a:r>
            <a:endParaRPr lang="en-US" sz="2800" dirty="0"/>
          </a:p>
        </p:txBody>
      </p:sp>
      <p:sp>
        <p:nvSpPr>
          <p:cNvPr id="4" name="Shape 2"/>
          <p:cNvSpPr/>
          <p:nvPr/>
        </p:nvSpPr>
        <p:spPr>
          <a:xfrm>
            <a:off x="548640" y="1508760"/>
            <a:ext cx="5394960" cy="914400"/>
          </a:xfrm>
          <a:prstGeom prst="roundRect">
            <a:avLst>
              <a:gd name="adj" fmla="val 8000"/>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5" name="Shape 3"/>
          <p:cNvSpPr/>
          <p:nvPr/>
        </p:nvSpPr>
        <p:spPr>
          <a:xfrm>
            <a:off x="713232" y="1673352"/>
            <a:ext cx="411480" cy="411480"/>
          </a:xfrm>
          <a:prstGeom prst="ellipse">
            <a:avLst/>
          </a:prstGeom>
          <a:solidFill>
            <a:srgbClr val="1E6FA8"/>
          </a:solidFill>
          <a:ln/>
        </p:spPr>
        <p:txBody>
          <a:bodyPr/>
          <a:lstStyle/>
          <a:p>
            <a:endParaRPr/>
          </a:p>
        </p:txBody>
      </p:sp>
      <p:pic>
        <p:nvPicPr>
          <p:cNvPr id="6" name="Image 0" descr="/home/claude/work/icons/database_FFFFFF.png"/>
          <p:cNvPicPr>
            <a:picLocks noChangeAspect="1"/>
          </p:cNvPicPr>
          <p:nvPr/>
        </p:nvPicPr>
        <p:blipFill>
          <a:blip r:embed="rId3"/>
          <a:stretch>
            <a:fillRect/>
          </a:stretch>
        </p:blipFill>
        <p:spPr>
          <a:xfrm>
            <a:off x="811987" y="1772107"/>
            <a:ext cx="213970" cy="213970"/>
          </a:xfrm>
          <a:prstGeom prst="rect">
            <a:avLst/>
          </a:prstGeom>
        </p:spPr>
      </p:pic>
      <p:sp>
        <p:nvSpPr>
          <p:cNvPr id="7" name="Text 4"/>
          <p:cNvSpPr/>
          <p:nvPr/>
        </p:nvSpPr>
        <p:spPr>
          <a:xfrm>
            <a:off x="1261872" y="1600200"/>
            <a:ext cx="3474720" cy="274320"/>
          </a:xfrm>
          <a:prstGeom prst="rect">
            <a:avLst/>
          </a:prstGeom>
          <a:noFill/>
          <a:ln/>
        </p:spPr>
        <p:txBody>
          <a:bodyPr wrap="square" lIns="0" tIns="0" rIns="0" bIns="0" rtlCol="0" anchor="ctr"/>
          <a:lstStyle/>
          <a:p>
            <a:pPr marL="0" indent="0">
              <a:buNone/>
            </a:pPr>
            <a:r>
              <a:rPr lang="en-US" sz="1300" b="1" dirty="0">
                <a:solidFill>
                  <a:srgbClr val="0B3556"/>
                </a:solidFill>
                <a:latin typeface="Calibri" pitchFamily="34" charset="0"/>
                <a:ea typeface="Calibri" pitchFamily="34" charset="-122"/>
                <a:cs typeface="Calibri" pitchFamily="34" charset="-120"/>
              </a:rPr>
              <a:t>Fact_Streaming</a:t>
            </a:r>
            <a:endParaRPr lang="en-US" sz="1300" dirty="0"/>
          </a:p>
        </p:txBody>
      </p:sp>
      <p:sp>
        <p:nvSpPr>
          <p:cNvPr id="8" name="Text 5"/>
          <p:cNvSpPr/>
          <p:nvPr/>
        </p:nvSpPr>
        <p:spPr>
          <a:xfrm>
            <a:off x="4206240" y="1618488"/>
            <a:ext cx="1600200" cy="274320"/>
          </a:xfrm>
          <a:prstGeom prst="rect">
            <a:avLst/>
          </a:prstGeom>
          <a:noFill/>
          <a:ln/>
        </p:spPr>
        <p:txBody>
          <a:bodyPr wrap="square" lIns="0" tIns="0" rIns="0" bIns="0" rtlCol="0" anchor="ctr"/>
          <a:lstStyle/>
          <a:p>
            <a:pPr marL="0" indent="0" algn="r">
              <a:buNone/>
            </a:pPr>
            <a:r>
              <a:rPr lang="en-US" sz="950" b="1" dirty="0">
                <a:solidFill>
                  <a:srgbClr val="1E6FA8"/>
                </a:solidFill>
                <a:latin typeface="Calibri" pitchFamily="34" charset="0"/>
                <a:ea typeface="Calibri" pitchFamily="34" charset="-122"/>
                <a:cs typeface="Calibri" pitchFamily="34" charset="-120"/>
              </a:rPr>
              <a:t>10,000 rows • 20 columns</a:t>
            </a:r>
            <a:endParaRPr lang="en-US" sz="950" dirty="0"/>
          </a:p>
        </p:txBody>
      </p:sp>
      <p:sp>
        <p:nvSpPr>
          <p:cNvPr id="9" name="Text 6"/>
          <p:cNvSpPr/>
          <p:nvPr/>
        </p:nvSpPr>
        <p:spPr>
          <a:xfrm>
            <a:off x="1261872" y="1892808"/>
            <a:ext cx="4526280" cy="475488"/>
          </a:xfrm>
          <a:prstGeom prst="rect">
            <a:avLst/>
          </a:prstGeom>
          <a:noFill/>
          <a:ln/>
        </p:spPr>
        <p:txBody>
          <a:bodyPr wrap="square" lIns="0" tIns="0" rIns="0" bIns="0" rtlCol="0" anchor="ctr"/>
          <a:lstStyle/>
          <a:p>
            <a:pPr marL="0" indent="0">
              <a:buNone/>
            </a:pPr>
            <a:r>
              <a:rPr lang="en-US" sz="1000" dirty="0">
                <a:solidFill>
                  <a:srgbClr val="13212B"/>
                </a:solidFill>
                <a:latin typeface="Calibri" pitchFamily="34" charset="0"/>
                <a:ea typeface="Calibri" pitchFamily="34" charset="-122"/>
                <a:cs typeface="Calibri" pitchFamily="34" charset="-120"/>
              </a:rPr>
              <a:t>One row per viewing activity: user ID, province/city, content name &amp; type, package, device, age, gender, watch duration, date.</a:t>
            </a:r>
            <a:endParaRPr lang="en-US" sz="1000" dirty="0"/>
          </a:p>
        </p:txBody>
      </p:sp>
      <p:sp>
        <p:nvSpPr>
          <p:cNvPr id="10" name="Shape 7"/>
          <p:cNvSpPr/>
          <p:nvPr/>
        </p:nvSpPr>
        <p:spPr>
          <a:xfrm>
            <a:off x="6217920" y="1508760"/>
            <a:ext cx="5394960" cy="914400"/>
          </a:xfrm>
          <a:prstGeom prst="roundRect">
            <a:avLst>
              <a:gd name="adj" fmla="val 8000"/>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1" name="Shape 8"/>
          <p:cNvSpPr/>
          <p:nvPr/>
        </p:nvSpPr>
        <p:spPr>
          <a:xfrm>
            <a:off x="6382512" y="1673352"/>
            <a:ext cx="411480" cy="411480"/>
          </a:xfrm>
          <a:prstGeom prst="ellipse">
            <a:avLst/>
          </a:prstGeom>
          <a:solidFill>
            <a:srgbClr val="1E6FA8"/>
          </a:solidFill>
          <a:ln/>
        </p:spPr>
        <p:txBody>
          <a:bodyPr/>
          <a:lstStyle/>
          <a:p>
            <a:endParaRPr/>
          </a:p>
        </p:txBody>
      </p:sp>
      <p:pic>
        <p:nvPicPr>
          <p:cNvPr id="12" name="Image 1" descr="/home/claude/work/icons/database_FFFFFF.png"/>
          <p:cNvPicPr>
            <a:picLocks noChangeAspect="1"/>
          </p:cNvPicPr>
          <p:nvPr/>
        </p:nvPicPr>
        <p:blipFill>
          <a:blip r:embed="rId3"/>
          <a:stretch>
            <a:fillRect/>
          </a:stretch>
        </p:blipFill>
        <p:spPr>
          <a:xfrm>
            <a:off x="6481267" y="1772107"/>
            <a:ext cx="213970" cy="213970"/>
          </a:xfrm>
          <a:prstGeom prst="rect">
            <a:avLst/>
          </a:prstGeom>
        </p:spPr>
      </p:pic>
      <p:sp>
        <p:nvSpPr>
          <p:cNvPr id="13" name="Text 9"/>
          <p:cNvSpPr/>
          <p:nvPr/>
        </p:nvSpPr>
        <p:spPr>
          <a:xfrm>
            <a:off x="6931152" y="1600200"/>
            <a:ext cx="3474720" cy="274320"/>
          </a:xfrm>
          <a:prstGeom prst="rect">
            <a:avLst/>
          </a:prstGeom>
          <a:noFill/>
          <a:ln/>
        </p:spPr>
        <p:txBody>
          <a:bodyPr wrap="square" lIns="0" tIns="0" rIns="0" bIns="0" rtlCol="0" anchor="ctr"/>
          <a:lstStyle/>
          <a:p>
            <a:pPr marL="0" indent="0">
              <a:buNone/>
            </a:pPr>
            <a:r>
              <a:rPr lang="en-US" sz="1300" b="1" dirty="0">
                <a:solidFill>
                  <a:srgbClr val="0B3556"/>
                </a:solidFill>
                <a:latin typeface="Calibri" pitchFamily="34" charset="0"/>
                <a:ea typeface="Calibri" pitchFamily="34" charset="-122"/>
                <a:cs typeface="Calibri" pitchFamily="34" charset="-120"/>
              </a:rPr>
              <a:t>Dim_Calendar</a:t>
            </a:r>
            <a:endParaRPr lang="en-US" sz="1300" dirty="0"/>
          </a:p>
        </p:txBody>
      </p:sp>
      <p:sp>
        <p:nvSpPr>
          <p:cNvPr id="14" name="Text 10"/>
          <p:cNvSpPr/>
          <p:nvPr/>
        </p:nvSpPr>
        <p:spPr>
          <a:xfrm>
            <a:off x="9875520" y="1618488"/>
            <a:ext cx="1600200" cy="274320"/>
          </a:xfrm>
          <a:prstGeom prst="rect">
            <a:avLst/>
          </a:prstGeom>
          <a:noFill/>
          <a:ln/>
        </p:spPr>
        <p:txBody>
          <a:bodyPr wrap="square" lIns="0" tIns="0" rIns="0" bIns="0" rtlCol="0" anchor="ctr"/>
          <a:lstStyle/>
          <a:p>
            <a:pPr marL="0" indent="0" algn="r">
              <a:buNone/>
            </a:pPr>
            <a:r>
              <a:rPr lang="en-US" sz="950" b="1" dirty="0">
                <a:solidFill>
                  <a:srgbClr val="1E6FA8"/>
                </a:solidFill>
                <a:latin typeface="Calibri" pitchFamily="34" charset="0"/>
                <a:ea typeface="Calibri" pitchFamily="34" charset="-122"/>
                <a:cs typeface="Calibri" pitchFamily="34" charset="-120"/>
              </a:rPr>
              <a:t>Date dimension</a:t>
            </a:r>
            <a:endParaRPr lang="en-US" sz="950" dirty="0"/>
          </a:p>
        </p:txBody>
      </p:sp>
      <p:sp>
        <p:nvSpPr>
          <p:cNvPr id="15" name="Text 11"/>
          <p:cNvSpPr/>
          <p:nvPr/>
        </p:nvSpPr>
        <p:spPr>
          <a:xfrm>
            <a:off x="6931152" y="1892808"/>
            <a:ext cx="4526280" cy="475488"/>
          </a:xfrm>
          <a:prstGeom prst="rect">
            <a:avLst/>
          </a:prstGeom>
          <a:noFill/>
          <a:ln/>
        </p:spPr>
        <p:txBody>
          <a:bodyPr wrap="square" lIns="0" tIns="0" rIns="0" bIns="0" rtlCol="0" anchor="ctr"/>
          <a:lstStyle/>
          <a:p>
            <a:pPr marL="0" indent="0">
              <a:buNone/>
            </a:pPr>
            <a:r>
              <a:rPr lang="en-US" sz="1000" dirty="0">
                <a:solidFill>
                  <a:srgbClr val="13212B"/>
                </a:solidFill>
                <a:latin typeface="Calibri" pitchFamily="34" charset="0"/>
                <a:ea typeface="Calibri" pitchFamily="34" charset="-122"/>
                <a:cs typeface="Calibri" pitchFamily="34" charset="-120"/>
              </a:rPr>
              <a:t>Date, Year, MonthName, Quarter — calculated columns enabling month-over-month comparisons.</a:t>
            </a:r>
            <a:endParaRPr lang="en-US" sz="1000" dirty="0"/>
          </a:p>
        </p:txBody>
      </p:sp>
      <p:sp>
        <p:nvSpPr>
          <p:cNvPr id="16" name="Shape 12"/>
          <p:cNvSpPr/>
          <p:nvPr/>
        </p:nvSpPr>
        <p:spPr>
          <a:xfrm>
            <a:off x="548640" y="2560320"/>
            <a:ext cx="5394960" cy="914400"/>
          </a:xfrm>
          <a:prstGeom prst="roundRect">
            <a:avLst>
              <a:gd name="adj" fmla="val 8000"/>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7" name="Shape 13"/>
          <p:cNvSpPr/>
          <p:nvPr/>
        </p:nvSpPr>
        <p:spPr>
          <a:xfrm>
            <a:off x="713232" y="2724912"/>
            <a:ext cx="411480" cy="411480"/>
          </a:xfrm>
          <a:prstGeom prst="ellipse">
            <a:avLst/>
          </a:prstGeom>
          <a:solidFill>
            <a:srgbClr val="1E6FA8"/>
          </a:solidFill>
          <a:ln/>
        </p:spPr>
        <p:txBody>
          <a:bodyPr/>
          <a:lstStyle/>
          <a:p>
            <a:endParaRPr/>
          </a:p>
        </p:txBody>
      </p:sp>
      <p:pic>
        <p:nvPicPr>
          <p:cNvPr id="18" name="Image 2" descr="/home/claude/work/icons/database_FFFFFF.png"/>
          <p:cNvPicPr>
            <a:picLocks noChangeAspect="1"/>
          </p:cNvPicPr>
          <p:nvPr/>
        </p:nvPicPr>
        <p:blipFill>
          <a:blip r:embed="rId3"/>
          <a:stretch>
            <a:fillRect/>
          </a:stretch>
        </p:blipFill>
        <p:spPr>
          <a:xfrm>
            <a:off x="811987" y="2823667"/>
            <a:ext cx="213970" cy="213970"/>
          </a:xfrm>
          <a:prstGeom prst="rect">
            <a:avLst/>
          </a:prstGeom>
        </p:spPr>
      </p:pic>
      <p:sp>
        <p:nvSpPr>
          <p:cNvPr id="19" name="Text 14"/>
          <p:cNvSpPr/>
          <p:nvPr/>
        </p:nvSpPr>
        <p:spPr>
          <a:xfrm>
            <a:off x="1261872" y="2651760"/>
            <a:ext cx="3474720" cy="274320"/>
          </a:xfrm>
          <a:prstGeom prst="rect">
            <a:avLst/>
          </a:prstGeom>
          <a:noFill/>
          <a:ln/>
        </p:spPr>
        <p:txBody>
          <a:bodyPr wrap="square" lIns="0" tIns="0" rIns="0" bIns="0" rtlCol="0" anchor="ctr"/>
          <a:lstStyle/>
          <a:p>
            <a:pPr marL="0" indent="0">
              <a:buNone/>
            </a:pPr>
            <a:r>
              <a:rPr lang="en-US" sz="1300" b="1" dirty="0">
                <a:solidFill>
                  <a:srgbClr val="0B3556"/>
                </a:solidFill>
                <a:latin typeface="Calibri" pitchFamily="34" charset="0"/>
                <a:ea typeface="Calibri" pitchFamily="34" charset="-122"/>
                <a:cs typeface="Calibri" pitchFamily="34" charset="-120"/>
              </a:rPr>
              <a:t>Metric Selector</a:t>
            </a:r>
            <a:endParaRPr lang="en-US" sz="1300" dirty="0"/>
          </a:p>
        </p:txBody>
      </p:sp>
      <p:sp>
        <p:nvSpPr>
          <p:cNvPr id="20" name="Text 15"/>
          <p:cNvSpPr/>
          <p:nvPr/>
        </p:nvSpPr>
        <p:spPr>
          <a:xfrm>
            <a:off x="4206240" y="2670048"/>
            <a:ext cx="1600200" cy="274320"/>
          </a:xfrm>
          <a:prstGeom prst="rect">
            <a:avLst/>
          </a:prstGeom>
          <a:noFill/>
          <a:ln/>
        </p:spPr>
        <p:txBody>
          <a:bodyPr wrap="square" lIns="0" tIns="0" rIns="0" bIns="0" rtlCol="0" anchor="ctr"/>
          <a:lstStyle/>
          <a:p>
            <a:pPr marL="0" indent="0" algn="r">
              <a:buNone/>
            </a:pPr>
            <a:r>
              <a:rPr lang="en-US" sz="950" b="1" dirty="0">
                <a:solidFill>
                  <a:srgbClr val="1E6FA8"/>
                </a:solidFill>
                <a:latin typeface="Calibri" pitchFamily="34" charset="0"/>
                <a:ea typeface="Calibri" pitchFamily="34" charset="-122"/>
                <a:cs typeface="Calibri" pitchFamily="34" charset="-120"/>
              </a:rPr>
              <a:t>3-row parameter table</a:t>
            </a:r>
            <a:endParaRPr lang="en-US" sz="950" dirty="0"/>
          </a:p>
        </p:txBody>
      </p:sp>
      <p:sp>
        <p:nvSpPr>
          <p:cNvPr id="21" name="Text 16"/>
          <p:cNvSpPr/>
          <p:nvPr/>
        </p:nvSpPr>
        <p:spPr>
          <a:xfrm>
            <a:off x="1261872" y="2944368"/>
            <a:ext cx="4526280" cy="475488"/>
          </a:xfrm>
          <a:prstGeom prst="rect">
            <a:avLst/>
          </a:prstGeom>
          <a:noFill/>
          <a:ln/>
        </p:spPr>
        <p:txBody>
          <a:bodyPr wrap="square" lIns="0" tIns="0" rIns="0" bIns="0" rtlCol="0" anchor="ctr"/>
          <a:lstStyle/>
          <a:p>
            <a:pPr marL="0" indent="0">
              <a:buNone/>
            </a:pPr>
            <a:r>
              <a:rPr lang="en-US" sz="1000" dirty="0">
                <a:solidFill>
                  <a:srgbClr val="13212B"/>
                </a:solidFill>
                <a:latin typeface="Calibri" pitchFamily="34" charset="0"/>
                <a:ea typeface="Calibri" pitchFamily="34" charset="-122"/>
                <a:cs typeface="Calibri" pitchFamily="34" charset="-120"/>
              </a:rPr>
              <a:t>A Power BI field-parameter table that lets one chart switch between Total Users, Streaming Hours and Avg Watch Time.</a:t>
            </a:r>
            <a:endParaRPr lang="en-US" sz="1000" dirty="0"/>
          </a:p>
        </p:txBody>
      </p:sp>
      <p:sp>
        <p:nvSpPr>
          <p:cNvPr id="22" name="Shape 17"/>
          <p:cNvSpPr/>
          <p:nvPr/>
        </p:nvSpPr>
        <p:spPr>
          <a:xfrm>
            <a:off x="6217920" y="2560320"/>
            <a:ext cx="5394960" cy="914400"/>
          </a:xfrm>
          <a:prstGeom prst="roundRect">
            <a:avLst>
              <a:gd name="adj" fmla="val 8000"/>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23" name="Shape 18"/>
          <p:cNvSpPr/>
          <p:nvPr/>
        </p:nvSpPr>
        <p:spPr>
          <a:xfrm>
            <a:off x="6382512" y="2724912"/>
            <a:ext cx="411480" cy="411480"/>
          </a:xfrm>
          <a:prstGeom prst="ellipse">
            <a:avLst/>
          </a:prstGeom>
          <a:solidFill>
            <a:srgbClr val="1E6FA8"/>
          </a:solidFill>
          <a:ln/>
        </p:spPr>
        <p:txBody>
          <a:bodyPr/>
          <a:lstStyle/>
          <a:p>
            <a:endParaRPr/>
          </a:p>
        </p:txBody>
      </p:sp>
      <p:pic>
        <p:nvPicPr>
          <p:cNvPr id="24" name="Image 3" descr="/home/claude/work/icons/database_FFFFFF.png"/>
          <p:cNvPicPr>
            <a:picLocks noChangeAspect="1"/>
          </p:cNvPicPr>
          <p:nvPr/>
        </p:nvPicPr>
        <p:blipFill>
          <a:blip r:embed="rId3"/>
          <a:stretch>
            <a:fillRect/>
          </a:stretch>
        </p:blipFill>
        <p:spPr>
          <a:xfrm>
            <a:off x="6481267" y="2823667"/>
            <a:ext cx="213970" cy="213970"/>
          </a:xfrm>
          <a:prstGeom prst="rect">
            <a:avLst/>
          </a:prstGeom>
        </p:spPr>
      </p:pic>
      <p:sp>
        <p:nvSpPr>
          <p:cNvPr id="25" name="Text 19"/>
          <p:cNvSpPr/>
          <p:nvPr/>
        </p:nvSpPr>
        <p:spPr>
          <a:xfrm>
            <a:off x="6931152" y="2651760"/>
            <a:ext cx="3474720" cy="274320"/>
          </a:xfrm>
          <a:prstGeom prst="rect">
            <a:avLst/>
          </a:prstGeom>
          <a:noFill/>
          <a:ln/>
        </p:spPr>
        <p:txBody>
          <a:bodyPr wrap="square" lIns="0" tIns="0" rIns="0" bIns="0" rtlCol="0" anchor="ctr"/>
          <a:lstStyle/>
          <a:p>
            <a:pPr marL="0" indent="0">
              <a:buNone/>
            </a:pPr>
            <a:r>
              <a:rPr lang="en-US" sz="1300" b="1" dirty="0">
                <a:solidFill>
                  <a:srgbClr val="0B3556"/>
                </a:solidFill>
                <a:latin typeface="Calibri" pitchFamily="34" charset="0"/>
                <a:ea typeface="Calibri" pitchFamily="34" charset="-122"/>
                <a:cs typeface="Calibri" pitchFamily="34" charset="-120"/>
              </a:rPr>
              <a:t>Ref_ProvinsiIndonesia</a:t>
            </a:r>
            <a:endParaRPr lang="en-US" sz="1300" dirty="0"/>
          </a:p>
        </p:txBody>
      </p:sp>
      <p:sp>
        <p:nvSpPr>
          <p:cNvPr id="26" name="Text 20"/>
          <p:cNvSpPr/>
          <p:nvPr/>
        </p:nvSpPr>
        <p:spPr>
          <a:xfrm>
            <a:off x="9875520" y="2670048"/>
            <a:ext cx="1600200" cy="274320"/>
          </a:xfrm>
          <a:prstGeom prst="rect">
            <a:avLst/>
          </a:prstGeom>
          <a:noFill/>
          <a:ln/>
        </p:spPr>
        <p:txBody>
          <a:bodyPr wrap="square" lIns="0" tIns="0" rIns="0" bIns="0" rtlCol="0" anchor="ctr"/>
          <a:lstStyle/>
          <a:p>
            <a:pPr marL="0" indent="0" algn="r">
              <a:buNone/>
            </a:pPr>
            <a:r>
              <a:rPr lang="en-US" sz="950" b="1" dirty="0">
                <a:solidFill>
                  <a:srgbClr val="1E6FA8"/>
                </a:solidFill>
                <a:latin typeface="Calibri" pitchFamily="34" charset="0"/>
                <a:ea typeface="Calibri" pitchFamily="34" charset="-122"/>
                <a:cs typeface="Calibri" pitchFamily="34" charset="-120"/>
              </a:rPr>
              <a:t>Reference list</a:t>
            </a:r>
            <a:endParaRPr lang="en-US" sz="950" dirty="0"/>
          </a:p>
        </p:txBody>
      </p:sp>
      <p:sp>
        <p:nvSpPr>
          <p:cNvPr id="27" name="Text 21"/>
          <p:cNvSpPr/>
          <p:nvPr/>
        </p:nvSpPr>
        <p:spPr>
          <a:xfrm>
            <a:off x="6931152" y="2944368"/>
            <a:ext cx="4526280" cy="475488"/>
          </a:xfrm>
          <a:prstGeom prst="rect">
            <a:avLst/>
          </a:prstGeom>
          <a:noFill/>
          <a:ln/>
        </p:spPr>
        <p:txBody>
          <a:bodyPr wrap="square" lIns="0" tIns="0" rIns="0" bIns="0" rtlCol="0" anchor="ctr"/>
          <a:lstStyle/>
          <a:p>
            <a:pPr marL="0" indent="0">
              <a:buNone/>
            </a:pPr>
            <a:r>
              <a:rPr lang="en-US" sz="1000" dirty="0">
                <a:solidFill>
                  <a:srgbClr val="13212B"/>
                </a:solidFill>
                <a:latin typeface="Calibri" pitchFamily="34" charset="0"/>
                <a:ea typeface="Calibri" pitchFamily="34" charset="-122"/>
                <a:cs typeface="Calibri" pitchFamily="34" charset="-120"/>
              </a:rPr>
              <a:t>Standardized province name list used to clean and validate the raw Province field.</a:t>
            </a:r>
            <a:endParaRPr lang="en-US" sz="1000" dirty="0"/>
          </a:p>
        </p:txBody>
      </p:sp>
      <p:sp>
        <p:nvSpPr>
          <p:cNvPr id="28" name="Shape 22"/>
          <p:cNvSpPr/>
          <p:nvPr/>
        </p:nvSpPr>
        <p:spPr>
          <a:xfrm>
            <a:off x="668884" y="3794760"/>
            <a:ext cx="1965960" cy="777240"/>
          </a:xfrm>
          <a:prstGeom prst="roundRect">
            <a:avLst>
              <a:gd name="adj" fmla="val 7059"/>
            </a:avLst>
          </a:prstGeom>
          <a:solidFill>
            <a:srgbClr val="1E6FA8"/>
          </a:solidFill>
          <a:ln/>
        </p:spPr>
        <p:txBody>
          <a:bodyPr/>
          <a:lstStyle/>
          <a:p>
            <a:endParaRPr/>
          </a:p>
        </p:txBody>
      </p:sp>
      <p:sp>
        <p:nvSpPr>
          <p:cNvPr id="29" name="Text 23"/>
          <p:cNvSpPr/>
          <p:nvPr/>
        </p:nvSpPr>
        <p:spPr>
          <a:xfrm>
            <a:off x="668884" y="3794760"/>
            <a:ext cx="1965960" cy="777240"/>
          </a:xfrm>
          <a:prstGeom prst="rect">
            <a:avLst/>
          </a:prstGeom>
          <a:noFill/>
          <a:ln/>
        </p:spPr>
        <p:txBody>
          <a:bodyPr wrap="square" lIns="25400" tIns="25400" rIns="25400" bIns="254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Raw Excel Data</a:t>
            </a:r>
            <a:endParaRPr lang="en-US" sz="1050" dirty="0"/>
          </a:p>
        </p:txBody>
      </p:sp>
      <p:sp>
        <p:nvSpPr>
          <p:cNvPr id="30" name="Text 24"/>
          <p:cNvSpPr/>
          <p:nvPr/>
        </p:nvSpPr>
        <p:spPr>
          <a:xfrm>
            <a:off x="2634844" y="3794760"/>
            <a:ext cx="256032" cy="777240"/>
          </a:xfrm>
          <a:prstGeom prst="rect">
            <a:avLst/>
          </a:prstGeom>
          <a:noFill/>
          <a:ln/>
        </p:spPr>
        <p:txBody>
          <a:bodyPr wrap="square" lIns="0" tIns="0" rIns="0" bIns="0" rtlCol="0" anchor="ctr"/>
          <a:lstStyle/>
          <a:p>
            <a:pPr marL="0" indent="0" algn="ctr">
              <a:buNone/>
            </a:pPr>
            <a:r>
              <a:rPr lang="en-US" sz="1200" dirty="0">
                <a:solidFill>
                  <a:srgbClr val="6E7A87"/>
                </a:solidFill>
                <a:latin typeface="Calibri" pitchFamily="34" charset="0"/>
                <a:ea typeface="Calibri" pitchFamily="34" charset="-122"/>
                <a:cs typeface="Calibri" pitchFamily="34" charset="-120"/>
              </a:rPr>
              <a:t>▶</a:t>
            </a:r>
            <a:endParaRPr lang="en-US" sz="1200" dirty="0"/>
          </a:p>
        </p:txBody>
      </p:sp>
      <p:sp>
        <p:nvSpPr>
          <p:cNvPr id="31" name="Shape 25"/>
          <p:cNvSpPr/>
          <p:nvPr/>
        </p:nvSpPr>
        <p:spPr>
          <a:xfrm>
            <a:off x="2890876" y="3794760"/>
            <a:ext cx="1965960" cy="777240"/>
          </a:xfrm>
          <a:prstGeom prst="roundRect">
            <a:avLst>
              <a:gd name="adj" fmla="val 7059"/>
            </a:avLst>
          </a:prstGeom>
          <a:solidFill>
            <a:srgbClr val="1E6FA8"/>
          </a:solidFill>
          <a:ln/>
        </p:spPr>
        <p:txBody>
          <a:bodyPr/>
          <a:lstStyle/>
          <a:p>
            <a:endParaRPr/>
          </a:p>
        </p:txBody>
      </p:sp>
      <p:sp>
        <p:nvSpPr>
          <p:cNvPr id="32" name="Text 26"/>
          <p:cNvSpPr/>
          <p:nvPr/>
        </p:nvSpPr>
        <p:spPr>
          <a:xfrm>
            <a:off x="2890876" y="3794760"/>
            <a:ext cx="1965960" cy="777240"/>
          </a:xfrm>
          <a:prstGeom prst="rect">
            <a:avLst/>
          </a:prstGeom>
          <a:noFill/>
          <a:ln/>
        </p:spPr>
        <p:txBody>
          <a:bodyPr wrap="square" lIns="25400" tIns="25400" rIns="25400" bIns="254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Preparation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(Power Query)</a:t>
            </a:r>
            <a:endParaRPr lang="en-US" sz="1050" dirty="0"/>
          </a:p>
        </p:txBody>
      </p:sp>
      <p:sp>
        <p:nvSpPr>
          <p:cNvPr id="33" name="Text 27"/>
          <p:cNvSpPr/>
          <p:nvPr/>
        </p:nvSpPr>
        <p:spPr>
          <a:xfrm>
            <a:off x="4856836" y="3794760"/>
            <a:ext cx="256032" cy="777240"/>
          </a:xfrm>
          <a:prstGeom prst="rect">
            <a:avLst/>
          </a:prstGeom>
          <a:noFill/>
          <a:ln/>
        </p:spPr>
        <p:txBody>
          <a:bodyPr wrap="square" lIns="0" tIns="0" rIns="0" bIns="0" rtlCol="0" anchor="ctr"/>
          <a:lstStyle/>
          <a:p>
            <a:pPr marL="0" indent="0" algn="ctr">
              <a:buNone/>
            </a:pPr>
            <a:r>
              <a:rPr lang="en-US" sz="1200" dirty="0">
                <a:solidFill>
                  <a:srgbClr val="6E7A87"/>
                </a:solidFill>
                <a:latin typeface="Calibri" pitchFamily="34" charset="0"/>
                <a:ea typeface="Calibri" pitchFamily="34" charset="-122"/>
                <a:cs typeface="Calibri" pitchFamily="34" charset="-120"/>
              </a:rPr>
              <a:t>▶</a:t>
            </a:r>
            <a:endParaRPr lang="en-US" sz="1200" dirty="0"/>
          </a:p>
        </p:txBody>
      </p:sp>
      <p:sp>
        <p:nvSpPr>
          <p:cNvPr id="34" name="Shape 28"/>
          <p:cNvSpPr/>
          <p:nvPr/>
        </p:nvSpPr>
        <p:spPr>
          <a:xfrm>
            <a:off x="5112868" y="3794760"/>
            <a:ext cx="1965960" cy="777240"/>
          </a:xfrm>
          <a:prstGeom prst="roundRect">
            <a:avLst>
              <a:gd name="adj" fmla="val 7059"/>
            </a:avLst>
          </a:prstGeom>
          <a:solidFill>
            <a:srgbClr val="1E6FA8"/>
          </a:solidFill>
          <a:ln/>
        </p:spPr>
        <p:txBody>
          <a:bodyPr/>
          <a:lstStyle/>
          <a:p>
            <a:endParaRPr/>
          </a:p>
        </p:txBody>
      </p:sp>
      <p:sp>
        <p:nvSpPr>
          <p:cNvPr id="35" name="Text 29"/>
          <p:cNvSpPr/>
          <p:nvPr/>
        </p:nvSpPr>
        <p:spPr>
          <a:xfrm>
            <a:off x="5112868" y="3794760"/>
            <a:ext cx="1965960" cy="777240"/>
          </a:xfrm>
          <a:prstGeom prst="rect">
            <a:avLst/>
          </a:prstGeom>
          <a:noFill/>
          <a:ln/>
        </p:spPr>
        <p:txBody>
          <a:bodyPr wrap="square" lIns="25400" tIns="25400" rIns="25400" bIns="254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Model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(4 core analytical tables + 1 supporting query entity)</a:t>
            </a:r>
            <a:endParaRPr lang="en-US" sz="1050" dirty="0"/>
          </a:p>
        </p:txBody>
      </p:sp>
      <p:sp>
        <p:nvSpPr>
          <p:cNvPr id="36" name="Text 30"/>
          <p:cNvSpPr/>
          <p:nvPr/>
        </p:nvSpPr>
        <p:spPr>
          <a:xfrm>
            <a:off x="7078828" y="3794760"/>
            <a:ext cx="256032" cy="777240"/>
          </a:xfrm>
          <a:prstGeom prst="rect">
            <a:avLst/>
          </a:prstGeom>
          <a:noFill/>
          <a:ln/>
        </p:spPr>
        <p:txBody>
          <a:bodyPr wrap="square" lIns="0" tIns="0" rIns="0" bIns="0" rtlCol="0" anchor="ctr"/>
          <a:lstStyle/>
          <a:p>
            <a:pPr marL="0" indent="0" algn="ctr">
              <a:buNone/>
            </a:pPr>
            <a:r>
              <a:rPr lang="en-US" sz="1200" dirty="0">
                <a:solidFill>
                  <a:srgbClr val="6E7A87"/>
                </a:solidFill>
                <a:latin typeface="Calibri" pitchFamily="34" charset="0"/>
                <a:ea typeface="Calibri" pitchFamily="34" charset="-122"/>
                <a:cs typeface="Calibri" pitchFamily="34" charset="-120"/>
              </a:rPr>
              <a:t>▶</a:t>
            </a:r>
            <a:endParaRPr lang="en-US" sz="1200" dirty="0"/>
          </a:p>
        </p:txBody>
      </p:sp>
      <p:sp>
        <p:nvSpPr>
          <p:cNvPr id="37" name="Shape 31"/>
          <p:cNvSpPr/>
          <p:nvPr/>
        </p:nvSpPr>
        <p:spPr>
          <a:xfrm>
            <a:off x="7334860" y="3794760"/>
            <a:ext cx="1965960" cy="777240"/>
          </a:xfrm>
          <a:prstGeom prst="roundRect">
            <a:avLst>
              <a:gd name="adj" fmla="val 7059"/>
            </a:avLst>
          </a:prstGeom>
          <a:solidFill>
            <a:srgbClr val="1E6FA8"/>
          </a:solidFill>
          <a:ln/>
        </p:spPr>
        <p:txBody>
          <a:bodyPr/>
          <a:lstStyle/>
          <a:p>
            <a:endParaRPr/>
          </a:p>
        </p:txBody>
      </p:sp>
      <p:sp>
        <p:nvSpPr>
          <p:cNvPr id="38" name="Text 32"/>
          <p:cNvSpPr/>
          <p:nvPr/>
        </p:nvSpPr>
        <p:spPr>
          <a:xfrm>
            <a:off x="7334860" y="3794760"/>
            <a:ext cx="1965960" cy="777240"/>
          </a:xfrm>
          <a:prstGeom prst="rect">
            <a:avLst/>
          </a:prstGeom>
          <a:noFill/>
          <a:ln/>
        </p:spPr>
        <p:txBody>
          <a:bodyPr wrap="square" lIns="25400" tIns="25400" rIns="25400" bIns="254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DAX Measures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(20 measures)</a:t>
            </a:r>
            <a:endParaRPr lang="en-US" sz="1050" dirty="0"/>
          </a:p>
        </p:txBody>
      </p:sp>
      <p:sp>
        <p:nvSpPr>
          <p:cNvPr id="39" name="Text 33"/>
          <p:cNvSpPr/>
          <p:nvPr/>
        </p:nvSpPr>
        <p:spPr>
          <a:xfrm>
            <a:off x="9300820" y="3794760"/>
            <a:ext cx="256032" cy="777240"/>
          </a:xfrm>
          <a:prstGeom prst="rect">
            <a:avLst/>
          </a:prstGeom>
          <a:noFill/>
          <a:ln/>
        </p:spPr>
        <p:txBody>
          <a:bodyPr wrap="square" lIns="0" tIns="0" rIns="0" bIns="0" rtlCol="0" anchor="ctr"/>
          <a:lstStyle/>
          <a:p>
            <a:pPr marL="0" indent="0" algn="ctr">
              <a:buNone/>
            </a:pPr>
            <a:r>
              <a:rPr lang="en-US" sz="1200" dirty="0">
                <a:solidFill>
                  <a:srgbClr val="6E7A87"/>
                </a:solidFill>
                <a:latin typeface="Calibri" pitchFamily="34" charset="0"/>
                <a:ea typeface="Calibri" pitchFamily="34" charset="-122"/>
                <a:cs typeface="Calibri" pitchFamily="34" charset="-120"/>
              </a:rPr>
              <a:t>▶</a:t>
            </a:r>
            <a:endParaRPr lang="en-US" sz="1200" dirty="0"/>
          </a:p>
        </p:txBody>
      </p:sp>
      <p:sp>
        <p:nvSpPr>
          <p:cNvPr id="40" name="Shape 34"/>
          <p:cNvSpPr/>
          <p:nvPr/>
        </p:nvSpPr>
        <p:spPr>
          <a:xfrm>
            <a:off x="9556852" y="3794760"/>
            <a:ext cx="1965960" cy="777240"/>
          </a:xfrm>
          <a:prstGeom prst="roundRect">
            <a:avLst>
              <a:gd name="adj" fmla="val 7059"/>
            </a:avLst>
          </a:prstGeom>
          <a:solidFill>
            <a:srgbClr val="0B3556"/>
          </a:solidFill>
          <a:ln/>
        </p:spPr>
        <p:txBody>
          <a:bodyPr/>
          <a:lstStyle/>
          <a:p>
            <a:endParaRPr/>
          </a:p>
        </p:txBody>
      </p:sp>
      <p:sp>
        <p:nvSpPr>
          <p:cNvPr id="41" name="Text 35"/>
          <p:cNvSpPr/>
          <p:nvPr/>
        </p:nvSpPr>
        <p:spPr>
          <a:xfrm>
            <a:off x="9556852" y="3794760"/>
            <a:ext cx="1965960" cy="777240"/>
          </a:xfrm>
          <a:prstGeom prst="rect">
            <a:avLst/>
          </a:prstGeom>
          <a:noFill/>
          <a:ln/>
        </p:spPr>
        <p:txBody>
          <a:bodyPr wrap="square" lIns="25400" tIns="25400" rIns="25400" bIns="254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Interactive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Dashboard (2 pages)</a:t>
            </a:r>
            <a:endParaRPr lang="en-US" sz="1050" dirty="0"/>
          </a:p>
        </p:txBody>
      </p:sp>
      <p:sp>
        <p:nvSpPr>
          <p:cNvPr id="42" name="Shape 36"/>
          <p:cNvSpPr/>
          <p:nvPr/>
        </p:nvSpPr>
        <p:spPr>
          <a:xfrm>
            <a:off x="548640" y="4846320"/>
            <a:ext cx="11064240" cy="1325880"/>
          </a:xfrm>
          <a:prstGeom prst="roundRect">
            <a:avLst>
              <a:gd name="adj" fmla="val 5517"/>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43" name="Shape 37"/>
          <p:cNvSpPr/>
          <p:nvPr/>
        </p:nvSpPr>
        <p:spPr>
          <a:xfrm>
            <a:off x="777240" y="5029200"/>
            <a:ext cx="457200" cy="457200"/>
          </a:xfrm>
          <a:prstGeom prst="ellipse">
            <a:avLst/>
          </a:prstGeom>
          <a:solidFill>
            <a:srgbClr val="E3A730"/>
          </a:solidFill>
          <a:ln/>
        </p:spPr>
        <p:txBody>
          <a:bodyPr/>
          <a:lstStyle/>
          <a:p>
            <a:endParaRPr/>
          </a:p>
        </p:txBody>
      </p:sp>
      <p:pic>
        <p:nvPicPr>
          <p:cNvPr id="44" name="Image 4" descr="/home/claude/work/icons/gitbranch_0B3556.png"/>
          <p:cNvPicPr>
            <a:picLocks noChangeAspect="1"/>
          </p:cNvPicPr>
          <p:nvPr/>
        </p:nvPicPr>
        <p:blipFill>
          <a:blip r:embed="rId4"/>
          <a:stretch>
            <a:fillRect/>
          </a:stretch>
        </p:blipFill>
        <p:spPr>
          <a:xfrm>
            <a:off x="886968" y="5138928"/>
            <a:ext cx="237744" cy="237744"/>
          </a:xfrm>
          <a:prstGeom prst="rect">
            <a:avLst/>
          </a:prstGeom>
        </p:spPr>
      </p:pic>
      <p:sp>
        <p:nvSpPr>
          <p:cNvPr id="45" name="Text 38"/>
          <p:cNvSpPr/>
          <p:nvPr/>
        </p:nvSpPr>
        <p:spPr>
          <a:xfrm>
            <a:off x="1417320" y="5010912"/>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Verified data-preparation logic (from Power Query)</a:t>
            </a:r>
            <a:endParaRPr lang="en-US" sz="1250" dirty="0"/>
          </a:p>
        </p:txBody>
      </p:sp>
      <p:sp>
        <p:nvSpPr>
          <p:cNvPr id="46" name="Text 39"/>
          <p:cNvSpPr/>
          <p:nvPr/>
        </p:nvSpPr>
        <p:spPr>
          <a:xfrm>
            <a:off x="1417320" y="5321808"/>
            <a:ext cx="9966960" cy="777240"/>
          </a:xfrm>
          <a:prstGeom prst="rect">
            <a:avLst/>
          </a:prstGeom>
          <a:noFill/>
          <a:ln/>
        </p:spPr>
        <p:txBody>
          <a:bodyPr wrap="square" lIns="0" tIns="0" rIns="0" bIns="0" rtlCol="0" anchor="ctr"/>
          <a:lstStyle/>
          <a:p>
            <a:pPr marL="0" indent="0">
              <a:lnSpc>
                <a:spcPts val="1500"/>
              </a:lnSpc>
              <a:buNone/>
            </a:pPr>
            <a:r>
              <a:rPr lang="en-US" sz="1100" dirty="0">
                <a:solidFill>
                  <a:srgbClr val="13212B"/>
                </a:solidFill>
                <a:latin typeface="Calibri" pitchFamily="34" charset="0"/>
                <a:ea typeface="Calibri" pitchFamily="34" charset="-122"/>
                <a:cs typeface="Calibri" pitchFamily="34" charset="-120"/>
              </a:rPr>
              <a:t>Timestamps are parsed and split into a clean datetime and a date-only field; watch duration is converted from milliseconds into minutes and hours; an outlier flag marks sessions longer than 6 hours; province text is standardized against a reference list to classify each record as Domestic or Overseas/Unmapped.</a:t>
            </a:r>
            <a:endParaRPr lang="en-US" sz="1100" dirty="0"/>
          </a:p>
        </p:txBody>
      </p:sp>
      <p:sp>
        <p:nvSpPr>
          <p:cNvPr id="48" name="Text 40"/>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Dataset &amp; Data Model</a:t>
            </a:r>
            <a:endParaRPr lang="en-US" sz="900" dirty="0"/>
          </a:p>
        </p:txBody>
      </p:sp>
      <p:sp>
        <p:nvSpPr>
          <p:cNvPr id="49" name="Text 41"/>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PAGE 1 OF 2 — DASHBOARD</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Executive Overview</a:t>
            </a:r>
            <a:endParaRPr lang="en-US" sz="2800" dirty="0"/>
          </a:p>
        </p:txBody>
      </p:sp>
      <p:sp>
        <p:nvSpPr>
          <p:cNvPr id="4" name="Shape 2"/>
          <p:cNvSpPr/>
          <p:nvPr/>
        </p:nvSpPr>
        <p:spPr>
          <a:xfrm>
            <a:off x="548640" y="1417320"/>
            <a:ext cx="11064240" cy="2331720"/>
          </a:xfrm>
          <a:prstGeom prst="roundRect">
            <a:avLst>
              <a:gd name="adj" fmla="val 1961"/>
            </a:avLst>
          </a:prstGeom>
          <a:solidFill>
            <a:srgbClr val="1A3A56"/>
          </a:solidFill>
          <a:ln w="12700">
            <a:solidFill>
              <a:srgbClr val="1E6FA8"/>
            </a:solidFill>
            <a:prstDash val="dash"/>
          </a:ln>
        </p:spPr>
        <p:txBody>
          <a:bodyPr/>
          <a:lstStyle/>
          <a:p>
            <a:endParaRPr/>
          </a:p>
        </p:txBody>
      </p:sp>
      <p:pic>
        <p:nvPicPr>
          <p:cNvPr id="5" name="Image 0" descr="/home/claude/work/icons/grid_3DB8F0.png"/>
          <p:cNvPicPr>
            <a:picLocks noChangeAspect="1"/>
          </p:cNvPicPr>
          <p:nvPr/>
        </p:nvPicPr>
        <p:blipFill>
          <a:blip r:embed="rId3"/>
          <a:stretch>
            <a:fillRect/>
          </a:stretch>
        </p:blipFill>
        <p:spPr>
          <a:xfrm>
            <a:off x="5760720" y="1920240"/>
            <a:ext cx="640080" cy="640080"/>
          </a:xfrm>
          <a:prstGeom prst="rect">
            <a:avLst/>
          </a:prstGeom>
        </p:spPr>
      </p:pic>
      <p:sp>
        <p:nvSpPr>
          <p:cNvPr id="6" name="Text 3"/>
          <p:cNvSpPr/>
          <p:nvPr/>
        </p:nvSpPr>
        <p:spPr>
          <a:xfrm>
            <a:off x="1463040" y="2651760"/>
            <a:ext cx="9235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Screenshot needs to be captured from the live Power BI report — “Dashboard” page</a:t>
            </a:r>
            <a:endParaRPr lang="en-US" sz="1300" dirty="0"/>
          </a:p>
        </p:txBody>
      </p:sp>
      <p:sp>
        <p:nvSpPr>
          <p:cNvPr id="7" name="Text 4"/>
          <p:cNvSpPr/>
          <p:nvPr/>
        </p:nvSpPr>
        <p:spPr>
          <a:xfrm>
            <a:off x="1463040" y="3063240"/>
            <a:ext cx="9235440" cy="548640"/>
          </a:xfrm>
          <a:prstGeom prst="rect">
            <a:avLst/>
          </a:prstGeom>
          <a:noFill/>
          <a:ln/>
        </p:spPr>
        <p:txBody>
          <a:bodyPr wrap="square" lIns="0" tIns="0" rIns="0" bIns="0" rtlCol="0" anchor="ctr"/>
          <a:lstStyle/>
          <a:p>
            <a:pPr marL="0" indent="0" algn="ctr">
              <a:buNone/>
            </a:pPr>
            <a:r>
              <a:rPr lang="en-US" sz="1000" i="1" dirty="0">
                <a:solidFill>
                  <a:srgbClr val="E4EEF8"/>
                </a:solidFill>
                <a:latin typeface="Calibri" pitchFamily="34" charset="0"/>
                <a:ea typeface="Calibri" pitchFamily="34" charset="-122"/>
                <a:cs typeface="Calibri" pitchFamily="34" charset="-120"/>
              </a:rPr>
              <a:t>Recommended capture: full page at 100% zoom, filters cleared. Highlight ① KPI row  ② Monthly trend  ③ Map  ④ Content chart  ⑤ Package donut  ⑥ Age/Device chart  ⑦ Slicer &amp; Metric Selector row.</a:t>
            </a:r>
            <a:endParaRPr lang="en-US" sz="1000" dirty="0"/>
          </a:p>
        </p:txBody>
      </p:sp>
      <p:sp>
        <p:nvSpPr>
          <p:cNvPr id="8" name="Text 5"/>
          <p:cNvSpPr/>
          <p:nvPr/>
        </p:nvSpPr>
        <p:spPr>
          <a:xfrm>
            <a:off x="548640" y="4663440"/>
            <a:ext cx="7315200" cy="274320"/>
          </a:xfrm>
          <a:prstGeom prst="rect">
            <a:avLst/>
          </a:prstGeom>
          <a:noFill/>
          <a:ln/>
        </p:spPr>
        <p:txBody>
          <a:bodyPr wrap="square" lIns="0" tIns="0" rIns="0" bIns="0" rtlCol="0" anchor="ctr"/>
          <a:lstStyle/>
          <a:p>
            <a:pPr marL="0" indent="0">
              <a:buNone/>
            </a:pPr>
            <a:r>
              <a:rPr lang="en-US" sz="1200" b="1" kern="0" spc="150" dirty="0">
                <a:solidFill>
                  <a:srgbClr val="1E6FA8"/>
                </a:solidFill>
                <a:latin typeface="Calibri" pitchFamily="34" charset="0"/>
                <a:ea typeface="Calibri" pitchFamily="34" charset="-122"/>
                <a:cs typeface="Calibri" pitchFamily="34" charset="-120"/>
              </a:rPr>
              <a:t>KEY FINDINGS FROM THIS PAGE</a:t>
            </a:r>
            <a:endParaRPr lang="en-US" sz="1200" dirty="0"/>
          </a:p>
        </p:txBody>
      </p:sp>
      <p:sp>
        <p:nvSpPr>
          <p:cNvPr id="9" name="Text 6"/>
          <p:cNvSpPr/>
          <p:nvPr/>
        </p:nvSpPr>
        <p:spPr>
          <a:xfrm>
            <a:off x="563880" y="4848563"/>
            <a:ext cx="11064240" cy="566928"/>
          </a:xfrm>
          <a:prstGeom prst="rect">
            <a:avLst/>
          </a:prstGeom>
          <a:noFill/>
          <a:ln/>
        </p:spPr>
        <p:txBody>
          <a:bodyPr wrap="square" lIns="0" tIns="0" rIns="0" bIns="0" rtlCol="0" anchor="ctr"/>
          <a:lstStyle/>
          <a:p>
            <a:pPr marL="0" indent="0">
              <a:lnSpc>
                <a:spcPts val="1300"/>
              </a:lnSpc>
              <a:buNone/>
            </a:pPr>
            <a:r>
              <a:rPr lang="en-US" sz="1150" b="1" dirty="0">
                <a:solidFill>
                  <a:srgbClr val="0B3556"/>
                </a:solidFill>
                <a:latin typeface="Calibri" pitchFamily="34" charset="0"/>
                <a:ea typeface="Calibri" pitchFamily="34" charset="-122"/>
                <a:cs typeface="Calibri" pitchFamily="34" charset="-120"/>
              </a:rPr>
              <a:t>Activity is concentrated in two months, not a steady climb  </a:t>
            </a:r>
            <a:r>
              <a:rPr lang="en-US" sz="1050" dirty="0">
                <a:solidFill>
                  <a:srgbClr val="13212B"/>
                </a:solidFill>
                <a:latin typeface="Calibri" pitchFamily="34" charset="0"/>
                <a:ea typeface="Calibri" pitchFamily="34" charset="-122"/>
                <a:cs typeface="Calibri" pitchFamily="34" charset="-120"/>
              </a:rPr>
              <a:t>Evidence: May + June 2023 account for 8,054 of 10,000 users (80.5%); the other ten months average roughly 210 users each.  </a:t>
            </a:r>
            <a:r>
              <a:rPr lang="en-US" sz="1050" i="1" dirty="0">
                <a:solidFill>
                  <a:srgbClr val="1E6FA8"/>
                </a:solidFill>
                <a:latin typeface="Calibri" pitchFamily="34" charset="0"/>
                <a:ea typeface="Calibri" pitchFamily="34" charset="-122"/>
                <a:cs typeface="Calibri" pitchFamily="34" charset="-120"/>
              </a:rPr>
              <a:t>→ Read the monthly trend line as a concentration pattern, not organic growth, until the data owner confirms the cause.</a:t>
            </a:r>
            <a:endParaRPr lang="en-US" sz="1150" dirty="0"/>
          </a:p>
        </p:txBody>
      </p:sp>
      <p:sp>
        <p:nvSpPr>
          <p:cNvPr id="10" name="Text 7"/>
          <p:cNvSpPr/>
          <p:nvPr/>
        </p:nvSpPr>
        <p:spPr>
          <a:xfrm>
            <a:off x="563880" y="5452067"/>
            <a:ext cx="11064240" cy="566928"/>
          </a:xfrm>
          <a:prstGeom prst="rect">
            <a:avLst/>
          </a:prstGeom>
          <a:noFill/>
          <a:ln/>
        </p:spPr>
        <p:txBody>
          <a:bodyPr wrap="square" lIns="0" tIns="0" rIns="0" bIns="0" rtlCol="0" anchor="ctr"/>
          <a:lstStyle/>
          <a:p>
            <a:pPr marL="0" indent="0">
              <a:lnSpc>
                <a:spcPts val="1300"/>
              </a:lnSpc>
              <a:buNone/>
            </a:pPr>
            <a:r>
              <a:rPr lang="en-US" sz="1150" b="1" dirty="0">
                <a:solidFill>
                  <a:srgbClr val="0B3556"/>
                </a:solidFill>
                <a:latin typeface="Calibri" pitchFamily="34" charset="0"/>
                <a:ea typeface="Calibri" pitchFamily="34" charset="-122"/>
                <a:cs typeface="Calibri" pitchFamily="34" charset="-120"/>
              </a:rPr>
              <a:t>Three provinces carry most of the national user base  </a:t>
            </a:r>
            <a:r>
              <a:rPr lang="en-US" sz="1050" dirty="0">
                <a:solidFill>
                  <a:srgbClr val="13212B"/>
                </a:solidFill>
                <a:latin typeface="Calibri" pitchFamily="34" charset="0"/>
                <a:ea typeface="Calibri" pitchFamily="34" charset="-122"/>
                <a:cs typeface="Calibri" pitchFamily="34" charset="-120"/>
              </a:rPr>
              <a:t>Evidence: Jakarta, West Java and East Java together represent 59.8% of all users, out of 79 provinces recorded.  </a:t>
            </a:r>
            <a:r>
              <a:rPr lang="en-US" sz="1050" i="1" dirty="0">
                <a:solidFill>
                  <a:srgbClr val="1E6FA8"/>
                </a:solidFill>
                <a:latin typeface="Calibri" pitchFamily="34" charset="0"/>
                <a:ea typeface="Calibri" pitchFamily="34" charset="-122"/>
                <a:cs typeface="Calibri" pitchFamily="34" charset="-120"/>
              </a:rPr>
              <a:t>→ Retention and acquisition budget can prioritize these three provinces first.</a:t>
            </a:r>
            <a:endParaRPr lang="en-US" sz="1150" dirty="0"/>
          </a:p>
        </p:txBody>
      </p:sp>
      <p:sp>
        <p:nvSpPr>
          <p:cNvPr id="11" name="Text 8"/>
          <p:cNvSpPr/>
          <p:nvPr/>
        </p:nvSpPr>
        <p:spPr>
          <a:xfrm>
            <a:off x="563880" y="6055571"/>
            <a:ext cx="11064240" cy="566928"/>
          </a:xfrm>
          <a:prstGeom prst="rect">
            <a:avLst/>
          </a:prstGeom>
          <a:noFill/>
          <a:ln/>
        </p:spPr>
        <p:txBody>
          <a:bodyPr wrap="square" lIns="0" tIns="0" rIns="0" bIns="0" rtlCol="0" anchor="ctr"/>
          <a:lstStyle/>
          <a:p>
            <a:pPr marL="0" indent="0">
              <a:lnSpc>
                <a:spcPts val="1300"/>
              </a:lnSpc>
              <a:buNone/>
            </a:pPr>
            <a:r>
              <a:rPr lang="en-US" sz="1150" b="1" dirty="0">
                <a:solidFill>
                  <a:srgbClr val="0B3556"/>
                </a:solidFill>
                <a:latin typeface="Calibri" pitchFamily="34" charset="0"/>
                <a:ea typeface="Calibri" pitchFamily="34" charset="-122"/>
                <a:cs typeface="Calibri" pitchFamily="34" charset="-120"/>
              </a:rPr>
              <a:t>Two content formats drive almost all watch time  </a:t>
            </a:r>
            <a:r>
              <a:rPr lang="en-US" sz="1050" dirty="0">
                <a:solidFill>
                  <a:srgbClr val="13212B"/>
                </a:solidFill>
                <a:latin typeface="Calibri" pitchFamily="34" charset="0"/>
                <a:ea typeface="Calibri" pitchFamily="34" charset="-122"/>
                <a:cs typeface="Calibri" pitchFamily="34" charset="-120"/>
              </a:rPr>
              <a:t>Evidence: Channel Live (49.7%) and Series (48.1%) make up 97.7% of total streaming hours; Movie and Catchup are under 2.5% combined.  </a:t>
            </a:r>
            <a:r>
              <a:rPr lang="en-US" sz="1050" i="1" dirty="0">
                <a:solidFill>
                  <a:srgbClr val="1E6FA8"/>
                </a:solidFill>
                <a:latin typeface="Calibri" pitchFamily="34" charset="0"/>
                <a:ea typeface="Calibri" pitchFamily="34" charset="-122"/>
                <a:cs typeface="Calibri" pitchFamily="34" charset="-120"/>
              </a:rPr>
              <a:t>→ Content licensing and platform investment should weight Live and Series.</a:t>
            </a:r>
            <a:endParaRPr lang="en-US" sz="1150" dirty="0"/>
          </a:p>
        </p:txBody>
      </p:sp>
      <p:sp>
        <p:nvSpPr>
          <p:cNvPr id="13" name="Text 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Executive Overview</a:t>
            </a:r>
            <a:endParaRPr lang="en-US" sz="900" dirty="0"/>
          </a:p>
        </p:txBody>
      </p:sp>
      <p:sp>
        <p:nvSpPr>
          <p:cNvPr id="14" name="Text 1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5 / 15</a:t>
            </a:r>
            <a:endParaRPr lang="en-US" sz="900" dirty="0"/>
          </a:p>
        </p:txBody>
      </p:sp>
      <p:pic>
        <p:nvPicPr>
          <p:cNvPr id="15" name="Picture 14">
            <a:extLst>
              <a:ext uri="{FF2B5EF4-FFF2-40B4-BE49-F238E27FC236}">
                <a16:creationId xmlns:a16="http://schemas.microsoft.com/office/drawing/2014/main" id="{4D0BCB65-6555-EE2E-4C30-DC36BBF2A95A}"/>
              </a:ext>
            </a:extLst>
          </p:cNvPr>
          <p:cNvPicPr>
            <a:picLocks noChangeAspect="1"/>
          </p:cNvPicPr>
          <p:nvPr/>
        </p:nvPicPr>
        <p:blipFill>
          <a:blip r:embed="rId4"/>
          <a:stretch>
            <a:fillRect/>
          </a:stretch>
        </p:blipFill>
        <p:spPr>
          <a:xfrm>
            <a:off x="548639" y="1036891"/>
            <a:ext cx="11157405" cy="39008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ENGAGEMENT</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User Engagement &amp; Trend</a:t>
            </a:r>
            <a:endParaRPr lang="en-US" sz="2800" dirty="0"/>
          </a:p>
        </p:txBody>
      </p:sp>
      <p:sp>
        <p:nvSpPr>
          <p:cNvPr id="4" name="Shape 2"/>
          <p:cNvSpPr/>
          <p:nvPr/>
        </p:nvSpPr>
        <p:spPr>
          <a:xfrm>
            <a:off x="548640" y="1417320"/>
            <a:ext cx="2331720" cy="1051560"/>
          </a:xfrm>
          <a:prstGeom prst="roundRect">
            <a:avLst>
              <a:gd name="adj" fmla="val 6957"/>
            </a:avLst>
          </a:prstGeom>
          <a:solidFill>
            <a:srgbClr val="0B3556"/>
          </a:solidFill>
          <a:ln w="9525">
            <a:solidFill>
              <a:srgbClr val="0B3556"/>
            </a:solidFill>
            <a:prstDash val="solid"/>
          </a:ln>
          <a:effectLst>
            <a:outerShdw blurRad="76200" dist="25400" dir="5400000" algn="bl" rotWithShape="0">
              <a:srgbClr val="3A4552">
                <a:alpha val="18000"/>
              </a:srgbClr>
            </a:outerShdw>
          </a:effectLst>
        </p:spPr>
        <p:txBody>
          <a:bodyPr/>
          <a:lstStyle/>
          <a:p>
            <a:endParaRPr/>
          </a:p>
        </p:txBody>
      </p:sp>
      <p:sp>
        <p:nvSpPr>
          <p:cNvPr id="5" name="Shape 3"/>
          <p:cNvSpPr/>
          <p:nvPr/>
        </p:nvSpPr>
        <p:spPr>
          <a:xfrm>
            <a:off x="713232" y="1572768"/>
            <a:ext cx="457200" cy="457200"/>
          </a:xfrm>
          <a:prstGeom prst="ellipse">
            <a:avLst/>
          </a:prstGeom>
          <a:solidFill>
            <a:srgbClr val="3DB8F0"/>
          </a:solidFill>
          <a:ln/>
        </p:spPr>
        <p:txBody>
          <a:bodyPr/>
          <a:lstStyle/>
          <a:p>
            <a:endParaRPr/>
          </a:p>
        </p:txBody>
      </p:sp>
      <p:pic>
        <p:nvPicPr>
          <p:cNvPr id="6" name="Image 0" descr="/home/claude/work/icons/users_0B3556.png"/>
          <p:cNvPicPr>
            <a:picLocks noChangeAspect="1"/>
          </p:cNvPicPr>
          <p:nvPr/>
        </p:nvPicPr>
        <p:blipFill>
          <a:blip r:embed="rId3"/>
          <a:stretch>
            <a:fillRect/>
          </a:stretch>
        </p:blipFill>
        <p:spPr>
          <a:xfrm>
            <a:off x="822960" y="1682496"/>
            <a:ext cx="237744" cy="237744"/>
          </a:xfrm>
          <a:prstGeom prst="rect">
            <a:avLst/>
          </a:prstGeom>
        </p:spPr>
      </p:pic>
      <p:sp>
        <p:nvSpPr>
          <p:cNvPr id="7" name="Text 4"/>
          <p:cNvSpPr/>
          <p:nvPr/>
        </p:nvSpPr>
        <p:spPr>
          <a:xfrm>
            <a:off x="1280160" y="1508760"/>
            <a:ext cx="15087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10,000</a:t>
            </a:r>
            <a:endParaRPr lang="en-US" sz="1900" dirty="0"/>
          </a:p>
        </p:txBody>
      </p:sp>
      <p:sp>
        <p:nvSpPr>
          <p:cNvPr id="8" name="Text 5"/>
          <p:cNvSpPr/>
          <p:nvPr/>
        </p:nvSpPr>
        <p:spPr>
          <a:xfrm>
            <a:off x="713232" y="2121408"/>
            <a:ext cx="2011680" cy="274320"/>
          </a:xfrm>
          <a:prstGeom prst="rect">
            <a:avLst/>
          </a:prstGeom>
          <a:noFill/>
          <a:ln/>
        </p:spPr>
        <p:txBody>
          <a:bodyPr wrap="square" lIns="0" tIns="0" rIns="0" bIns="0" rtlCol="0" anchor="ctr"/>
          <a:lstStyle/>
          <a:p>
            <a:pPr marL="0" indent="0">
              <a:buNone/>
            </a:pPr>
            <a:r>
              <a:rPr lang="en-US" sz="950" dirty="0">
                <a:solidFill>
                  <a:srgbClr val="E4EEF8"/>
                </a:solidFill>
                <a:latin typeface="Calibri" pitchFamily="34" charset="0"/>
                <a:ea typeface="Calibri" pitchFamily="34" charset="-122"/>
                <a:cs typeface="Calibri" pitchFamily="34" charset="-120"/>
              </a:rPr>
              <a:t>Total Users</a:t>
            </a:r>
            <a:endParaRPr lang="en-US" sz="950" dirty="0"/>
          </a:p>
        </p:txBody>
      </p:sp>
      <p:sp>
        <p:nvSpPr>
          <p:cNvPr id="9" name="Shape 6"/>
          <p:cNvSpPr/>
          <p:nvPr/>
        </p:nvSpPr>
        <p:spPr>
          <a:xfrm>
            <a:off x="3063240" y="1417320"/>
            <a:ext cx="2331720" cy="1051560"/>
          </a:xfrm>
          <a:prstGeom prst="roundRect">
            <a:avLst>
              <a:gd name="adj" fmla="val 6957"/>
            </a:avLst>
          </a:prstGeom>
          <a:solidFill>
            <a:srgbClr val="0B3556"/>
          </a:solidFill>
          <a:ln w="9525">
            <a:solidFill>
              <a:srgbClr val="0B3556"/>
            </a:solidFill>
            <a:prstDash val="solid"/>
          </a:ln>
          <a:effectLst>
            <a:outerShdw blurRad="76200" dist="25400" dir="5400000" algn="bl" rotWithShape="0">
              <a:srgbClr val="3A4552">
                <a:alpha val="18000"/>
              </a:srgbClr>
            </a:outerShdw>
          </a:effectLst>
        </p:spPr>
        <p:txBody>
          <a:bodyPr/>
          <a:lstStyle/>
          <a:p>
            <a:endParaRPr/>
          </a:p>
        </p:txBody>
      </p:sp>
      <p:sp>
        <p:nvSpPr>
          <p:cNvPr id="10" name="Shape 7"/>
          <p:cNvSpPr/>
          <p:nvPr/>
        </p:nvSpPr>
        <p:spPr>
          <a:xfrm>
            <a:off x="3227832" y="1572768"/>
            <a:ext cx="457200" cy="457200"/>
          </a:xfrm>
          <a:prstGeom prst="ellipse">
            <a:avLst/>
          </a:prstGeom>
          <a:solidFill>
            <a:srgbClr val="3DB8F0"/>
          </a:solidFill>
          <a:ln/>
        </p:spPr>
        <p:txBody>
          <a:bodyPr/>
          <a:lstStyle/>
          <a:p>
            <a:endParaRPr/>
          </a:p>
        </p:txBody>
      </p:sp>
      <p:pic>
        <p:nvPicPr>
          <p:cNvPr id="11" name="Image 1" descr="/home/claude/work/icons/clock_0B3556.png"/>
          <p:cNvPicPr>
            <a:picLocks noChangeAspect="1"/>
          </p:cNvPicPr>
          <p:nvPr/>
        </p:nvPicPr>
        <p:blipFill>
          <a:blip r:embed="rId4"/>
          <a:stretch>
            <a:fillRect/>
          </a:stretch>
        </p:blipFill>
        <p:spPr>
          <a:xfrm>
            <a:off x="3337560" y="1682496"/>
            <a:ext cx="237744" cy="237744"/>
          </a:xfrm>
          <a:prstGeom prst="rect">
            <a:avLst/>
          </a:prstGeom>
        </p:spPr>
      </p:pic>
      <p:sp>
        <p:nvSpPr>
          <p:cNvPr id="12" name="Text 8"/>
          <p:cNvSpPr/>
          <p:nvPr/>
        </p:nvSpPr>
        <p:spPr>
          <a:xfrm>
            <a:off x="3794760" y="1508760"/>
            <a:ext cx="15087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2,659 hrs</a:t>
            </a:r>
            <a:endParaRPr lang="en-US" sz="1900" dirty="0"/>
          </a:p>
        </p:txBody>
      </p:sp>
      <p:sp>
        <p:nvSpPr>
          <p:cNvPr id="13" name="Text 9"/>
          <p:cNvSpPr/>
          <p:nvPr/>
        </p:nvSpPr>
        <p:spPr>
          <a:xfrm>
            <a:off x="3227832" y="2121408"/>
            <a:ext cx="2011680" cy="274320"/>
          </a:xfrm>
          <a:prstGeom prst="rect">
            <a:avLst/>
          </a:prstGeom>
          <a:noFill/>
          <a:ln/>
        </p:spPr>
        <p:txBody>
          <a:bodyPr wrap="square" lIns="0" tIns="0" rIns="0" bIns="0" rtlCol="0" anchor="ctr"/>
          <a:lstStyle/>
          <a:p>
            <a:pPr marL="0" indent="0">
              <a:buNone/>
            </a:pPr>
            <a:r>
              <a:rPr lang="en-US" sz="950" dirty="0">
                <a:solidFill>
                  <a:srgbClr val="E4EEF8"/>
                </a:solidFill>
                <a:latin typeface="Calibri" pitchFamily="34" charset="0"/>
                <a:ea typeface="Calibri" pitchFamily="34" charset="-122"/>
                <a:cs typeface="Calibri" pitchFamily="34" charset="-120"/>
              </a:rPr>
              <a:t>Total Streaming Hours</a:t>
            </a:r>
            <a:endParaRPr lang="en-US" sz="950" dirty="0"/>
          </a:p>
        </p:txBody>
      </p:sp>
      <p:sp>
        <p:nvSpPr>
          <p:cNvPr id="14" name="Shape 10"/>
          <p:cNvSpPr/>
          <p:nvPr/>
        </p:nvSpPr>
        <p:spPr>
          <a:xfrm>
            <a:off x="5577840" y="1417320"/>
            <a:ext cx="2331720" cy="1051560"/>
          </a:xfrm>
          <a:prstGeom prst="roundRect">
            <a:avLst>
              <a:gd name="adj" fmla="val 6957"/>
            </a:avLst>
          </a:prstGeom>
          <a:solidFill>
            <a:srgbClr val="0B3556"/>
          </a:solidFill>
          <a:ln w="9525">
            <a:solidFill>
              <a:srgbClr val="0B3556"/>
            </a:solidFill>
            <a:prstDash val="solid"/>
          </a:ln>
          <a:effectLst>
            <a:outerShdw blurRad="76200" dist="25400" dir="5400000" algn="bl" rotWithShape="0">
              <a:srgbClr val="3A4552">
                <a:alpha val="18000"/>
              </a:srgbClr>
            </a:outerShdw>
          </a:effectLst>
        </p:spPr>
        <p:txBody>
          <a:bodyPr/>
          <a:lstStyle/>
          <a:p>
            <a:endParaRPr/>
          </a:p>
        </p:txBody>
      </p:sp>
      <p:sp>
        <p:nvSpPr>
          <p:cNvPr id="15" name="Shape 11"/>
          <p:cNvSpPr/>
          <p:nvPr/>
        </p:nvSpPr>
        <p:spPr>
          <a:xfrm>
            <a:off x="5742432" y="1572768"/>
            <a:ext cx="457200" cy="457200"/>
          </a:xfrm>
          <a:prstGeom prst="ellipse">
            <a:avLst/>
          </a:prstGeom>
          <a:solidFill>
            <a:srgbClr val="3DB8F0"/>
          </a:solidFill>
          <a:ln/>
        </p:spPr>
        <p:txBody>
          <a:bodyPr/>
          <a:lstStyle/>
          <a:p>
            <a:endParaRPr/>
          </a:p>
        </p:txBody>
      </p:sp>
      <p:pic>
        <p:nvPicPr>
          <p:cNvPr id="16" name="Image 2" descr="/home/claude/work/icons/play_0B3556.png"/>
          <p:cNvPicPr>
            <a:picLocks noChangeAspect="1"/>
          </p:cNvPicPr>
          <p:nvPr/>
        </p:nvPicPr>
        <p:blipFill>
          <a:blip r:embed="rId5"/>
          <a:stretch>
            <a:fillRect/>
          </a:stretch>
        </p:blipFill>
        <p:spPr>
          <a:xfrm>
            <a:off x="5852160" y="1682496"/>
            <a:ext cx="237744" cy="237744"/>
          </a:xfrm>
          <a:prstGeom prst="rect">
            <a:avLst/>
          </a:prstGeom>
        </p:spPr>
      </p:pic>
      <p:sp>
        <p:nvSpPr>
          <p:cNvPr id="17" name="Text 12"/>
          <p:cNvSpPr/>
          <p:nvPr/>
        </p:nvSpPr>
        <p:spPr>
          <a:xfrm>
            <a:off x="6309360" y="1508760"/>
            <a:ext cx="15087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15.95 min</a:t>
            </a:r>
            <a:endParaRPr lang="en-US" sz="1900" dirty="0"/>
          </a:p>
        </p:txBody>
      </p:sp>
      <p:sp>
        <p:nvSpPr>
          <p:cNvPr id="18" name="Text 13"/>
          <p:cNvSpPr/>
          <p:nvPr/>
        </p:nvSpPr>
        <p:spPr>
          <a:xfrm>
            <a:off x="5742432" y="2121408"/>
            <a:ext cx="2011680" cy="274320"/>
          </a:xfrm>
          <a:prstGeom prst="rect">
            <a:avLst/>
          </a:prstGeom>
          <a:noFill/>
          <a:ln/>
        </p:spPr>
        <p:txBody>
          <a:bodyPr wrap="square" lIns="0" tIns="0" rIns="0" bIns="0" rtlCol="0" anchor="ctr"/>
          <a:lstStyle/>
          <a:p>
            <a:pPr marL="0" indent="0">
              <a:buNone/>
            </a:pPr>
            <a:r>
              <a:rPr lang="en-US" sz="950" dirty="0">
                <a:solidFill>
                  <a:srgbClr val="E4EEF8"/>
                </a:solidFill>
                <a:latin typeface="Calibri" pitchFamily="34" charset="0"/>
                <a:ea typeface="Calibri" pitchFamily="34" charset="-122"/>
                <a:cs typeface="Calibri" pitchFamily="34" charset="-120"/>
              </a:rPr>
              <a:t>Avg Watch Time</a:t>
            </a:r>
            <a:endParaRPr lang="en-US" sz="950" dirty="0"/>
          </a:p>
        </p:txBody>
      </p:sp>
      <p:sp>
        <p:nvSpPr>
          <p:cNvPr id="19" name="Shape 14"/>
          <p:cNvSpPr/>
          <p:nvPr/>
        </p:nvSpPr>
        <p:spPr>
          <a:xfrm>
            <a:off x="8092440" y="1417320"/>
            <a:ext cx="3429000" cy="1051560"/>
          </a:xfrm>
          <a:prstGeom prst="roundRect">
            <a:avLst>
              <a:gd name="adj" fmla="val 6957"/>
            </a:avLst>
          </a:prstGeom>
          <a:solidFill>
            <a:srgbClr val="E4EEF8"/>
          </a:solidFill>
          <a:ln w="9525">
            <a:solidFill>
              <a:srgbClr val="E4EEF8"/>
            </a:solidFill>
            <a:prstDash val="solid"/>
          </a:ln>
          <a:effectLst>
            <a:outerShdw blurRad="76200" dist="25400" dir="5400000" algn="bl" rotWithShape="0">
              <a:srgbClr val="3A4552">
                <a:alpha val="18000"/>
              </a:srgbClr>
            </a:outerShdw>
          </a:effectLst>
        </p:spPr>
        <p:txBody>
          <a:bodyPr/>
          <a:lstStyle/>
          <a:p>
            <a:endParaRPr/>
          </a:p>
        </p:txBody>
      </p:sp>
      <p:sp>
        <p:nvSpPr>
          <p:cNvPr id="20" name="Shape 15"/>
          <p:cNvSpPr/>
          <p:nvPr/>
        </p:nvSpPr>
        <p:spPr>
          <a:xfrm>
            <a:off x="8257032" y="1572768"/>
            <a:ext cx="457200" cy="457200"/>
          </a:xfrm>
          <a:prstGeom prst="ellipse">
            <a:avLst/>
          </a:prstGeom>
          <a:solidFill>
            <a:srgbClr val="1E6FA8"/>
          </a:solidFill>
          <a:ln/>
        </p:spPr>
        <p:txBody>
          <a:bodyPr/>
          <a:lstStyle/>
          <a:p>
            <a:endParaRPr/>
          </a:p>
        </p:txBody>
      </p:sp>
      <p:pic>
        <p:nvPicPr>
          <p:cNvPr id="21" name="Image 3" descr="/home/claude/work/icons/sliders_FFFFFF.png"/>
          <p:cNvPicPr>
            <a:picLocks noChangeAspect="1"/>
          </p:cNvPicPr>
          <p:nvPr/>
        </p:nvPicPr>
        <p:blipFill>
          <a:blip r:embed="rId6"/>
          <a:stretch>
            <a:fillRect/>
          </a:stretch>
        </p:blipFill>
        <p:spPr>
          <a:xfrm>
            <a:off x="8366760" y="1682496"/>
            <a:ext cx="237744" cy="237744"/>
          </a:xfrm>
          <a:prstGeom prst="rect">
            <a:avLst/>
          </a:prstGeom>
        </p:spPr>
      </p:pic>
      <p:sp>
        <p:nvSpPr>
          <p:cNvPr id="22" name="Text 16"/>
          <p:cNvSpPr/>
          <p:nvPr/>
        </p:nvSpPr>
        <p:spPr>
          <a:xfrm>
            <a:off x="8823960" y="1508760"/>
            <a:ext cx="2560320" cy="868680"/>
          </a:xfrm>
          <a:prstGeom prst="rect">
            <a:avLst/>
          </a:prstGeom>
          <a:noFill/>
          <a:ln/>
        </p:spPr>
        <p:txBody>
          <a:bodyPr wrap="square" lIns="0" tIns="0" rIns="0" bIns="0" rtlCol="0" anchor="ctr"/>
          <a:lstStyle/>
          <a:p>
            <a:pPr marL="0" indent="0">
              <a:buNone/>
            </a:pPr>
            <a:r>
              <a:rPr lang="en-US" sz="950" dirty="0">
                <a:solidFill>
                  <a:srgbClr val="0B3556"/>
                </a:solidFill>
                <a:latin typeface="Calibri" pitchFamily="34" charset="0"/>
                <a:ea typeface="Calibri" pitchFamily="34" charset="-122"/>
                <a:cs typeface="Calibri" pitchFamily="34" charset="-120"/>
              </a:rPr>
              <a:t>Metric Selector switches this trend between Total Users, Streaming Hours and Avg Watch Time — no extra visuals needed.</a:t>
            </a:r>
            <a:endParaRPr lang="en-US" sz="950" dirty="0"/>
          </a:p>
        </p:txBody>
      </p:sp>
      <p:graphicFrame>
        <p:nvGraphicFramePr>
          <p:cNvPr id="23" name="Chart 0"/>
          <p:cNvGraphicFramePr/>
          <p:nvPr/>
        </p:nvGraphicFramePr>
        <p:xfrm>
          <a:off x="548640" y="2697480"/>
          <a:ext cx="7223760" cy="3246120"/>
        </p:xfrm>
        <a:graphic>
          <a:graphicData uri="http://schemas.openxmlformats.org/drawingml/2006/chart">
            <c:chart xmlns:c="http://schemas.openxmlformats.org/drawingml/2006/chart" xmlns:r="http://schemas.openxmlformats.org/officeDocument/2006/relationships" r:id="rId7"/>
          </a:graphicData>
        </a:graphic>
      </p:graphicFrame>
      <p:sp>
        <p:nvSpPr>
          <p:cNvPr id="24" name="Shape 17"/>
          <p:cNvSpPr/>
          <p:nvPr/>
        </p:nvSpPr>
        <p:spPr>
          <a:xfrm>
            <a:off x="7955280" y="2697480"/>
            <a:ext cx="3611880" cy="1508760"/>
          </a:xfrm>
          <a:prstGeom prst="roundRect">
            <a:avLst>
              <a:gd name="adj" fmla="val 4848"/>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25" name="Shape 18"/>
          <p:cNvSpPr/>
          <p:nvPr/>
        </p:nvSpPr>
        <p:spPr>
          <a:xfrm>
            <a:off x="8183880" y="2862072"/>
            <a:ext cx="411480" cy="411480"/>
          </a:xfrm>
          <a:prstGeom prst="ellipse">
            <a:avLst/>
          </a:prstGeom>
          <a:solidFill>
            <a:srgbClr val="E3A730"/>
          </a:solidFill>
          <a:ln/>
        </p:spPr>
        <p:txBody>
          <a:bodyPr/>
          <a:lstStyle/>
          <a:p>
            <a:endParaRPr/>
          </a:p>
        </p:txBody>
      </p:sp>
      <p:pic>
        <p:nvPicPr>
          <p:cNvPr id="26" name="Image 4" descr="/home/claude/work/icons/alert_0B3556.png"/>
          <p:cNvPicPr>
            <a:picLocks noChangeAspect="1"/>
          </p:cNvPicPr>
          <p:nvPr/>
        </p:nvPicPr>
        <p:blipFill>
          <a:blip r:embed="rId8"/>
          <a:stretch>
            <a:fillRect/>
          </a:stretch>
        </p:blipFill>
        <p:spPr>
          <a:xfrm>
            <a:off x="8282635" y="2960827"/>
            <a:ext cx="213970" cy="213970"/>
          </a:xfrm>
          <a:prstGeom prst="rect">
            <a:avLst/>
          </a:prstGeom>
        </p:spPr>
      </p:pic>
      <p:sp>
        <p:nvSpPr>
          <p:cNvPr id="27" name="Text 19"/>
          <p:cNvSpPr/>
          <p:nvPr/>
        </p:nvSpPr>
        <p:spPr>
          <a:xfrm>
            <a:off x="8732520" y="2834640"/>
            <a:ext cx="2743200" cy="502920"/>
          </a:xfrm>
          <a:prstGeom prst="rect">
            <a:avLst/>
          </a:prstGeom>
          <a:noFill/>
          <a:ln/>
        </p:spPr>
        <p:txBody>
          <a:bodyPr wrap="square" lIns="0" tIns="0" rIns="0" bIns="0" rtlCol="0" anchor="ctr"/>
          <a:lstStyle/>
          <a:p>
            <a:pPr marL="0" indent="0">
              <a:buNone/>
            </a:pPr>
            <a:r>
              <a:rPr lang="en-US" sz="1150" b="1" dirty="0">
                <a:solidFill>
                  <a:srgbClr val="0B3556"/>
                </a:solidFill>
                <a:latin typeface="Calibri" pitchFamily="34" charset="0"/>
                <a:ea typeface="Calibri" pitchFamily="34" charset="-122"/>
                <a:cs typeface="Calibri" pitchFamily="34" charset="-120"/>
              </a:rPr>
              <a:t>80.5% of users fall in just 2 of 12 months</a:t>
            </a:r>
            <a:endParaRPr lang="en-US" sz="1150" dirty="0"/>
          </a:p>
        </p:txBody>
      </p:sp>
      <p:sp>
        <p:nvSpPr>
          <p:cNvPr id="28" name="Text 20"/>
          <p:cNvSpPr/>
          <p:nvPr/>
        </p:nvSpPr>
        <p:spPr>
          <a:xfrm>
            <a:off x="8183880" y="3364992"/>
            <a:ext cx="3246120" cy="777240"/>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May (5,553) and June (2,501) dwarf every other month — worth confirming with the data owner before quoting a growth rate.</a:t>
            </a:r>
            <a:endParaRPr lang="en-US" sz="950" dirty="0"/>
          </a:p>
        </p:txBody>
      </p:sp>
      <p:sp>
        <p:nvSpPr>
          <p:cNvPr id="29" name="Shape 21"/>
          <p:cNvSpPr/>
          <p:nvPr/>
        </p:nvSpPr>
        <p:spPr>
          <a:xfrm>
            <a:off x="7955280" y="4343400"/>
            <a:ext cx="3611880" cy="1600200"/>
          </a:xfrm>
          <a:prstGeom prst="roundRect">
            <a:avLst>
              <a:gd name="adj" fmla="val 4571"/>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30" name="Shape 22"/>
          <p:cNvSpPr/>
          <p:nvPr/>
        </p:nvSpPr>
        <p:spPr>
          <a:xfrm>
            <a:off x="8183880" y="4507992"/>
            <a:ext cx="411480" cy="411480"/>
          </a:xfrm>
          <a:prstGeom prst="ellipse">
            <a:avLst/>
          </a:prstGeom>
          <a:solidFill>
            <a:srgbClr val="1E6FA8"/>
          </a:solidFill>
          <a:ln/>
        </p:spPr>
        <p:txBody>
          <a:bodyPr/>
          <a:lstStyle/>
          <a:p>
            <a:endParaRPr/>
          </a:p>
        </p:txBody>
      </p:sp>
      <p:pic>
        <p:nvPicPr>
          <p:cNvPr id="31" name="Image 5" descr="/home/claude/work/icons/trenddown_FFFFFF.png"/>
          <p:cNvPicPr>
            <a:picLocks noChangeAspect="1"/>
          </p:cNvPicPr>
          <p:nvPr/>
        </p:nvPicPr>
        <p:blipFill>
          <a:blip r:embed="rId9"/>
          <a:stretch>
            <a:fillRect/>
          </a:stretch>
        </p:blipFill>
        <p:spPr>
          <a:xfrm>
            <a:off x="8282635" y="4606747"/>
            <a:ext cx="213970" cy="213970"/>
          </a:xfrm>
          <a:prstGeom prst="rect">
            <a:avLst/>
          </a:prstGeom>
        </p:spPr>
      </p:pic>
      <p:sp>
        <p:nvSpPr>
          <p:cNvPr id="32" name="Text 23"/>
          <p:cNvSpPr/>
          <p:nvPr/>
        </p:nvSpPr>
        <p:spPr>
          <a:xfrm>
            <a:off x="8732520" y="4480560"/>
            <a:ext cx="2743200" cy="365760"/>
          </a:xfrm>
          <a:prstGeom prst="rect">
            <a:avLst/>
          </a:prstGeom>
          <a:noFill/>
          <a:ln/>
        </p:spPr>
        <p:txBody>
          <a:bodyPr wrap="square" lIns="0" tIns="0" rIns="0" bIns="0" rtlCol="0" anchor="ctr"/>
          <a:lstStyle/>
          <a:p>
            <a:pPr marL="0" indent="0">
              <a:buNone/>
            </a:pPr>
            <a:r>
              <a:rPr lang="en-US" sz="1150" b="1" dirty="0">
                <a:solidFill>
                  <a:srgbClr val="0B3556"/>
                </a:solidFill>
                <a:latin typeface="Calibri" pitchFamily="34" charset="0"/>
                <a:ea typeface="Calibri" pitchFamily="34" charset="-122"/>
                <a:cs typeface="Calibri" pitchFamily="34" charset="-120"/>
              </a:rPr>
              <a:t>Nov → Dec users: –94 (–9.3%)</a:t>
            </a:r>
            <a:endParaRPr lang="en-US" sz="1150" dirty="0"/>
          </a:p>
        </p:txBody>
      </p:sp>
      <p:sp>
        <p:nvSpPr>
          <p:cNvPr id="33" name="Text 24"/>
          <p:cNvSpPr/>
          <p:nvPr/>
        </p:nvSpPr>
        <p:spPr>
          <a:xfrm>
            <a:off x="8183880" y="4892040"/>
            <a:ext cx="3246120" cy="1005840"/>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Comparing the last two populated months (642 → 582 users). The dashboard's “Users MoM %” card value depends on the active date-slicer selection — needs verification from the live visual.</a:t>
            </a:r>
            <a:endParaRPr lang="en-US" sz="950" dirty="0"/>
          </a:p>
        </p:txBody>
      </p:sp>
      <p:sp>
        <p:nvSpPr>
          <p:cNvPr id="35" name="Text 25"/>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User Engagement &amp; Trend</a:t>
            </a:r>
            <a:endParaRPr lang="en-US" sz="900" dirty="0"/>
          </a:p>
        </p:txBody>
      </p:sp>
      <p:sp>
        <p:nvSpPr>
          <p:cNvPr id="36" name="Text 26"/>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PERFORMANCE</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Content &amp; Package Performance</a:t>
            </a:r>
            <a:endParaRPr lang="en-US" sz="2800" dirty="0"/>
          </a:p>
        </p:txBody>
      </p:sp>
      <p:graphicFrame>
        <p:nvGraphicFramePr>
          <p:cNvPr id="4" name="Chart 0"/>
          <p:cNvGraphicFramePr/>
          <p:nvPr/>
        </p:nvGraphicFramePr>
        <p:xfrm>
          <a:off x="457200" y="1371600"/>
          <a:ext cx="52120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4617720"/>
            <a:ext cx="5120640" cy="502920"/>
          </a:xfrm>
          <a:prstGeom prst="rect">
            <a:avLst/>
          </a:prstGeom>
          <a:noFill/>
          <a:ln/>
        </p:spPr>
        <p:txBody>
          <a:bodyPr wrap="square" lIns="0" tIns="0" rIns="0" bIns="0" rtlCol="0" anchor="ctr"/>
          <a:lstStyle/>
          <a:p>
            <a:pPr marL="0" indent="0">
              <a:buNone/>
            </a:pPr>
            <a:r>
              <a:rPr lang="en-US" sz="1050" i="1" dirty="0">
                <a:solidFill>
                  <a:srgbClr val="1E6FA8"/>
                </a:solidFill>
                <a:latin typeface="Calibri" pitchFamily="34" charset="0"/>
                <a:ea typeface="Calibri" pitchFamily="34" charset="-122"/>
                <a:cs typeface="Calibri" pitchFamily="34" charset="-120"/>
              </a:rPr>
              <a:t>Live + Series = 97.7% of all streaming hours. Movie and Catchup together are under 2.5%.</a:t>
            </a:r>
            <a:endParaRPr lang="en-US" sz="1050" dirty="0"/>
          </a:p>
        </p:txBody>
      </p:sp>
      <p:graphicFrame>
        <p:nvGraphicFramePr>
          <p:cNvPr id="6" name="Chart 1"/>
          <p:cNvGraphicFramePr/>
          <p:nvPr/>
        </p:nvGraphicFramePr>
        <p:xfrm>
          <a:off x="5989320" y="1371600"/>
          <a:ext cx="56692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989320" y="4617720"/>
            <a:ext cx="5669280" cy="685800"/>
          </a:xfrm>
          <a:prstGeom prst="roundRect">
            <a:avLst>
              <a:gd name="adj" fmla="val 10667"/>
            </a:avLst>
          </a:prstGeom>
          <a:solidFill>
            <a:srgbClr val="E4EEF8"/>
          </a:solidFill>
          <a:ln w="9525">
            <a:solidFill>
              <a:srgbClr val="E4EEF8"/>
            </a:solidFill>
            <a:prstDash val="solid"/>
          </a:ln>
          <a:effectLst>
            <a:outerShdw blurRad="76200" dist="25400" dir="5400000" algn="bl" rotWithShape="0">
              <a:srgbClr val="3A4552">
                <a:alpha val="18000"/>
              </a:srgbClr>
            </a:outerShdw>
          </a:effectLst>
        </p:spPr>
        <p:txBody>
          <a:bodyPr/>
          <a:lstStyle/>
          <a:p>
            <a:endParaRPr/>
          </a:p>
        </p:txBody>
      </p:sp>
      <p:sp>
        <p:nvSpPr>
          <p:cNvPr id="8" name="Text 4"/>
          <p:cNvSpPr/>
          <p:nvPr/>
        </p:nvSpPr>
        <p:spPr>
          <a:xfrm>
            <a:off x="6217920" y="4709160"/>
            <a:ext cx="5212080" cy="502920"/>
          </a:xfrm>
          <a:prstGeom prst="rect">
            <a:avLst/>
          </a:prstGeom>
          <a:noFill/>
          <a:ln/>
        </p:spPr>
        <p:txBody>
          <a:bodyPr wrap="square" lIns="0" tIns="0" rIns="0" bIns="0" rtlCol="0" anchor="ctr"/>
          <a:lstStyle/>
          <a:p>
            <a:pPr marL="0" indent="0">
              <a:buNone/>
            </a:pPr>
            <a:r>
              <a:rPr lang="en-US" sz="1000" dirty="0">
                <a:solidFill>
                  <a:srgbClr val="0B3556"/>
                </a:solidFill>
                <a:latin typeface="Calibri" pitchFamily="34" charset="0"/>
                <a:ea typeface="Calibri" pitchFamily="34" charset="-122"/>
                <a:cs typeface="Calibri" pitchFamily="34" charset="-120"/>
              </a:rPr>
              <a:t>Each of the four tiers holds an identical 25% share (2,500 users). Tier alone doesn't explain engagement — cross it with watch time per tier for upsell targeting.</a:t>
            </a:r>
            <a:endParaRPr lang="en-US" sz="1000" dirty="0"/>
          </a:p>
        </p:txBody>
      </p:sp>
      <p:sp>
        <p:nvSpPr>
          <p:cNvPr id="9" name="Shape 5"/>
          <p:cNvSpPr/>
          <p:nvPr/>
        </p:nvSpPr>
        <p:spPr>
          <a:xfrm>
            <a:off x="457200" y="5440680"/>
            <a:ext cx="11201400" cy="868680"/>
          </a:xfrm>
          <a:prstGeom prst="roundRect">
            <a:avLst>
              <a:gd name="adj" fmla="val 8421"/>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0" name="Shape 6"/>
          <p:cNvSpPr/>
          <p:nvPr/>
        </p:nvSpPr>
        <p:spPr>
          <a:xfrm>
            <a:off x="685800" y="5596128"/>
            <a:ext cx="502920" cy="502920"/>
          </a:xfrm>
          <a:prstGeom prst="ellipse">
            <a:avLst/>
          </a:prstGeom>
          <a:solidFill>
            <a:srgbClr val="0B3556"/>
          </a:solidFill>
          <a:ln/>
        </p:spPr>
        <p:txBody>
          <a:bodyPr/>
          <a:lstStyle/>
          <a:p>
            <a:endParaRPr/>
          </a:p>
        </p:txBody>
      </p:sp>
      <p:pic>
        <p:nvPicPr>
          <p:cNvPr id="11" name="Image 0" descr="/home/claude/work/icons/tv_FFFFFF.png"/>
          <p:cNvPicPr>
            <a:picLocks noChangeAspect="1"/>
          </p:cNvPicPr>
          <p:nvPr/>
        </p:nvPicPr>
        <p:blipFill>
          <a:blip r:embed="rId5"/>
          <a:stretch>
            <a:fillRect/>
          </a:stretch>
        </p:blipFill>
        <p:spPr>
          <a:xfrm>
            <a:off x="806501" y="5716829"/>
            <a:ext cx="261518" cy="261518"/>
          </a:xfrm>
          <a:prstGeom prst="rect">
            <a:avLst/>
          </a:prstGeom>
        </p:spPr>
      </p:pic>
      <p:sp>
        <p:nvSpPr>
          <p:cNvPr id="12" name="Text 7"/>
          <p:cNvSpPr/>
          <p:nvPr/>
        </p:nvSpPr>
        <p:spPr>
          <a:xfrm>
            <a:off x="1371600" y="5532120"/>
            <a:ext cx="9966960" cy="274320"/>
          </a:xfrm>
          <a:prstGeom prst="rect">
            <a:avLst/>
          </a:prstGeom>
          <a:noFill/>
          <a:ln/>
        </p:spPr>
        <p:txBody>
          <a:bodyPr wrap="square" lIns="0" tIns="0" rIns="0" bIns="0" rtlCol="0" anchor="ctr"/>
          <a:lstStyle/>
          <a:p>
            <a:pPr marL="0" indent="0">
              <a:buNone/>
            </a:pPr>
            <a:r>
              <a:rPr lang="en-US" sz="1200" b="1" dirty="0">
                <a:solidFill>
                  <a:srgbClr val="0B3556"/>
                </a:solidFill>
                <a:latin typeface="Calibri" pitchFamily="34" charset="0"/>
                <a:ea typeface="Calibri" pitchFamily="34" charset="-122"/>
                <a:cs typeface="Calibri" pitchFamily="34" charset="-120"/>
              </a:rPr>
              <a:t>663 distinct content titles — a long tail, not one blockbuster</a:t>
            </a:r>
            <a:endParaRPr lang="en-US" sz="1200" dirty="0"/>
          </a:p>
        </p:txBody>
      </p:sp>
      <p:sp>
        <p:nvSpPr>
          <p:cNvPr id="13" name="Text 8"/>
          <p:cNvSpPr/>
          <p:nvPr/>
        </p:nvSpPr>
        <p:spPr>
          <a:xfrm>
            <a:off x="1371600" y="5833872"/>
            <a:ext cx="9966960" cy="411480"/>
          </a:xfrm>
          <a:prstGeom prst="rect">
            <a:avLst/>
          </a:prstGeom>
          <a:noFill/>
          <a:ln/>
        </p:spPr>
        <p:txBody>
          <a:bodyPr wrap="square" lIns="0" tIns="0" rIns="0" bIns="0" rtlCol="0" anchor="ctr"/>
          <a:lstStyle/>
          <a:p>
            <a:pPr marL="0" indent="0">
              <a:buNone/>
            </a:pPr>
            <a:r>
              <a:rPr lang="en-US" sz="1000" dirty="0">
                <a:solidFill>
                  <a:srgbClr val="13212B"/>
                </a:solidFill>
                <a:latin typeface="Calibri" pitchFamily="34" charset="0"/>
                <a:ea typeface="Calibri" pitchFamily="34" charset="-122"/>
                <a:cs typeface="Calibri" pitchFamily="34" charset="-120"/>
              </a:rPr>
              <a:t>The single highest-hours title accounts for only 14.2% of total streaming hours, so engagement is spread across the catalog rather than concentrated in one hit.</a:t>
            </a:r>
            <a:endParaRPr lang="en-US" sz="1000" dirty="0"/>
          </a:p>
        </p:txBody>
      </p:sp>
      <p:sp>
        <p:nvSpPr>
          <p:cNvPr id="15" name="Text 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Content &amp; Package Performance</a:t>
            </a:r>
            <a:endParaRPr lang="en-US" sz="900" dirty="0"/>
          </a:p>
        </p:txBody>
      </p:sp>
      <p:sp>
        <p:nvSpPr>
          <p:cNvPr id="16" name="Text 1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GEOGRAPHY &amp; BEHAVIOR</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Who Are the Users, and Where Are They?</a:t>
            </a:r>
            <a:endParaRPr lang="en-US" sz="2800" dirty="0"/>
          </a:p>
        </p:txBody>
      </p:sp>
      <p:graphicFrame>
        <p:nvGraphicFramePr>
          <p:cNvPr id="4" name="Chart 0"/>
          <p:cNvGraphicFramePr/>
          <p:nvPr/>
        </p:nvGraphicFramePr>
        <p:xfrm>
          <a:off x="365760" y="1371600"/>
          <a:ext cx="60350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675120" y="1371600"/>
            <a:ext cx="4937760" cy="457200"/>
          </a:xfrm>
          <a:prstGeom prst="rect">
            <a:avLst/>
          </a:prstGeom>
          <a:noFill/>
          <a:ln/>
        </p:spPr>
        <p:txBody>
          <a:bodyPr wrap="square" lIns="0" tIns="0" rIns="0" bIns="0" rtlCol="0" anchor="ctr"/>
          <a:lstStyle/>
          <a:p>
            <a:pPr marL="0" indent="0">
              <a:buNone/>
            </a:pPr>
            <a:r>
              <a:rPr lang="en-US" sz="1200" b="1" dirty="0">
                <a:solidFill>
                  <a:srgbClr val="1E6FA8"/>
                </a:solidFill>
                <a:latin typeface="Calibri" pitchFamily="34" charset="0"/>
                <a:ea typeface="Calibri" pitchFamily="34" charset="-122"/>
                <a:cs typeface="Calibri" pitchFamily="34" charset="-120"/>
              </a:rPr>
              <a:t>Jakarta + West Java + East Java = 59.8% of national users</a:t>
            </a:r>
            <a:endParaRPr lang="en-US" sz="1200" dirty="0"/>
          </a:p>
        </p:txBody>
      </p:sp>
      <p:graphicFrame>
        <p:nvGraphicFramePr>
          <p:cNvPr id="6" name="Chart 1"/>
          <p:cNvGraphicFramePr/>
          <p:nvPr/>
        </p:nvGraphicFramePr>
        <p:xfrm>
          <a:off x="6675120" y="1874520"/>
          <a:ext cx="493776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6675120" y="3749040"/>
            <a:ext cx="4937760" cy="1417320"/>
          </a:xfrm>
          <a:prstGeom prst="roundRect">
            <a:avLst>
              <a:gd name="adj" fmla="val 5161"/>
            </a:avLst>
          </a:prstGeom>
          <a:solidFill>
            <a:srgbClr val="FBF1DD"/>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8" name="Shape 4"/>
          <p:cNvSpPr/>
          <p:nvPr/>
        </p:nvSpPr>
        <p:spPr>
          <a:xfrm>
            <a:off x="6858000" y="3913632"/>
            <a:ext cx="457200" cy="457200"/>
          </a:xfrm>
          <a:prstGeom prst="ellipse">
            <a:avLst/>
          </a:prstGeom>
          <a:solidFill>
            <a:srgbClr val="E3A730"/>
          </a:solidFill>
          <a:ln/>
        </p:spPr>
        <p:txBody>
          <a:bodyPr/>
          <a:lstStyle/>
          <a:p>
            <a:endParaRPr/>
          </a:p>
        </p:txBody>
      </p:sp>
      <p:pic>
        <p:nvPicPr>
          <p:cNvPr id="9" name="Image 0" descr="/home/claude/work/icons/alert_0B3556.png"/>
          <p:cNvPicPr>
            <a:picLocks noChangeAspect="1"/>
          </p:cNvPicPr>
          <p:nvPr/>
        </p:nvPicPr>
        <p:blipFill>
          <a:blip r:embed="rId5"/>
          <a:stretch>
            <a:fillRect/>
          </a:stretch>
        </p:blipFill>
        <p:spPr>
          <a:xfrm>
            <a:off x="6967728" y="4023360"/>
            <a:ext cx="237744" cy="237744"/>
          </a:xfrm>
          <a:prstGeom prst="rect">
            <a:avLst/>
          </a:prstGeom>
        </p:spPr>
      </p:pic>
      <p:sp>
        <p:nvSpPr>
          <p:cNvPr id="10" name="Text 5"/>
          <p:cNvSpPr/>
          <p:nvPr/>
        </p:nvSpPr>
        <p:spPr>
          <a:xfrm>
            <a:off x="7452360" y="3858768"/>
            <a:ext cx="4023360" cy="274320"/>
          </a:xfrm>
          <a:prstGeom prst="rect">
            <a:avLst/>
          </a:prstGeom>
          <a:noFill/>
          <a:ln/>
        </p:spPr>
        <p:txBody>
          <a:bodyPr wrap="square" lIns="0" tIns="0" rIns="0" bIns="0" rtlCol="0" anchor="ctr"/>
          <a:lstStyle/>
          <a:p>
            <a:pPr marL="0" indent="0">
              <a:buNone/>
            </a:pPr>
            <a:r>
              <a:rPr lang="en-US" sz="1150" b="1" dirty="0">
                <a:solidFill>
                  <a:srgbClr val="0B3556"/>
                </a:solidFill>
                <a:latin typeface="Calibri" pitchFamily="34" charset="0"/>
                <a:ea typeface="Calibri" pitchFamily="34" charset="-122"/>
                <a:cs typeface="Calibri" pitchFamily="34" charset="-120"/>
              </a:rPr>
              <a:t>Device OS split needs a caveat</a:t>
            </a:r>
            <a:endParaRPr lang="en-US" sz="1150" dirty="0"/>
          </a:p>
        </p:txBody>
      </p:sp>
      <p:sp>
        <p:nvSpPr>
          <p:cNvPr id="11" name="Text 6"/>
          <p:cNvSpPr/>
          <p:nvPr/>
        </p:nvSpPr>
        <p:spPr>
          <a:xfrm>
            <a:off x="6858000" y="4169664"/>
            <a:ext cx="4572000" cy="914400"/>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The model shows Android 80% / iOS 20%, but the ETL logic assigns iOS to every 5th record by index — it is a placeholder rule, not captured device data. Do not use this split for a real device strategy.</a:t>
            </a:r>
            <a:endParaRPr lang="en-US" sz="950" dirty="0"/>
          </a:p>
        </p:txBody>
      </p:sp>
      <p:sp>
        <p:nvSpPr>
          <p:cNvPr id="12" name="Shape 7"/>
          <p:cNvSpPr/>
          <p:nvPr/>
        </p:nvSpPr>
        <p:spPr>
          <a:xfrm>
            <a:off x="6675120" y="5303520"/>
            <a:ext cx="4937760" cy="594360"/>
          </a:xfrm>
          <a:prstGeom prst="roundRect">
            <a:avLst>
              <a:gd name="adj" fmla="val 12308"/>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3" name="Text 8"/>
          <p:cNvSpPr/>
          <p:nvPr/>
        </p:nvSpPr>
        <p:spPr>
          <a:xfrm>
            <a:off x="6858000" y="5303520"/>
            <a:ext cx="4572000" cy="594360"/>
          </a:xfrm>
          <a:prstGeom prst="rect">
            <a:avLst/>
          </a:prstGeom>
          <a:noFill/>
          <a:ln/>
        </p:spPr>
        <p:txBody>
          <a:bodyPr wrap="square" lIns="0" tIns="0" rIns="0" bIns="0" rtlCol="0" anchor="ctr"/>
          <a:lstStyle/>
          <a:p>
            <a:pPr marL="0" indent="0">
              <a:buNone/>
            </a:pPr>
            <a:r>
              <a:rPr lang="en-US" sz="1050" b="1" dirty="0">
                <a:solidFill>
                  <a:srgbClr val="0B3556"/>
                </a:solidFill>
                <a:latin typeface="Calibri" pitchFamily="34" charset="0"/>
                <a:ea typeface="Calibri" pitchFamily="34" charset="-122"/>
                <a:cs typeface="Calibri" pitchFamily="34" charset="-120"/>
              </a:rPr>
              <a:t>Gender split (as recorded):  </a:t>
            </a:r>
            <a:r>
              <a:rPr lang="en-US" sz="1050" dirty="0">
                <a:solidFill>
                  <a:srgbClr val="13212B"/>
                </a:solidFill>
                <a:latin typeface="Calibri" pitchFamily="34" charset="0"/>
                <a:ea typeface="Calibri" pitchFamily="34" charset="-122"/>
                <a:cs typeface="Calibri" pitchFamily="34" charset="-120"/>
              </a:rPr>
              <a:t>Female 53.4%  •  Male 46.6%</a:t>
            </a:r>
            <a:endParaRPr lang="en-US" sz="1050" dirty="0"/>
          </a:p>
        </p:txBody>
      </p:sp>
      <p:sp>
        <p:nvSpPr>
          <p:cNvPr id="15" name="Text 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Geographic &amp; User Behavior</a:t>
            </a:r>
            <a:endParaRPr lang="en-US" sz="900" dirty="0"/>
          </a:p>
        </p:txBody>
      </p:sp>
      <p:sp>
        <p:nvSpPr>
          <p:cNvPr id="16" name="Text 1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PAGE 2 OF 2 — DETAIL PROVINCE</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Regional Drill-Down</a:t>
            </a:r>
            <a:endParaRPr lang="en-US" sz="2800" dirty="0"/>
          </a:p>
        </p:txBody>
      </p:sp>
      <p:sp>
        <p:nvSpPr>
          <p:cNvPr id="4" name="Shape 2"/>
          <p:cNvSpPr/>
          <p:nvPr/>
        </p:nvSpPr>
        <p:spPr>
          <a:xfrm>
            <a:off x="457200" y="1371600"/>
            <a:ext cx="5577840" cy="2788920"/>
          </a:xfrm>
          <a:prstGeom prst="roundRect">
            <a:avLst>
              <a:gd name="adj" fmla="val 1639"/>
            </a:avLst>
          </a:prstGeom>
          <a:solidFill>
            <a:srgbClr val="1A3A56"/>
          </a:solidFill>
          <a:ln w="12700">
            <a:solidFill>
              <a:srgbClr val="1E6FA8"/>
            </a:solidFill>
            <a:prstDash val="dash"/>
          </a:ln>
        </p:spPr>
        <p:txBody>
          <a:bodyPr/>
          <a:lstStyle/>
          <a:p>
            <a:endParaRPr/>
          </a:p>
        </p:txBody>
      </p:sp>
      <p:pic>
        <p:nvPicPr>
          <p:cNvPr id="5" name="Image 0" descr="/home/claude/work/icons/mappin_3DB8F0.png"/>
          <p:cNvPicPr>
            <a:picLocks noChangeAspect="1"/>
          </p:cNvPicPr>
          <p:nvPr/>
        </p:nvPicPr>
        <p:blipFill>
          <a:blip r:embed="rId3"/>
          <a:stretch>
            <a:fillRect/>
          </a:stretch>
        </p:blipFill>
        <p:spPr>
          <a:xfrm>
            <a:off x="2971800" y="2011680"/>
            <a:ext cx="548640" cy="548640"/>
          </a:xfrm>
          <a:prstGeom prst="rect">
            <a:avLst/>
          </a:prstGeom>
        </p:spPr>
      </p:pic>
      <p:sp>
        <p:nvSpPr>
          <p:cNvPr id="6" name="Text 3"/>
          <p:cNvSpPr/>
          <p:nvPr/>
        </p:nvSpPr>
        <p:spPr>
          <a:xfrm>
            <a:off x="822960" y="2697480"/>
            <a:ext cx="484632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Screenshot needs to be captured from the live Power BI report — “Detail Province” page</a:t>
            </a:r>
            <a:endParaRPr lang="en-US" sz="1150" dirty="0"/>
          </a:p>
        </p:txBody>
      </p:sp>
      <p:sp>
        <p:nvSpPr>
          <p:cNvPr id="7" name="Text 4"/>
          <p:cNvSpPr/>
          <p:nvPr/>
        </p:nvSpPr>
        <p:spPr>
          <a:xfrm>
            <a:off x="822960" y="3291840"/>
            <a:ext cx="4846320" cy="365760"/>
          </a:xfrm>
          <a:prstGeom prst="rect">
            <a:avLst/>
          </a:prstGeom>
          <a:noFill/>
          <a:ln/>
        </p:spPr>
        <p:txBody>
          <a:bodyPr wrap="square" lIns="0" tIns="0" rIns="0" bIns="0" rtlCol="0" anchor="ctr"/>
          <a:lstStyle/>
          <a:p>
            <a:pPr marL="0" indent="0" algn="ctr">
              <a:buNone/>
            </a:pPr>
            <a:r>
              <a:rPr lang="en-US" sz="950" i="1" dirty="0">
                <a:solidFill>
                  <a:srgbClr val="E4EEF8"/>
                </a:solidFill>
                <a:latin typeface="Calibri" pitchFamily="34" charset="0"/>
                <a:ea typeface="Calibri" pitchFamily="34" charset="-122"/>
                <a:cs typeface="Calibri" pitchFamily="34" charset="-120"/>
              </a:rPr>
              <a:t>Reached by clicking a province dot on the national map.</a:t>
            </a:r>
            <a:endParaRPr lang="en-US" sz="950" dirty="0"/>
          </a:p>
        </p:txBody>
      </p:sp>
      <p:sp>
        <p:nvSpPr>
          <p:cNvPr id="8" name="Shape 5"/>
          <p:cNvSpPr/>
          <p:nvPr/>
        </p:nvSpPr>
        <p:spPr>
          <a:xfrm>
            <a:off x="457200" y="4343400"/>
            <a:ext cx="1298448" cy="731520"/>
          </a:xfrm>
          <a:prstGeom prst="roundRect">
            <a:avLst>
              <a:gd name="adj" fmla="val 6250"/>
            </a:avLst>
          </a:prstGeom>
          <a:solidFill>
            <a:srgbClr val="6E7A87"/>
          </a:solidFill>
          <a:ln/>
        </p:spPr>
        <p:txBody>
          <a:bodyPr/>
          <a:lstStyle/>
          <a:p>
            <a:endParaRPr/>
          </a:p>
        </p:txBody>
      </p:sp>
      <p:sp>
        <p:nvSpPr>
          <p:cNvPr id="9" name="Text 6"/>
          <p:cNvSpPr/>
          <p:nvPr/>
        </p:nvSpPr>
        <p:spPr>
          <a:xfrm>
            <a:off x="457200" y="4343400"/>
            <a:ext cx="1298448" cy="731520"/>
          </a:xfrm>
          <a:prstGeom prst="rect">
            <a:avLst/>
          </a:prstGeom>
          <a:noFill/>
          <a:ln/>
        </p:spPr>
        <p:txBody>
          <a:bodyPr wrap="square" lIns="12700" tIns="12700" rIns="12700" bIns="127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National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Overview</a:t>
            </a:r>
            <a:endParaRPr lang="en-US" sz="850" dirty="0"/>
          </a:p>
        </p:txBody>
      </p:sp>
      <p:sp>
        <p:nvSpPr>
          <p:cNvPr id="10" name="Text 7"/>
          <p:cNvSpPr/>
          <p:nvPr/>
        </p:nvSpPr>
        <p:spPr>
          <a:xfrm>
            <a:off x="1755648" y="4343400"/>
            <a:ext cx="137160" cy="731520"/>
          </a:xfrm>
          <a:prstGeom prst="rect">
            <a:avLst/>
          </a:prstGeom>
          <a:noFill/>
          <a:ln/>
        </p:spPr>
        <p:txBody>
          <a:bodyPr wrap="square" lIns="0" tIns="0" rIns="0" bIns="0" rtlCol="0" anchor="ctr"/>
          <a:lstStyle/>
          <a:p>
            <a:pPr marL="0" indent="0" algn="ctr">
              <a:buNone/>
            </a:pPr>
            <a:r>
              <a:rPr lang="en-US" sz="900" dirty="0">
                <a:solidFill>
                  <a:srgbClr val="6E7A87"/>
                </a:solidFill>
                <a:latin typeface="Calibri" pitchFamily="34" charset="0"/>
                <a:ea typeface="Calibri" pitchFamily="34" charset="-122"/>
                <a:cs typeface="Calibri" pitchFamily="34" charset="-120"/>
              </a:rPr>
              <a:t>▶</a:t>
            </a:r>
            <a:endParaRPr lang="en-US" sz="900" dirty="0"/>
          </a:p>
        </p:txBody>
      </p:sp>
      <p:sp>
        <p:nvSpPr>
          <p:cNvPr id="11" name="Shape 8"/>
          <p:cNvSpPr/>
          <p:nvPr/>
        </p:nvSpPr>
        <p:spPr>
          <a:xfrm>
            <a:off x="1892808" y="4343400"/>
            <a:ext cx="1298448" cy="731520"/>
          </a:xfrm>
          <a:prstGeom prst="roundRect">
            <a:avLst>
              <a:gd name="adj" fmla="val 6250"/>
            </a:avLst>
          </a:prstGeom>
          <a:solidFill>
            <a:srgbClr val="1E6FA8"/>
          </a:solidFill>
          <a:ln/>
        </p:spPr>
        <p:txBody>
          <a:bodyPr/>
          <a:lstStyle/>
          <a:p>
            <a:endParaRPr/>
          </a:p>
        </p:txBody>
      </p:sp>
      <p:sp>
        <p:nvSpPr>
          <p:cNvPr id="12" name="Text 9"/>
          <p:cNvSpPr/>
          <p:nvPr/>
        </p:nvSpPr>
        <p:spPr>
          <a:xfrm>
            <a:off x="1892808" y="4343400"/>
            <a:ext cx="1298448" cy="731520"/>
          </a:xfrm>
          <a:prstGeom prst="rect">
            <a:avLst/>
          </a:prstGeom>
          <a:noFill/>
          <a:ln/>
        </p:spPr>
        <p:txBody>
          <a:bodyPr wrap="square" lIns="12700" tIns="12700" rIns="12700" bIns="127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Click a</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Province Dot</a:t>
            </a:r>
            <a:endParaRPr lang="en-US" sz="850" dirty="0"/>
          </a:p>
        </p:txBody>
      </p:sp>
      <p:sp>
        <p:nvSpPr>
          <p:cNvPr id="13" name="Text 10"/>
          <p:cNvSpPr/>
          <p:nvPr/>
        </p:nvSpPr>
        <p:spPr>
          <a:xfrm>
            <a:off x="3191256" y="4343400"/>
            <a:ext cx="137160" cy="731520"/>
          </a:xfrm>
          <a:prstGeom prst="rect">
            <a:avLst/>
          </a:prstGeom>
          <a:noFill/>
          <a:ln/>
        </p:spPr>
        <p:txBody>
          <a:bodyPr wrap="square" lIns="0" tIns="0" rIns="0" bIns="0" rtlCol="0" anchor="ctr"/>
          <a:lstStyle/>
          <a:p>
            <a:pPr marL="0" indent="0" algn="ctr">
              <a:buNone/>
            </a:pPr>
            <a:r>
              <a:rPr lang="en-US" sz="900" dirty="0">
                <a:solidFill>
                  <a:srgbClr val="6E7A87"/>
                </a:solidFill>
                <a:latin typeface="Calibri" pitchFamily="34" charset="0"/>
                <a:ea typeface="Calibri" pitchFamily="34" charset="-122"/>
                <a:cs typeface="Calibri" pitchFamily="34" charset="-120"/>
              </a:rPr>
              <a:t>▶</a:t>
            </a:r>
            <a:endParaRPr lang="en-US" sz="900" dirty="0"/>
          </a:p>
        </p:txBody>
      </p:sp>
      <p:sp>
        <p:nvSpPr>
          <p:cNvPr id="14" name="Shape 11"/>
          <p:cNvSpPr/>
          <p:nvPr/>
        </p:nvSpPr>
        <p:spPr>
          <a:xfrm>
            <a:off x="3328416" y="4343400"/>
            <a:ext cx="1298448" cy="731520"/>
          </a:xfrm>
          <a:prstGeom prst="roundRect">
            <a:avLst>
              <a:gd name="adj" fmla="val 6250"/>
            </a:avLst>
          </a:prstGeom>
          <a:solidFill>
            <a:srgbClr val="1E6FA8"/>
          </a:solidFill>
          <a:ln/>
        </p:spPr>
        <p:txBody>
          <a:bodyPr/>
          <a:lstStyle/>
          <a:p>
            <a:endParaRPr/>
          </a:p>
        </p:txBody>
      </p:sp>
      <p:sp>
        <p:nvSpPr>
          <p:cNvPr id="15" name="Text 12"/>
          <p:cNvSpPr/>
          <p:nvPr/>
        </p:nvSpPr>
        <p:spPr>
          <a:xfrm>
            <a:off x="3328416" y="4343400"/>
            <a:ext cx="1298448" cy="731520"/>
          </a:xfrm>
          <a:prstGeom prst="rect">
            <a:avLst/>
          </a:prstGeom>
          <a:noFill/>
          <a:ln/>
        </p:spPr>
        <p:txBody>
          <a:bodyPr wrap="square" lIns="12700" tIns="12700" rIns="12700" bIns="127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Province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Detail Page</a:t>
            </a:r>
            <a:endParaRPr lang="en-US" sz="850" dirty="0"/>
          </a:p>
        </p:txBody>
      </p:sp>
      <p:sp>
        <p:nvSpPr>
          <p:cNvPr id="16" name="Text 13"/>
          <p:cNvSpPr/>
          <p:nvPr/>
        </p:nvSpPr>
        <p:spPr>
          <a:xfrm>
            <a:off x="4626864" y="4343400"/>
            <a:ext cx="137160" cy="731520"/>
          </a:xfrm>
          <a:prstGeom prst="rect">
            <a:avLst/>
          </a:prstGeom>
          <a:noFill/>
          <a:ln/>
        </p:spPr>
        <p:txBody>
          <a:bodyPr wrap="square" lIns="0" tIns="0" rIns="0" bIns="0" rtlCol="0" anchor="ctr"/>
          <a:lstStyle/>
          <a:p>
            <a:pPr marL="0" indent="0" algn="ctr">
              <a:buNone/>
            </a:pPr>
            <a:r>
              <a:rPr lang="en-US" sz="900" dirty="0">
                <a:solidFill>
                  <a:srgbClr val="6E7A87"/>
                </a:solidFill>
                <a:latin typeface="Calibri" pitchFamily="34" charset="0"/>
                <a:ea typeface="Calibri" pitchFamily="34" charset="-122"/>
                <a:cs typeface="Calibri" pitchFamily="34" charset="-120"/>
              </a:rPr>
              <a:t>▶</a:t>
            </a:r>
            <a:endParaRPr lang="en-US" sz="900" dirty="0"/>
          </a:p>
        </p:txBody>
      </p:sp>
      <p:sp>
        <p:nvSpPr>
          <p:cNvPr id="17" name="Shape 14"/>
          <p:cNvSpPr/>
          <p:nvPr/>
        </p:nvSpPr>
        <p:spPr>
          <a:xfrm>
            <a:off x="4764024" y="4343400"/>
            <a:ext cx="1298448" cy="731520"/>
          </a:xfrm>
          <a:prstGeom prst="roundRect">
            <a:avLst>
              <a:gd name="adj" fmla="val 6250"/>
            </a:avLst>
          </a:prstGeom>
          <a:solidFill>
            <a:srgbClr val="1E6FA8"/>
          </a:solidFill>
          <a:ln/>
        </p:spPr>
        <p:txBody>
          <a:bodyPr/>
          <a:lstStyle/>
          <a:p>
            <a:endParaRPr/>
          </a:p>
        </p:txBody>
      </p:sp>
      <p:sp>
        <p:nvSpPr>
          <p:cNvPr id="18" name="Text 15"/>
          <p:cNvSpPr/>
          <p:nvPr/>
        </p:nvSpPr>
        <p:spPr>
          <a:xfrm>
            <a:off x="4764024" y="4343400"/>
            <a:ext cx="1298448" cy="731520"/>
          </a:xfrm>
          <a:prstGeom prst="rect">
            <a:avLst/>
          </a:prstGeom>
          <a:noFill/>
          <a:ln/>
        </p:spPr>
        <p:txBody>
          <a:bodyPr wrap="square" lIns="12700" tIns="12700" rIns="12700" bIns="127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Content / Package /</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Trend Analysis</a:t>
            </a:r>
            <a:endParaRPr lang="en-US" sz="850" dirty="0"/>
          </a:p>
        </p:txBody>
      </p:sp>
      <p:sp>
        <p:nvSpPr>
          <p:cNvPr id="19" name="Text 16"/>
          <p:cNvSpPr/>
          <p:nvPr/>
        </p:nvSpPr>
        <p:spPr>
          <a:xfrm>
            <a:off x="457200" y="5212080"/>
            <a:ext cx="5577840" cy="548640"/>
          </a:xfrm>
          <a:prstGeom prst="rect">
            <a:avLst/>
          </a:prstGeom>
          <a:noFill/>
          <a:ln/>
        </p:spPr>
        <p:txBody>
          <a:bodyPr wrap="square" lIns="0" tIns="0" rIns="0" bIns="0" rtlCol="0" anchor="ctr"/>
          <a:lstStyle/>
          <a:p>
            <a:pPr marL="0" indent="0">
              <a:buNone/>
            </a:pPr>
            <a:r>
              <a:rPr lang="en-US" sz="950" i="1" dirty="0">
                <a:solidFill>
                  <a:srgbClr val="6E7A87"/>
                </a:solidFill>
                <a:latin typeface="Calibri" pitchFamily="34" charset="0"/>
                <a:ea typeface="Calibri" pitchFamily="34" charset="-122"/>
                <a:cs typeface="Calibri" pitchFamily="34" charset="-120"/>
              </a:rPr>
              <a:t>A page filter carries the selected province from the map into every visual on this page — no manual filtering needed.</a:t>
            </a:r>
            <a:endParaRPr lang="en-US" sz="950" dirty="0"/>
          </a:p>
        </p:txBody>
      </p:sp>
      <p:sp>
        <p:nvSpPr>
          <p:cNvPr id="20" name="Text 17"/>
          <p:cNvSpPr/>
          <p:nvPr/>
        </p:nvSpPr>
        <p:spPr>
          <a:xfrm>
            <a:off x="6355080" y="1371600"/>
            <a:ext cx="5303520" cy="274320"/>
          </a:xfrm>
          <a:prstGeom prst="rect">
            <a:avLst/>
          </a:prstGeom>
          <a:noFill/>
          <a:ln/>
        </p:spPr>
        <p:txBody>
          <a:bodyPr wrap="square" lIns="0" tIns="0" rIns="0" bIns="0" rtlCol="0" anchor="ctr"/>
          <a:lstStyle/>
          <a:p>
            <a:pPr marL="0" indent="0">
              <a:buNone/>
            </a:pPr>
            <a:r>
              <a:rPr lang="en-US" sz="1100" b="1" kern="0" spc="100" dirty="0">
                <a:solidFill>
                  <a:srgbClr val="1E6FA8"/>
                </a:solidFill>
                <a:latin typeface="Calibri" pitchFamily="34" charset="0"/>
                <a:ea typeface="Calibri" pitchFamily="34" charset="-122"/>
                <a:cs typeface="Calibri" pitchFamily="34" charset="-120"/>
              </a:rPr>
              <a:t>WORKED EXAMPLE — JAKARTA (verified)</a:t>
            </a:r>
            <a:endParaRPr lang="en-US" sz="1100" dirty="0"/>
          </a:p>
        </p:txBody>
      </p:sp>
      <p:sp>
        <p:nvSpPr>
          <p:cNvPr id="21" name="Text 18"/>
          <p:cNvSpPr/>
          <p:nvPr/>
        </p:nvSpPr>
        <p:spPr>
          <a:xfrm>
            <a:off x="6355080" y="1691640"/>
            <a:ext cx="2377440" cy="365760"/>
          </a:xfrm>
          <a:prstGeom prst="rect">
            <a:avLst/>
          </a:prstGeom>
          <a:noFill/>
          <a:ln/>
        </p:spPr>
        <p:txBody>
          <a:bodyPr wrap="square" lIns="0" tIns="0" rIns="0" bIns="0" rtlCol="0" anchor="ctr"/>
          <a:lstStyle/>
          <a:p>
            <a:pPr marL="0" indent="0">
              <a:buNone/>
            </a:pPr>
            <a:r>
              <a:rPr lang="en-US" sz="1100" dirty="0">
                <a:solidFill>
                  <a:srgbClr val="6E7A87"/>
                </a:solidFill>
                <a:latin typeface="Calibri" pitchFamily="34" charset="0"/>
                <a:ea typeface="Calibri" pitchFamily="34" charset="-122"/>
                <a:cs typeface="Calibri" pitchFamily="34" charset="-120"/>
              </a:rPr>
              <a:t>Rank</a:t>
            </a:r>
            <a:endParaRPr lang="en-US" sz="1100" dirty="0"/>
          </a:p>
        </p:txBody>
      </p:sp>
      <p:sp>
        <p:nvSpPr>
          <p:cNvPr id="22" name="Text 19"/>
          <p:cNvSpPr/>
          <p:nvPr/>
        </p:nvSpPr>
        <p:spPr>
          <a:xfrm>
            <a:off x="8732520" y="1691640"/>
            <a:ext cx="2926080" cy="365760"/>
          </a:xfrm>
          <a:prstGeom prst="rect">
            <a:avLst/>
          </a:prstGeom>
          <a:noFill/>
          <a:ln/>
        </p:spPr>
        <p:txBody>
          <a:bodyPr wrap="square" lIns="0" tIns="0" rIns="0" bIns="0" rtlCol="0" anchor="ctr"/>
          <a:lstStyle/>
          <a:p>
            <a:pPr marL="0" indent="0">
              <a:buNone/>
            </a:pPr>
            <a:r>
              <a:rPr lang="en-US" sz="1200" b="1" dirty="0">
                <a:solidFill>
                  <a:srgbClr val="0B3556"/>
                </a:solidFill>
                <a:latin typeface="Calibri" pitchFamily="34" charset="0"/>
                <a:ea typeface="Calibri" pitchFamily="34" charset="-122"/>
                <a:cs typeface="Calibri" pitchFamily="34" charset="-120"/>
              </a:rPr>
              <a:t>#1 of 79 provinces</a:t>
            </a:r>
            <a:endParaRPr lang="en-US" sz="1200" dirty="0"/>
          </a:p>
        </p:txBody>
      </p:sp>
      <p:sp>
        <p:nvSpPr>
          <p:cNvPr id="23" name="Text 20"/>
          <p:cNvSpPr/>
          <p:nvPr/>
        </p:nvSpPr>
        <p:spPr>
          <a:xfrm>
            <a:off x="6355080" y="2075688"/>
            <a:ext cx="2377440" cy="365760"/>
          </a:xfrm>
          <a:prstGeom prst="rect">
            <a:avLst/>
          </a:prstGeom>
          <a:noFill/>
          <a:ln/>
        </p:spPr>
        <p:txBody>
          <a:bodyPr wrap="square" lIns="0" tIns="0" rIns="0" bIns="0" rtlCol="0" anchor="ctr"/>
          <a:lstStyle/>
          <a:p>
            <a:pPr marL="0" indent="0">
              <a:buNone/>
            </a:pPr>
            <a:r>
              <a:rPr lang="en-US" sz="1100" dirty="0">
                <a:solidFill>
                  <a:srgbClr val="6E7A87"/>
                </a:solidFill>
                <a:latin typeface="Calibri" pitchFamily="34" charset="0"/>
                <a:ea typeface="Calibri" pitchFamily="34" charset="-122"/>
                <a:cs typeface="Calibri" pitchFamily="34" charset="-120"/>
              </a:rPr>
              <a:t>Share of national users</a:t>
            </a:r>
            <a:endParaRPr lang="en-US" sz="1100" dirty="0"/>
          </a:p>
        </p:txBody>
      </p:sp>
      <p:sp>
        <p:nvSpPr>
          <p:cNvPr id="24" name="Text 21"/>
          <p:cNvSpPr/>
          <p:nvPr/>
        </p:nvSpPr>
        <p:spPr>
          <a:xfrm>
            <a:off x="8732520" y="2075688"/>
            <a:ext cx="2926080" cy="365760"/>
          </a:xfrm>
          <a:prstGeom prst="rect">
            <a:avLst/>
          </a:prstGeom>
          <a:noFill/>
          <a:ln/>
        </p:spPr>
        <p:txBody>
          <a:bodyPr wrap="square" lIns="0" tIns="0" rIns="0" bIns="0" rtlCol="0" anchor="ctr"/>
          <a:lstStyle/>
          <a:p>
            <a:pPr marL="0" indent="0">
              <a:buNone/>
            </a:pPr>
            <a:r>
              <a:rPr lang="en-US" sz="1200" b="1" dirty="0">
                <a:solidFill>
                  <a:srgbClr val="0B3556"/>
                </a:solidFill>
                <a:latin typeface="Calibri" pitchFamily="34" charset="0"/>
                <a:ea typeface="Calibri" pitchFamily="34" charset="-122"/>
                <a:cs typeface="Calibri" pitchFamily="34" charset="-120"/>
              </a:rPr>
              <a:t>23.9%  (2,386 users)</a:t>
            </a:r>
            <a:endParaRPr lang="en-US" sz="1200" dirty="0"/>
          </a:p>
        </p:txBody>
      </p:sp>
      <p:sp>
        <p:nvSpPr>
          <p:cNvPr id="25" name="Text 22"/>
          <p:cNvSpPr/>
          <p:nvPr/>
        </p:nvSpPr>
        <p:spPr>
          <a:xfrm>
            <a:off x="6355080" y="2459736"/>
            <a:ext cx="2377440" cy="365760"/>
          </a:xfrm>
          <a:prstGeom prst="rect">
            <a:avLst/>
          </a:prstGeom>
          <a:noFill/>
          <a:ln/>
        </p:spPr>
        <p:txBody>
          <a:bodyPr wrap="square" lIns="0" tIns="0" rIns="0" bIns="0" rtlCol="0" anchor="ctr"/>
          <a:lstStyle/>
          <a:p>
            <a:pPr marL="0" indent="0">
              <a:buNone/>
            </a:pPr>
            <a:r>
              <a:rPr lang="en-US" sz="1100" dirty="0">
                <a:solidFill>
                  <a:srgbClr val="6E7A87"/>
                </a:solidFill>
                <a:latin typeface="Calibri" pitchFamily="34" charset="0"/>
                <a:ea typeface="Calibri" pitchFamily="34" charset="-122"/>
                <a:cs typeface="Calibri" pitchFamily="34" charset="-120"/>
              </a:rPr>
              <a:t>Dominant age group</a:t>
            </a:r>
            <a:endParaRPr lang="en-US" sz="1100" dirty="0"/>
          </a:p>
        </p:txBody>
      </p:sp>
      <p:sp>
        <p:nvSpPr>
          <p:cNvPr id="26" name="Text 23"/>
          <p:cNvSpPr/>
          <p:nvPr/>
        </p:nvSpPr>
        <p:spPr>
          <a:xfrm>
            <a:off x="8732520" y="2459736"/>
            <a:ext cx="2926080" cy="365760"/>
          </a:xfrm>
          <a:prstGeom prst="rect">
            <a:avLst/>
          </a:prstGeom>
          <a:noFill/>
          <a:ln/>
        </p:spPr>
        <p:txBody>
          <a:bodyPr wrap="square" lIns="0" tIns="0" rIns="0" bIns="0" rtlCol="0" anchor="ctr"/>
          <a:lstStyle/>
          <a:p>
            <a:pPr marL="0" indent="0">
              <a:buNone/>
            </a:pPr>
            <a:r>
              <a:rPr lang="en-US" sz="1200" b="1" dirty="0">
                <a:solidFill>
                  <a:srgbClr val="0B3556"/>
                </a:solidFill>
                <a:latin typeface="Calibri" pitchFamily="34" charset="0"/>
                <a:ea typeface="Calibri" pitchFamily="34" charset="-122"/>
                <a:cs typeface="Calibri" pitchFamily="34" charset="-120"/>
              </a:rPr>
              <a:t>26–35</a:t>
            </a:r>
            <a:endParaRPr lang="en-US" sz="1200" dirty="0"/>
          </a:p>
        </p:txBody>
      </p:sp>
      <p:sp>
        <p:nvSpPr>
          <p:cNvPr id="27" name="Text 24"/>
          <p:cNvSpPr/>
          <p:nvPr/>
        </p:nvSpPr>
        <p:spPr>
          <a:xfrm>
            <a:off x="6355080" y="2843784"/>
            <a:ext cx="2377440" cy="365760"/>
          </a:xfrm>
          <a:prstGeom prst="rect">
            <a:avLst/>
          </a:prstGeom>
          <a:noFill/>
          <a:ln/>
        </p:spPr>
        <p:txBody>
          <a:bodyPr wrap="square" lIns="0" tIns="0" rIns="0" bIns="0" rtlCol="0" anchor="ctr"/>
          <a:lstStyle/>
          <a:p>
            <a:pPr marL="0" indent="0">
              <a:buNone/>
            </a:pPr>
            <a:r>
              <a:rPr lang="en-US" sz="1100" dirty="0">
                <a:solidFill>
                  <a:srgbClr val="6E7A87"/>
                </a:solidFill>
                <a:latin typeface="Calibri" pitchFamily="34" charset="0"/>
                <a:ea typeface="Calibri" pitchFamily="34" charset="-122"/>
                <a:cs typeface="Calibri" pitchFamily="34" charset="-120"/>
              </a:rPr>
              <a:t>Top content type</a:t>
            </a:r>
            <a:endParaRPr lang="en-US" sz="1100" dirty="0"/>
          </a:p>
        </p:txBody>
      </p:sp>
      <p:sp>
        <p:nvSpPr>
          <p:cNvPr id="28" name="Text 25"/>
          <p:cNvSpPr/>
          <p:nvPr/>
        </p:nvSpPr>
        <p:spPr>
          <a:xfrm>
            <a:off x="8732520" y="2843784"/>
            <a:ext cx="2926080" cy="365760"/>
          </a:xfrm>
          <a:prstGeom prst="rect">
            <a:avLst/>
          </a:prstGeom>
          <a:noFill/>
          <a:ln/>
        </p:spPr>
        <p:txBody>
          <a:bodyPr wrap="square" lIns="0" tIns="0" rIns="0" bIns="0" rtlCol="0" anchor="ctr"/>
          <a:lstStyle/>
          <a:p>
            <a:pPr marL="0" indent="0">
              <a:buNone/>
            </a:pPr>
            <a:r>
              <a:rPr lang="en-US" sz="1200" b="1" dirty="0">
                <a:solidFill>
                  <a:srgbClr val="0B3556"/>
                </a:solidFill>
                <a:latin typeface="Calibri" pitchFamily="34" charset="0"/>
                <a:ea typeface="Calibri" pitchFamily="34" charset="-122"/>
                <a:cs typeface="Calibri" pitchFamily="34" charset="-120"/>
              </a:rPr>
              <a:t>Series</a:t>
            </a:r>
            <a:endParaRPr lang="en-US" sz="1200" dirty="0"/>
          </a:p>
        </p:txBody>
      </p:sp>
      <p:sp>
        <p:nvSpPr>
          <p:cNvPr id="29" name="Shape 26"/>
          <p:cNvSpPr/>
          <p:nvPr/>
        </p:nvSpPr>
        <p:spPr>
          <a:xfrm>
            <a:off x="6355080" y="3337560"/>
            <a:ext cx="5303520" cy="960120"/>
          </a:xfrm>
          <a:prstGeom prst="roundRect">
            <a:avLst>
              <a:gd name="adj" fmla="val 7619"/>
            </a:avLst>
          </a:prstGeom>
          <a:solidFill>
            <a:srgbClr val="E4EEF8"/>
          </a:solidFill>
          <a:ln w="9525">
            <a:solidFill>
              <a:srgbClr val="E4EEF8"/>
            </a:solidFill>
            <a:prstDash val="solid"/>
          </a:ln>
          <a:effectLst>
            <a:outerShdw blurRad="76200" dist="25400" dir="5400000" algn="bl" rotWithShape="0">
              <a:srgbClr val="3A4552">
                <a:alpha val="18000"/>
              </a:srgbClr>
            </a:outerShdw>
          </a:effectLst>
        </p:spPr>
        <p:txBody>
          <a:bodyPr/>
          <a:lstStyle/>
          <a:p>
            <a:endParaRPr/>
          </a:p>
        </p:txBody>
      </p:sp>
      <p:sp>
        <p:nvSpPr>
          <p:cNvPr id="30" name="Shape 27"/>
          <p:cNvSpPr/>
          <p:nvPr/>
        </p:nvSpPr>
        <p:spPr>
          <a:xfrm>
            <a:off x="6519672" y="3474720"/>
            <a:ext cx="457200" cy="457200"/>
          </a:xfrm>
          <a:prstGeom prst="ellipse">
            <a:avLst/>
          </a:prstGeom>
          <a:solidFill>
            <a:srgbClr val="1E6FA8"/>
          </a:solidFill>
          <a:ln/>
        </p:spPr>
        <p:txBody>
          <a:bodyPr/>
          <a:lstStyle/>
          <a:p>
            <a:endParaRPr/>
          </a:p>
        </p:txBody>
      </p:sp>
      <p:pic>
        <p:nvPicPr>
          <p:cNvPr id="31" name="Image 1" descr="/home/claude/work/icons/insight_FFFFFF.png"/>
          <p:cNvPicPr>
            <a:picLocks noChangeAspect="1"/>
          </p:cNvPicPr>
          <p:nvPr/>
        </p:nvPicPr>
        <p:blipFill>
          <a:blip r:embed="rId4"/>
          <a:stretch>
            <a:fillRect/>
          </a:stretch>
        </p:blipFill>
        <p:spPr>
          <a:xfrm>
            <a:off x="6629400" y="3584448"/>
            <a:ext cx="237744" cy="237744"/>
          </a:xfrm>
          <a:prstGeom prst="rect">
            <a:avLst/>
          </a:prstGeom>
        </p:spPr>
      </p:pic>
      <p:sp>
        <p:nvSpPr>
          <p:cNvPr id="32" name="Text 28"/>
          <p:cNvSpPr/>
          <p:nvPr/>
        </p:nvSpPr>
        <p:spPr>
          <a:xfrm>
            <a:off x="7132320" y="3429000"/>
            <a:ext cx="4297680" cy="274320"/>
          </a:xfrm>
          <a:prstGeom prst="rect">
            <a:avLst/>
          </a:prstGeom>
          <a:noFill/>
          <a:ln/>
        </p:spPr>
        <p:txBody>
          <a:bodyPr wrap="square" lIns="0" tIns="0" rIns="0" bIns="0" rtlCol="0" anchor="ctr"/>
          <a:lstStyle/>
          <a:p>
            <a:pPr marL="0" indent="0">
              <a:buNone/>
            </a:pPr>
            <a:r>
              <a:rPr lang="en-US" sz="1100" b="1" dirty="0">
                <a:solidFill>
                  <a:srgbClr val="0B3556"/>
                </a:solidFill>
                <a:latin typeface="Calibri" pitchFamily="34" charset="0"/>
                <a:ea typeface="Calibri" pitchFamily="34" charset="-122"/>
                <a:cs typeface="Calibri" pitchFamily="34" charset="-120"/>
              </a:rPr>
              <a:t>Dynamic “Province Insight” text measure</a:t>
            </a:r>
            <a:endParaRPr lang="en-US" sz="1100" dirty="0"/>
          </a:p>
        </p:txBody>
      </p:sp>
      <p:sp>
        <p:nvSpPr>
          <p:cNvPr id="33" name="Text 29"/>
          <p:cNvSpPr/>
          <p:nvPr/>
        </p:nvSpPr>
        <p:spPr>
          <a:xfrm>
            <a:off x="7132320" y="3730752"/>
            <a:ext cx="4343400" cy="548640"/>
          </a:xfrm>
          <a:prstGeom prst="rect">
            <a:avLst/>
          </a:prstGeom>
          <a:noFill/>
          <a:ln/>
        </p:spPr>
        <p:txBody>
          <a:bodyPr wrap="square" lIns="0" tIns="0" rIns="0" bIns="0" rtlCol="0" anchor="ctr"/>
          <a:lstStyle/>
          <a:p>
            <a:pPr marL="0" indent="0">
              <a:buNone/>
            </a:pPr>
            <a:r>
              <a:rPr lang="en-US" sz="900" i="1" dirty="0">
                <a:solidFill>
                  <a:srgbClr val="13212B"/>
                </a:solidFill>
                <a:latin typeface="Calibri" pitchFamily="34" charset="0"/>
                <a:ea typeface="Calibri" pitchFamily="34" charset="-122"/>
                <a:cs typeface="Calibri" pitchFamily="34" charset="-120"/>
              </a:rPr>
              <a:t>Auto-generates a one-sentence narrative per province, e.g.: “Jakarta menyumbang 23.9% dari total user nasional, didominasi kelompok umur 26-35 tahun, dengan konten favorit Series.”</a:t>
            </a:r>
            <a:endParaRPr lang="en-US" sz="900" dirty="0"/>
          </a:p>
        </p:txBody>
      </p:sp>
      <p:sp>
        <p:nvSpPr>
          <p:cNvPr id="34" name="Text 30"/>
          <p:cNvSpPr/>
          <p:nvPr/>
        </p:nvSpPr>
        <p:spPr>
          <a:xfrm>
            <a:off x="6355080" y="4434840"/>
            <a:ext cx="5303520" cy="274320"/>
          </a:xfrm>
          <a:prstGeom prst="rect">
            <a:avLst/>
          </a:prstGeom>
          <a:noFill/>
          <a:ln/>
        </p:spPr>
        <p:txBody>
          <a:bodyPr wrap="square" lIns="0" tIns="0" rIns="0" bIns="0" rtlCol="0" anchor="ctr"/>
          <a:lstStyle/>
          <a:p>
            <a:pPr marL="0" indent="0">
              <a:buNone/>
            </a:pPr>
            <a:r>
              <a:rPr lang="en-US" sz="1050" b="1" dirty="0">
                <a:solidFill>
                  <a:srgbClr val="1E6FA8"/>
                </a:solidFill>
                <a:latin typeface="Calibri" pitchFamily="34" charset="0"/>
                <a:ea typeface="Calibri" pitchFamily="34" charset="-122"/>
                <a:cs typeface="Calibri" pitchFamily="34" charset="-120"/>
              </a:rPr>
              <a:t>TOP 5 CONTENT IN JAKARTA (by streaming hours)</a:t>
            </a:r>
            <a:endParaRPr lang="en-US" sz="1050" dirty="0"/>
          </a:p>
        </p:txBody>
      </p:sp>
      <p:sp>
        <p:nvSpPr>
          <p:cNvPr id="35" name="Text 31"/>
          <p:cNvSpPr/>
          <p:nvPr/>
        </p:nvSpPr>
        <p:spPr>
          <a:xfrm>
            <a:off x="6355080" y="4736592"/>
            <a:ext cx="2377440" cy="256032"/>
          </a:xfrm>
          <a:prstGeom prst="rect">
            <a:avLst/>
          </a:prstGeom>
          <a:noFill/>
          <a:ln/>
        </p:spPr>
        <p:txBody>
          <a:bodyPr wrap="square" lIns="0" tIns="0" rIns="0" bIns="0" rtlCol="0" anchor="ctr"/>
          <a:lstStyle/>
          <a:p>
            <a:pPr marL="0" indent="0">
              <a:buNone/>
            </a:pPr>
            <a:r>
              <a:rPr lang="en-US" sz="950" b="1" dirty="0">
                <a:solidFill>
                  <a:srgbClr val="6E7A87"/>
                </a:solidFill>
                <a:latin typeface="Calibri" pitchFamily="34" charset="0"/>
                <a:ea typeface="Calibri" pitchFamily="34" charset="-122"/>
                <a:cs typeface="Calibri" pitchFamily="34" charset="-120"/>
              </a:rPr>
              <a:t>Content</a:t>
            </a:r>
            <a:endParaRPr lang="en-US" sz="950" dirty="0"/>
          </a:p>
        </p:txBody>
      </p:sp>
      <p:sp>
        <p:nvSpPr>
          <p:cNvPr id="36" name="Text 32"/>
          <p:cNvSpPr/>
          <p:nvPr/>
        </p:nvSpPr>
        <p:spPr>
          <a:xfrm>
            <a:off x="8732520" y="4736592"/>
            <a:ext cx="1645920" cy="256032"/>
          </a:xfrm>
          <a:prstGeom prst="rect">
            <a:avLst/>
          </a:prstGeom>
          <a:noFill/>
          <a:ln/>
        </p:spPr>
        <p:txBody>
          <a:bodyPr wrap="square" lIns="0" tIns="0" rIns="0" bIns="0" rtlCol="0" anchor="ctr"/>
          <a:lstStyle/>
          <a:p>
            <a:pPr marL="0" indent="0">
              <a:buNone/>
            </a:pPr>
            <a:r>
              <a:rPr lang="en-US" sz="950" b="1" dirty="0">
                <a:solidFill>
                  <a:srgbClr val="6E7A87"/>
                </a:solidFill>
                <a:latin typeface="Calibri" pitchFamily="34" charset="0"/>
                <a:ea typeface="Calibri" pitchFamily="34" charset="-122"/>
                <a:cs typeface="Calibri" pitchFamily="34" charset="-120"/>
              </a:rPr>
              <a:t>Type</a:t>
            </a:r>
            <a:endParaRPr lang="en-US" sz="950" dirty="0"/>
          </a:p>
        </p:txBody>
      </p:sp>
      <p:sp>
        <p:nvSpPr>
          <p:cNvPr id="37" name="Text 33"/>
          <p:cNvSpPr/>
          <p:nvPr/>
        </p:nvSpPr>
        <p:spPr>
          <a:xfrm>
            <a:off x="10378440" y="4736592"/>
            <a:ext cx="1280160" cy="256032"/>
          </a:xfrm>
          <a:prstGeom prst="rect">
            <a:avLst/>
          </a:prstGeom>
          <a:noFill/>
          <a:ln/>
        </p:spPr>
        <p:txBody>
          <a:bodyPr wrap="square" lIns="0" tIns="0" rIns="0" bIns="0" rtlCol="0" anchor="ctr"/>
          <a:lstStyle/>
          <a:p>
            <a:pPr marL="0" indent="0" algn="r">
              <a:buNone/>
            </a:pPr>
            <a:r>
              <a:rPr lang="en-US" sz="950" b="1" dirty="0">
                <a:solidFill>
                  <a:srgbClr val="6E7A87"/>
                </a:solidFill>
                <a:latin typeface="Calibri" pitchFamily="34" charset="0"/>
                <a:ea typeface="Calibri" pitchFamily="34" charset="-122"/>
                <a:cs typeface="Calibri" pitchFamily="34" charset="-120"/>
              </a:rPr>
              <a:t>Hours</a:t>
            </a:r>
            <a:endParaRPr lang="en-US" sz="950" dirty="0"/>
          </a:p>
        </p:txBody>
      </p:sp>
      <p:sp>
        <p:nvSpPr>
          <p:cNvPr id="38" name="Text 34"/>
          <p:cNvSpPr/>
          <p:nvPr/>
        </p:nvSpPr>
        <p:spPr>
          <a:xfrm>
            <a:off x="6355080" y="5010912"/>
            <a:ext cx="237744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AKATANCINT</a:t>
            </a:r>
            <a:endParaRPr lang="en-US" sz="950" dirty="0"/>
          </a:p>
        </p:txBody>
      </p:sp>
      <p:sp>
        <p:nvSpPr>
          <p:cNvPr id="39" name="Text 35"/>
          <p:cNvSpPr/>
          <p:nvPr/>
        </p:nvSpPr>
        <p:spPr>
          <a:xfrm>
            <a:off x="8732520" y="5010912"/>
            <a:ext cx="164592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Series</a:t>
            </a:r>
            <a:endParaRPr lang="en-US" sz="950" dirty="0"/>
          </a:p>
        </p:txBody>
      </p:sp>
      <p:sp>
        <p:nvSpPr>
          <p:cNvPr id="40" name="Text 36"/>
          <p:cNvSpPr/>
          <p:nvPr/>
        </p:nvSpPr>
        <p:spPr>
          <a:xfrm>
            <a:off x="10378440" y="5010912"/>
            <a:ext cx="1280160" cy="237744"/>
          </a:xfrm>
          <a:prstGeom prst="rect">
            <a:avLst/>
          </a:prstGeom>
          <a:noFill/>
          <a:ln/>
        </p:spPr>
        <p:txBody>
          <a:bodyPr wrap="square" lIns="0" tIns="0" rIns="0" bIns="0" rtlCol="0" anchor="ctr"/>
          <a:lstStyle/>
          <a:p>
            <a:pPr marL="0" indent="0" algn="r">
              <a:buNone/>
            </a:pPr>
            <a:r>
              <a:rPr lang="en-US" sz="950" dirty="0">
                <a:solidFill>
                  <a:srgbClr val="13212B"/>
                </a:solidFill>
                <a:latin typeface="Calibri" pitchFamily="34" charset="0"/>
                <a:ea typeface="Calibri" pitchFamily="34" charset="-122"/>
                <a:cs typeface="Calibri" pitchFamily="34" charset="-120"/>
              </a:rPr>
              <a:t>85.3</a:t>
            </a:r>
            <a:endParaRPr lang="en-US" sz="950" dirty="0"/>
          </a:p>
        </p:txBody>
      </p:sp>
      <p:sp>
        <p:nvSpPr>
          <p:cNvPr id="41" name="Text 37"/>
          <p:cNvSpPr/>
          <p:nvPr/>
        </p:nvSpPr>
        <p:spPr>
          <a:xfrm>
            <a:off x="6355080" y="5257800"/>
            <a:ext cx="237744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MRABMAKLU</a:t>
            </a:r>
            <a:endParaRPr lang="en-US" sz="950" dirty="0"/>
          </a:p>
        </p:txBody>
      </p:sp>
      <p:sp>
        <p:nvSpPr>
          <p:cNvPr id="42" name="Text 38"/>
          <p:cNvSpPr/>
          <p:nvPr/>
        </p:nvSpPr>
        <p:spPr>
          <a:xfrm>
            <a:off x="8732520" y="5257800"/>
            <a:ext cx="164592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Series</a:t>
            </a:r>
            <a:endParaRPr lang="en-US" sz="950" dirty="0"/>
          </a:p>
        </p:txBody>
      </p:sp>
      <p:sp>
        <p:nvSpPr>
          <p:cNvPr id="43" name="Text 39"/>
          <p:cNvSpPr/>
          <p:nvPr/>
        </p:nvSpPr>
        <p:spPr>
          <a:xfrm>
            <a:off x="10378440" y="5257800"/>
            <a:ext cx="1280160" cy="237744"/>
          </a:xfrm>
          <a:prstGeom prst="rect">
            <a:avLst/>
          </a:prstGeom>
          <a:noFill/>
          <a:ln/>
        </p:spPr>
        <p:txBody>
          <a:bodyPr wrap="square" lIns="0" tIns="0" rIns="0" bIns="0" rtlCol="0" anchor="ctr"/>
          <a:lstStyle/>
          <a:p>
            <a:pPr marL="0" indent="0" algn="r">
              <a:buNone/>
            </a:pPr>
            <a:r>
              <a:rPr lang="en-US" sz="950" dirty="0">
                <a:solidFill>
                  <a:srgbClr val="13212B"/>
                </a:solidFill>
                <a:latin typeface="Calibri" pitchFamily="34" charset="0"/>
                <a:ea typeface="Calibri" pitchFamily="34" charset="-122"/>
                <a:cs typeface="Calibri" pitchFamily="34" charset="-120"/>
              </a:rPr>
              <a:t>69.5</a:t>
            </a:r>
            <a:endParaRPr lang="en-US" sz="950" dirty="0"/>
          </a:p>
        </p:txBody>
      </p:sp>
      <p:sp>
        <p:nvSpPr>
          <p:cNvPr id="44" name="Text 40"/>
          <p:cNvSpPr/>
          <p:nvPr/>
        </p:nvSpPr>
        <p:spPr>
          <a:xfrm>
            <a:off x="6355080" y="5504688"/>
            <a:ext cx="237744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ICT</a:t>
            </a:r>
            <a:endParaRPr lang="en-US" sz="950" dirty="0"/>
          </a:p>
        </p:txBody>
      </p:sp>
      <p:sp>
        <p:nvSpPr>
          <p:cNvPr id="45" name="Text 41"/>
          <p:cNvSpPr/>
          <p:nvPr/>
        </p:nvSpPr>
        <p:spPr>
          <a:xfrm>
            <a:off x="8732520" y="5504688"/>
            <a:ext cx="164592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Channel Live</a:t>
            </a:r>
            <a:endParaRPr lang="en-US" sz="950" dirty="0"/>
          </a:p>
        </p:txBody>
      </p:sp>
      <p:sp>
        <p:nvSpPr>
          <p:cNvPr id="46" name="Text 42"/>
          <p:cNvSpPr/>
          <p:nvPr/>
        </p:nvSpPr>
        <p:spPr>
          <a:xfrm>
            <a:off x="10378440" y="5504688"/>
            <a:ext cx="1280160" cy="237744"/>
          </a:xfrm>
          <a:prstGeom prst="rect">
            <a:avLst/>
          </a:prstGeom>
          <a:noFill/>
          <a:ln/>
        </p:spPr>
        <p:txBody>
          <a:bodyPr wrap="square" lIns="0" tIns="0" rIns="0" bIns="0" rtlCol="0" anchor="ctr"/>
          <a:lstStyle/>
          <a:p>
            <a:pPr marL="0" indent="0" algn="r">
              <a:buNone/>
            </a:pPr>
            <a:r>
              <a:rPr lang="en-US" sz="950" dirty="0">
                <a:solidFill>
                  <a:srgbClr val="13212B"/>
                </a:solidFill>
                <a:latin typeface="Calibri" pitchFamily="34" charset="0"/>
                <a:ea typeface="Calibri" pitchFamily="34" charset="-122"/>
                <a:cs typeface="Calibri" pitchFamily="34" charset="-120"/>
              </a:rPr>
              <a:t>60.9</a:t>
            </a:r>
            <a:endParaRPr lang="en-US" sz="950" dirty="0"/>
          </a:p>
        </p:txBody>
      </p:sp>
      <p:sp>
        <p:nvSpPr>
          <p:cNvPr id="47" name="Text 43"/>
          <p:cNvSpPr/>
          <p:nvPr/>
        </p:nvSpPr>
        <p:spPr>
          <a:xfrm>
            <a:off x="6355080" y="5751576"/>
            <a:ext cx="237744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NX</a:t>
            </a:r>
            <a:endParaRPr lang="en-US" sz="950" dirty="0"/>
          </a:p>
        </p:txBody>
      </p:sp>
      <p:sp>
        <p:nvSpPr>
          <p:cNvPr id="48" name="Text 44"/>
          <p:cNvSpPr/>
          <p:nvPr/>
        </p:nvSpPr>
        <p:spPr>
          <a:xfrm>
            <a:off x="8732520" y="5751576"/>
            <a:ext cx="164592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Channel Live</a:t>
            </a:r>
            <a:endParaRPr lang="en-US" sz="950" dirty="0"/>
          </a:p>
        </p:txBody>
      </p:sp>
      <p:sp>
        <p:nvSpPr>
          <p:cNvPr id="49" name="Text 45"/>
          <p:cNvSpPr/>
          <p:nvPr/>
        </p:nvSpPr>
        <p:spPr>
          <a:xfrm>
            <a:off x="10378440" y="5751576"/>
            <a:ext cx="1280160" cy="237744"/>
          </a:xfrm>
          <a:prstGeom prst="rect">
            <a:avLst/>
          </a:prstGeom>
          <a:noFill/>
          <a:ln/>
        </p:spPr>
        <p:txBody>
          <a:bodyPr wrap="square" lIns="0" tIns="0" rIns="0" bIns="0" rtlCol="0" anchor="ctr"/>
          <a:lstStyle/>
          <a:p>
            <a:pPr marL="0" indent="0" algn="r">
              <a:buNone/>
            </a:pPr>
            <a:r>
              <a:rPr lang="en-US" sz="950" dirty="0">
                <a:solidFill>
                  <a:srgbClr val="13212B"/>
                </a:solidFill>
                <a:latin typeface="Calibri" pitchFamily="34" charset="0"/>
                <a:ea typeface="Calibri" pitchFamily="34" charset="-122"/>
                <a:cs typeface="Calibri" pitchFamily="34" charset="-120"/>
              </a:rPr>
              <a:t>60.3</a:t>
            </a:r>
            <a:endParaRPr lang="en-US" sz="950" dirty="0"/>
          </a:p>
        </p:txBody>
      </p:sp>
      <p:sp>
        <p:nvSpPr>
          <p:cNvPr id="50" name="Text 46"/>
          <p:cNvSpPr/>
          <p:nvPr/>
        </p:nvSpPr>
        <p:spPr>
          <a:xfrm>
            <a:off x="6355080" y="5998464"/>
            <a:ext cx="237744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National Geo (coded)</a:t>
            </a:r>
            <a:endParaRPr lang="en-US" sz="950" dirty="0"/>
          </a:p>
        </p:txBody>
      </p:sp>
      <p:sp>
        <p:nvSpPr>
          <p:cNvPr id="51" name="Text 47"/>
          <p:cNvSpPr/>
          <p:nvPr/>
        </p:nvSpPr>
        <p:spPr>
          <a:xfrm>
            <a:off x="8732520" y="5998464"/>
            <a:ext cx="1645920" cy="237744"/>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Channel Live</a:t>
            </a:r>
            <a:endParaRPr lang="en-US" sz="950" dirty="0"/>
          </a:p>
        </p:txBody>
      </p:sp>
      <p:sp>
        <p:nvSpPr>
          <p:cNvPr id="52" name="Text 48"/>
          <p:cNvSpPr/>
          <p:nvPr/>
        </p:nvSpPr>
        <p:spPr>
          <a:xfrm>
            <a:off x="10378440" y="5998464"/>
            <a:ext cx="1280160" cy="237744"/>
          </a:xfrm>
          <a:prstGeom prst="rect">
            <a:avLst/>
          </a:prstGeom>
          <a:noFill/>
          <a:ln/>
        </p:spPr>
        <p:txBody>
          <a:bodyPr wrap="square" lIns="0" tIns="0" rIns="0" bIns="0" rtlCol="0" anchor="ctr"/>
          <a:lstStyle/>
          <a:p>
            <a:pPr marL="0" indent="0" algn="r">
              <a:buNone/>
            </a:pPr>
            <a:r>
              <a:rPr lang="en-US" sz="950" dirty="0">
                <a:solidFill>
                  <a:srgbClr val="13212B"/>
                </a:solidFill>
                <a:latin typeface="Calibri" pitchFamily="34" charset="0"/>
                <a:ea typeface="Calibri" pitchFamily="34" charset="-122"/>
                <a:cs typeface="Calibri" pitchFamily="34" charset="-120"/>
              </a:rPr>
              <a:t>30.7</a:t>
            </a:r>
            <a:endParaRPr lang="en-US" sz="950" dirty="0"/>
          </a:p>
        </p:txBody>
      </p:sp>
      <p:sp>
        <p:nvSpPr>
          <p:cNvPr id="54" name="Text 4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Regional Drill-Down</a:t>
            </a:r>
            <a:endParaRPr lang="en-US" sz="900" dirty="0"/>
          </a:p>
        </p:txBody>
      </p:sp>
      <p:sp>
        <p:nvSpPr>
          <p:cNvPr id="55" name="Text 5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9 / 15</a:t>
            </a:r>
            <a:endParaRPr lang="en-US" sz="900" dirty="0"/>
          </a:p>
        </p:txBody>
      </p:sp>
      <p:pic>
        <p:nvPicPr>
          <p:cNvPr id="56" name="Picture 55">
            <a:extLst>
              <a:ext uri="{FF2B5EF4-FFF2-40B4-BE49-F238E27FC236}">
                <a16:creationId xmlns:a16="http://schemas.microsoft.com/office/drawing/2014/main" id="{D2D29711-DB4E-2173-2568-07166CFA73F6}"/>
              </a:ext>
            </a:extLst>
          </p:cNvPr>
          <p:cNvPicPr>
            <a:picLocks noChangeAspect="1"/>
          </p:cNvPicPr>
          <p:nvPr/>
        </p:nvPicPr>
        <p:blipFill>
          <a:blip r:embed="rId5"/>
          <a:stretch>
            <a:fillRect/>
          </a:stretch>
        </p:blipFill>
        <p:spPr>
          <a:xfrm>
            <a:off x="261427" y="1368929"/>
            <a:ext cx="5969385" cy="28830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Key Insights</a:t>
            </a:r>
            <a:endParaRPr lang="en-US" sz="2800" dirty="0"/>
          </a:p>
        </p:txBody>
      </p:sp>
      <p:sp>
        <p:nvSpPr>
          <p:cNvPr id="4" name="Shape 2"/>
          <p:cNvSpPr/>
          <p:nvPr/>
        </p:nvSpPr>
        <p:spPr>
          <a:xfrm>
            <a:off x="457200" y="1417320"/>
            <a:ext cx="11292840" cy="822960"/>
          </a:xfrm>
          <a:prstGeom prst="roundRect">
            <a:avLst>
              <a:gd name="adj" fmla="val 888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5" name="Shape 3"/>
          <p:cNvSpPr/>
          <p:nvPr/>
        </p:nvSpPr>
        <p:spPr>
          <a:xfrm>
            <a:off x="658368" y="1536192"/>
            <a:ext cx="566928" cy="566928"/>
          </a:xfrm>
          <a:prstGeom prst="ellipse">
            <a:avLst/>
          </a:prstGeom>
          <a:solidFill>
            <a:srgbClr val="0B3556"/>
          </a:solidFill>
          <a:ln/>
        </p:spPr>
        <p:txBody>
          <a:bodyPr/>
          <a:lstStyle/>
          <a:p>
            <a:endParaRPr/>
          </a:p>
        </p:txBody>
      </p:sp>
      <p:pic>
        <p:nvPicPr>
          <p:cNvPr id="6" name="Image 0" descr="/home/claude/work/icons/trendup_FFFFFF.png"/>
          <p:cNvPicPr>
            <a:picLocks noChangeAspect="1"/>
          </p:cNvPicPr>
          <p:nvPr/>
        </p:nvPicPr>
        <p:blipFill>
          <a:blip r:embed="rId3"/>
          <a:stretch>
            <a:fillRect/>
          </a:stretch>
        </p:blipFill>
        <p:spPr>
          <a:xfrm>
            <a:off x="794431" y="1672255"/>
            <a:ext cx="294803" cy="294803"/>
          </a:xfrm>
          <a:prstGeom prst="rect">
            <a:avLst/>
          </a:prstGeom>
        </p:spPr>
      </p:pic>
      <p:sp>
        <p:nvSpPr>
          <p:cNvPr id="7" name="Text 4"/>
          <p:cNvSpPr/>
          <p:nvPr/>
        </p:nvSpPr>
        <p:spPr>
          <a:xfrm>
            <a:off x="1417320" y="1453896"/>
            <a:ext cx="1828800" cy="256032"/>
          </a:xfrm>
          <a:prstGeom prst="rect">
            <a:avLst/>
          </a:prstGeom>
          <a:noFill/>
          <a:ln/>
        </p:spPr>
        <p:txBody>
          <a:bodyPr wrap="square" lIns="0" tIns="0" rIns="0" bIns="0" rtlCol="0" anchor="ctr"/>
          <a:lstStyle/>
          <a:p>
            <a:pPr marL="0" indent="0">
              <a:buNone/>
            </a:pPr>
            <a:r>
              <a:rPr lang="en-US" sz="900" b="1" kern="0" spc="100" dirty="0">
                <a:solidFill>
                  <a:srgbClr val="1E6FA8"/>
                </a:solidFill>
                <a:latin typeface="Calibri" pitchFamily="34" charset="0"/>
                <a:ea typeface="Calibri" pitchFamily="34" charset="-122"/>
                <a:cs typeface="Calibri" pitchFamily="34" charset="-120"/>
              </a:rPr>
              <a:t>ENGAGEMENT</a:t>
            </a:r>
            <a:endParaRPr lang="en-US" sz="900" dirty="0"/>
          </a:p>
        </p:txBody>
      </p:sp>
      <p:sp>
        <p:nvSpPr>
          <p:cNvPr id="8" name="Text 5"/>
          <p:cNvSpPr/>
          <p:nvPr/>
        </p:nvSpPr>
        <p:spPr>
          <a:xfrm>
            <a:off x="1417320" y="1673352"/>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Activity is a two-month spike, not steady growth</a:t>
            </a:r>
            <a:endParaRPr lang="en-US" sz="1250" dirty="0"/>
          </a:p>
        </p:txBody>
      </p:sp>
      <p:sp>
        <p:nvSpPr>
          <p:cNvPr id="9" name="Text 6"/>
          <p:cNvSpPr/>
          <p:nvPr/>
        </p:nvSpPr>
        <p:spPr>
          <a:xfrm>
            <a:off x="1417320" y="1929384"/>
            <a:ext cx="10149840" cy="292608"/>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Evidence: May + June 2023 = 80.5% of all users (8,054 of 10,000).   </a:t>
            </a:r>
            <a:r>
              <a:rPr lang="en-US" sz="950" i="1" dirty="0">
                <a:solidFill>
                  <a:srgbClr val="1E6FA8"/>
                </a:solidFill>
                <a:latin typeface="Calibri" pitchFamily="34" charset="0"/>
                <a:ea typeface="Calibri" pitchFamily="34" charset="-122"/>
                <a:cs typeface="Calibri" pitchFamily="34" charset="-120"/>
              </a:rPr>
              <a:t>→ Treat the monthly trend as a concentration pattern until confirmed with the data owner — don't quote it as a growth rate.</a:t>
            </a:r>
            <a:endParaRPr lang="en-US" sz="950" dirty="0"/>
          </a:p>
        </p:txBody>
      </p:sp>
      <p:sp>
        <p:nvSpPr>
          <p:cNvPr id="10" name="Shape 7"/>
          <p:cNvSpPr/>
          <p:nvPr/>
        </p:nvSpPr>
        <p:spPr>
          <a:xfrm>
            <a:off x="457200" y="2350008"/>
            <a:ext cx="11292840" cy="822960"/>
          </a:xfrm>
          <a:prstGeom prst="roundRect">
            <a:avLst>
              <a:gd name="adj" fmla="val 888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1" name="Shape 8"/>
          <p:cNvSpPr/>
          <p:nvPr/>
        </p:nvSpPr>
        <p:spPr>
          <a:xfrm>
            <a:off x="658368" y="2468880"/>
            <a:ext cx="566928" cy="566928"/>
          </a:xfrm>
          <a:prstGeom prst="ellipse">
            <a:avLst/>
          </a:prstGeom>
          <a:solidFill>
            <a:srgbClr val="0B3556"/>
          </a:solidFill>
          <a:ln/>
        </p:spPr>
        <p:txBody>
          <a:bodyPr/>
          <a:lstStyle/>
          <a:p>
            <a:endParaRPr/>
          </a:p>
        </p:txBody>
      </p:sp>
      <p:pic>
        <p:nvPicPr>
          <p:cNvPr id="12" name="Image 1" descr="/home/claude/work/icons/tv_FFFFFF.png"/>
          <p:cNvPicPr>
            <a:picLocks noChangeAspect="1"/>
          </p:cNvPicPr>
          <p:nvPr/>
        </p:nvPicPr>
        <p:blipFill>
          <a:blip r:embed="rId4"/>
          <a:stretch>
            <a:fillRect/>
          </a:stretch>
        </p:blipFill>
        <p:spPr>
          <a:xfrm>
            <a:off x="794431" y="2604943"/>
            <a:ext cx="294803" cy="294803"/>
          </a:xfrm>
          <a:prstGeom prst="rect">
            <a:avLst/>
          </a:prstGeom>
        </p:spPr>
      </p:pic>
      <p:sp>
        <p:nvSpPr>
          <p:cNvPr id="13" name="Text 9"/>
          <p:cNvSpPr/>
          <p:nvPr/>
        </p:nvSpPr>
        <p:spPr>
          <a:xfrm>
            <a:off x="1417320" y="2386584"/>
            <a:ext cx="1828800" cy="256032"/>
          </a:xfrm>
          <a:prstGeom prst="rect">
            <a:avLst/>
          </a:prstGeom>
          <a:noFill/>
          <a:ln/>
        </p:spPr>
        <p:txBody>
          <a:bodyPr wrap="square" lIns="0" tIns="0" rIns="0" bIns="0" rtlCol="0" anchor="ctr"/>
          <a:lstStyle/>
          <a:p>
            <a:pPr marL="0" indent="0">
              <a:buNone/>
            </a:pPr>
            <a:r>
              <a:rPr lang="en-US" sz="900" b="1" kern="0" spc="100" dirty="0">
                <a:solidFill>
                  <a:srgbClr val="1E6FA8"/>
                </a:solidFill>
                <a:latin typeface="Calibri" pitchFamily="34" charset="0"/>
                <a:ea typeface="Calibri" pitchFamily="34" charset="-122"/>
                <a:cs typeface="Calibri" pitchFamily="34" charset="-120"/>
              </a:rPr>
              <a:t>CONTENT</a:t>
            </a:r>
            <a:endParaRPr lang="en-US" sz="900" dirty="0"/>
          </a:p>
        </p:txBody>
      </p:sp>
      <p:sp>
        <p:nvSpPr>
          <p:cNvPr id="14" name="Text 10"/>
          <p:cNvSpPr/>
          <p:nvPr/>
        </p:nvSpPr>
        <p:spPr>
          <a:xfrm>
            <a:off x="1417320" y="2606040"/>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Live TV and Series carry the platform, not Movies</a:t>
            </a:r>
            <a:endParaRPr lang="en-US" sz="1250" dirty="0"/>
          </a:p>
        </p:txBody>
      </p:sp>
      <p:sp>
        <p:nvSpPr>
          <p:cNvPr id="15" name="Text 11"/>
          <p:cNvSpPr/>
          <p:nvPr/>
        </p:nvSpPr>
        <p:spPr>
          <a:xfrm>
            <a:off x="1417320" y="2862072"/>
            <a:ext cx="10149840" cy="292608"/>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Evidence: Channel Live + Series = 97.7% of total streaming hours.   </a:t>
            </a:r>
            <a:r>
              <a:rPr lang="en-US" sz="950" i="1" dirty="0">
                <a:solidFill>
                  <a:srgbClr val="1E6FA8"/>
                </a:solidFill>
                <a:latin typeface="Calibri" pitchFamily="34" charset="0"/>
                <a:ea typeface="Calibri" pitchFamily="34" charset="-122"/>
                <a:cs typeface="Calibri" pitchFamily="34" charset="-120"/>
              </a:rPr>
              <a:t>→ Content licensing and catalog investment should prioritize these two formats.</a:t>
            </a:r>
            <a:endParaRPr lang="en-US" sz="950" dirty="0"/>
          </a:p>
        </p:txBody>
      </p:sp>
      <p:sp>
        <p:nvSpPr>
          <p:cNvPr id="16" name="Shape 12"/>
          <p:cNvSpPr/>
          <p:nvPr/>
        </p:nvSpPr>
        <p:spPr>
          <a:xfrm>
            <a:off x="457200" y="3282696"/>
            <a:ext cx="11292840" cy="822960"/>
          </a:xfrm>
          <a:prstGeom prst="roundRect">
            <a:avLst>
              <a:gd name="adj" fmla="val 888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7" name="Shape 13"/>
          <p:cNvSpPr/>
          <p:nvPr/>
        </p:nvSpPr>
        <p:spPr>
          <a:xfrm>
            <a:off x="658368" y="3401568"/>
            <a:ext cx="566928" cy="566928"/>
          </a:xfrm>
          <a:prstGeom prst="ellipse">
            <a:avLst/>
          </a:prstGeom>
          <a:solidFill>
            <a:srgbClr val="0B3556"/>
          </a:solidFill>
          <a:ln/>
        </p:spPr>
        <p:txBody>
          <a:bodyPr/>
          <a:lstStyle/>
          <a:p>
            <a:endParaRPr/>
          </a:p>
        </p:txBody>
      </p:sp>
      <p:pic>
        <p:nvPicPr>
          <p:cNvPr id="18" name="Image 2" descr="/home/claude/work/icons/mappin_FFFFFF.png"/>
          <p:cNvPicPr>
            <a:picLocks noChangeAspect="1"/>
          </p:cNvPicPr>
          <p:nvPr/>
        </p:nvPicPr>
        <p:blipFill>
          <a:blip r:embed="rId5"/>
          <a:stretch>
            <a:fillRect/>
          </a:stretch>
        </p:blipFill>
        <p:spPr>
          <a:xfrm>
            <a:off x="794431" y="3537631"/>
            <a:ext cx="294803" cy="294803"/>
          </a:xfrm>
          <a:prstGeom prst="rect">
            <a:avLst/>
          </a:prstGeom>
        </p:spPr>
      </p:pic>
      <p:sp>
        <p:nvSpPr>
          <p:cNvPr id="19" name="Text 14"/>
          <p:cNvSpPr/>
          <p:nvPr/>
        </p:nvSpPr>
        <p:spPr>
          <a:xfrm>
            <a:off x="1417320" y="3319272"/>
            <a:ext cx="1828800" cy="256032"/>
          </a:xfrm>
          <a:prstGeom prst="rect">
            <a:avLst/>
          </a:prstGeom>
          <a:noFill/>
          <a:ln/>
        </p:spPr>
        <p:txBody>
          <a:bodyPr wrap="square" lIns="0" tIns="0" rIns="0" bIns="0" rtlCol="0" anchor="ctr"/>
          <a:lstStyle/>
          <a:p>
            <a:pPr marL="0" indent="0">
              <a:buNone/>
            </a:pPr>
            <a:r>
              <a:rPr lang="en-US" sz="900" b="1" kern="0" spc="100" dirty="0">
                <a:solidFill>
                  <a:srgbClr val="1E6FA8"/>
                </a:solidFill>
                <a:latin typeface="Calibri" pitchFamily="34" charset="0"/>
                <a:ea typeface="Calibri" pitchFamily="34" charset="-122"/>
                <a:cs typeface="Calibri" pitchFamily="34" charset="-120"/>
              </a:rPr>
              <a:t>GEOGRAPHY</a:t>
            </a:r>
            <a:endParaRPr lang="en-US" sz="900" dirty="0"/>
          </a:p>
        </p:txBody>
      </p:sp>
      <p:sp>
        <p:nvSpPr>
          <p:cNvPr id="20" name="Text 15"/>
          <p:cNvSpPr/>
          <p:nvPr/>
        </p:nvSpPr>
        <p:spPr>
          <a:xfrm>
            <a:off x="1417320" y="3538728"/>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3 of 79 provinces hold 60% of the user base</a:t>
            </a:r>
            <a:endParaRPr lang="en-US" sz="1250" dirty="0"/>
          </a:p>
        </p:txBody>
      </p:sp>
      <p:sp>
        <p:nvSpPr>
          <p:cNvPr id="21" name="Text 16"/>
          <p:cNvSpPr/>
          <p:nvPr/>
        </p:nvSpPr>
        <p:spPr>
          <a:xfrm>
            <a:off x="1417320" y="3794760"/>
            <a:ext cx="10149840" cy="292608"/>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Evidence: Jakarta, West Java, East Java = 59.8% of national users.   </a:t>
            </a:r>
            <a:r>
              <a:rPr lang="en-US" sz="950" i="1" dirty="0">
                <a:solidFill>
                  <a:srgbClr val="1E6FA8"/>
                </a:solidFill>
                <a:latin typeface="Calibri" pitchFamily="34" charset="0"/>
                <a:ea typeface="Calibri" pitchFamily="34" charset="-122"/>
                <a:cs typeface="Calibri" pitchFamily="34" charset="-120"/>
              </a:rPr>
              <a:t>→ Prioritize these three for retention while piloting acquisition in smaller provinces.</a:t>
            </a:r>
            <a:endParaRPr lang="en-US" sz="950" dirty="0"/>
          </a:p>
        </p:txBody>
      </p:sp>
      <p:sp>
        <p:nvSpPr>
          <p:cNvPr id="22" name="Shape 17"/>
          <p:cNvSpPr/>
          <p:nvPr/>
        </p:nvSpPr>
        <p:spPr>
          <a:xfrm>
            <a:off x="457200" y="4215384"/>
            <a:ext cx="11292840" cy="822960"/>
          </a:xfrm>
          <a:prstGeom prst="roundRect">
            <a:avLst>
              <a:gd name="adj" fmla="val 888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23" name="Shape 18"/>
          <p:cNvSpPr/>
          <p:nvPr/>
        </p:nvSpPr>
        <p:spPr>
          <a:xfrm>
            <a:off x="658368" y="4334256"/>
            <a:ext cx="566928" cy="566928"/>
          </a:xfrm>
          <a:prstGeom prst="ellipse">
            <a:avLst/>
          </a:prstGeom>
          <a:solidFill>
            <a:srgbClr val="0B3556"/>
          </a:solidFill>
          <a:ln/>
        </p:spPr>
        <p:txBody>
          <a:bodyPr/>
          <a:lstStyle/>
          <a:p>
            <a:endParaRPr/>
          </a:p>
        </p:txBody>
      </p:sp>
      <p:pic>
        <p:nvPicPr>
          <p:cNvPr id="24" name="Image 3" descr="/home/claude/work/icons/package_FFFFFF.png"/>
          <p:cNvPicPr>
            <a:picLocks noChangeAspect="1"/>
          </p:cNvPicPr>
          <p:nvPr/>
        </p:nvPicPr>
        <p:blipFill>
          <a:blip r:embed="rId6"/>
          <a:stretch>
            <a:fillRect/>
          </a:stretch>
        </p:blipFill>
        <p:spPr>
          <a:xfrm>
            <a:off x="794431" y="4470319"/>
            <a:ext cx="294803" cy="294803"/>
          </a:xfrm>
          <a:prstGeom prst="rect">
            <a:avLst/>
          </a:prstGeom>
        </p:spPr>
      </p:pic>
      <p:sp>
        <p:nvSpPr>
          <p:cNvPr id="25" name="Text 19"/>
          <p:cNvSpPr/>
          <p:nvPr/>
        </p:nvSpPr>
        <p:spPr>
          <a:xfrm>
            <a:off x="1417320" y="4251960"/>
            <a:ext cx="1828800" cy="256032"/>
          </a:xfrm>
          <a:prstGeom prst="rect">
            <a:avLst/>
          </a:prstGeom>
          <a:noFill/>
          <a:ln/>
        </p:spPr>
        <p:txBody>
          <a:bodyPr wrap="square" lIns="0" tIns="0" rIns="0" bIns="0" rtlCol="0" anchor="ctr"/>
          <a:lstStyle/>
          <a:p>
            <a:pPr marL="0" indent="0">
              <a:buNone/>
            </a:pPr>
            <a:r>
              <a:rPr lang="en-US" sz="900" b="1" kern="0" spc="100" dirty="0">
                <a:solidFill>
                  <a:srgbClr val="1E6FA8"/>
                </a:solidFill>
                <a:latin typeface="Calibri" pitchFamily="34" charset="0"/>
                <a:ea typeface="Calibri" pitchFamily="34" charset="-122"/>
                <a:cs typeface="Calibri" pitchFamily="34" charset="-120"/>
              </a:rPr>
              <a:t>PACKAGE</a:t>
            </a:r>
            <a:endParaRPr lang="en-US" sz="900" dirty="0"/>
          </a:p>
        </p:txBody>
      </p:sp>
      <p:sp>
        <p:nvSpPr>
          <p:cNvPr id="26" name="Text 20"/>
          <p:cNvSpPr/>
          <p:nvPr/>
        </p:nvSpPr>
        <p:spPr>
          <a:xfrm>
            <a:off x="1417320" y="4471416"/>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Package tiers show no usage skew — yet</a:t>
            </a:r>
            <a:endParaRPr lang="en-US" sz="1250" dirty="0"/>
          </a:p>
        </p:txBody>
      </p:sp>
      <p:sp>
        <p:nvSpPr>
          <p:cNvPr id="27" name="Text 21"/>
          <p:cNvSpPr/>
          <p:nvPr/>
        </p:nvSpPr>
        <p:spPr>
          <a:xfrm>
            <a:off x="1417320" y="4727448"/>
            <a:ext cx="10149840" cy="292608"/>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Evidence: All four tiers sit at an identical 25% share (2,500 users each).   </a:t>
            </a:r>
            <a:r>
              <a:rPr lang="en-US" sz="950" i="1" dirty="0">
                <a:solidFill>
                  <a:srgbClr val="1E6FA8"/>
                </a:solidFill>
                <a:latin typeface="Calibri" pitchFamily="34" charset="0"/>
                <a:ea typeface="Calibri" pitchFamily="34" charset="-122"/>
                <a:cs typeface="Calibri" pitchFamily="34" charset="-120"/>
              </a:rPr>
              <a:t>→ Tier alone isn't a differentiator; pair with watch-hours per tier before making pricing or upsell decisions.</a:t>
            </a:r>
            <a:endParaRPr lang="en-US" sz="950" dirty="0"/>
          </a:p>
        </p:txBody>
      </p:sp>
      <p:sp>
        <p:nvSpPr>
          <p:cNvPr id="28" name="Shape 22"/>
          <p:cNvSpPr/>
          <p:nvPr/>
        </p:nvSpPr>
        <p:spPr>
          <a:xfrm>
            <a:off x="457200" y="5148072"/>
            <a:ext cx="11292840" cy="822960"/>
          </a:xfrm>
          <a:prstGeom prst="roundRect">
            <a:avLst>
              <a:gd name="adj" fmla="val 8889"/>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29" name="Shape 23"/>
          <p:cNvSpPr/>
          <p:nvPr/>
        </p:nvSpPr>
        <p:spPr>
          <a:xfrm>
            <a:off x="658368" y="5266944"/>
            <a:ext cx="566928" cy="566928"/>
          </a:xfrm>
          <a:prstGeom prst="ellipse">
            <a:avLst/>
          </a:prstGeom>
          <a:solidFill>
            <a:srgbClr val="0B3556"/>
          </a:solidFill>
          <a:ln/>
        </p:spPr>
        <p:txBody>
          <a:bodyPr/>
          <a:lstStyle/>
          <a:p>
            <a:endParaRPr/>
          </a:p>
        </p:txBody>
      </p:sp>
      <p:pic>
        <p:nvPicPr>
          <p:cNvPr id="30" name="Image 4" descr="/home/claude/work/icons/users_FFFFFF.png"/>
          <p:cNvPicPr>
            <a:picLocks noChangeAspect="1"/>
          </p:cNvPicPr>
          <p:nvPr/>
        </p:nvPicPr>
        <p:blipFill>
          <a:blip r:embed="rId7"/>
          <a:stretch>
            <a:fillRect/>
          </a:stretch>
        </p:blipFill>
        <p:spPr>
          <a:xfrm>
            <a:off x="794431" y="5403007"/>
            <a:ext cx="294803" cy="294803"/>
          </a:xfrm>
          <a:prstGeom prst="rect">
            <a:avLst/>
          </a:prstGeom>
        </p:spPr>
      </p:pic>
      <p:sp>
        <p:nvSpPr>
          <p:cNvPr id="31" name="Text 24"/>
          <p:cNvSpPr/>
          <p:nvPr/>
        </p:nvSpPr>
        <p:spPr>
          <a:xfrm>
            <a:off x="1417320" y="5184648"/>
            <a:ext cx="1828800" cy="256032"/>
          </a:xfrm>
          <a:prstGeom prst="rect">
            <a:avLst/>
          </a:prstGeom>
          <a:noFill/>
          <a:ln/>
        </p:spPr>
        <p:txBody>
          <a:bodyPr wrap="square" lIns="0" tIns="0" rIns="0" bIns="0" rtlCol="0" anchor="ctr"/>
          <a:lstStyle/>
          <a:p>
            <a:pPr marL="0" indent="0">
              <a:buNone/>
            </a:pPr>
            <a:r>
              <a:rPr lang="en-US" sz="900" b="1" kern="0" spc="100" dirty="0">
                <a:solidFill>
                  <a:srgbClr val="1E6FA8"/>
                </a:solidFill>
                <a:latin typeface="Calibri" pitchFamily="34" charset="0"/>
                <a:ea typeface="Calibri" pitchFamily="34" charset="-122"/>
                <a:cs typeface="Calibri" pitchFamily="34" charset="-120"/>
              </a:rPr>
              <a:t>DEMOGRAPHIC</a:t>
            </a:r>
            <a:endParaRPr lang="en-US" sz="900" dirty="0"/>
          </a:p>
        </p:txBody>
      </p:sp>
      <p:sp>
        <p:nvSpPr>
          <p:cNvPr id="32" name="Text 25"/>
          <p:cNvSpPr/>
          <p:nvPr/>
        </p:nvSpPr>
        <p:spPr>
          <a:xfrm>
            <a:off x="1417320" y="5404104"/>
            <a:ext cx="9966960" cy="27432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The core user is 26–35, and the Android figure needs a caveat</a:t>
            </a:r>
            <a:endParaRPr lang="en-US" sz="1250" dirty="0"/>
          </a:p>
        </p:txBody>
      </p:sp>
      <p:sp>
        <p:nvSpPr>
          <p:cNvPr id="33" name="Text 26"/>
          <p:cNvSpPr/>
          <p:nvPr/>
        </p:nvSpPr>
        <p:spPr>
          <a:xfrm>
            <a:off x="1417320" y="5660136"/>
            <a:ext cx="10149840" cy="292608"/>
          </a:xfrm>
          <a:prstGeom prst="rect">
            <a:avLst/>
          </a:prstGeom>
          <a:noFill/>
          <a:ln/>
        </p:spPr>
        <p:txBody>
          <a:bodyPr wrap="square" lIns="0" tIns="0" rIns="0" bIns="0" rtlCol="0" anchor="ctr"/>
          <a:lstStyle/>
          <a:p>
            <a:pPr marL="0" indent="0">
              <a:buNone/>
            </a:pPr>
            <a:r>
              <a:rPr lang="en-US" sz="950" dirty="0">
                <a:solidFill>
                  <a:srgbClr val="13212B"/>
                </a:solidFill>
                <a:latin typeface="Calibri" pitchFamily="34" charset="0"/>
                <a:ea typeface="Calibri" pitchFamily="34" charset="-122"/>
                <a:cs typeface="Calibri" pitchFamily="34" charset="-120"/>
              </a:rPr>
              <a:t>Evidence: 26–35 is the largest age group (46.3%); the 80/20 Android/iOS split is an ETL placeholder rule, not observed device data.   </a:t>
            </a:r>
            <a:r>
              <a:rPr lang="en-US" sz="950" i="1" dirty="0">
                <a:solidFill>
                  <a:srgbClr val="1E6FA8"/>
                </a:solidFill>
                <a:latin typeface="Calibri" pitchFamily="34" charset="0"/>
                <a:ea typeface="Calibri" pitchFamily="34" charset="-122"/>
                <a:cs typeface="Calibri" pitchFamily="34" charset="-120"/>
              </a:rPr>
              <a:t>→ Design around the 26–35 segment with confidence; verify device data at the source before acting on the OS split.</a:t>
            </a:r>
            <a:endParaRPr lang="en-US" sz="950" dirty="0"/>
          </a:p>
        </p:txBody>
      </p:sp>
      <p:sp>
        <p:nvSpPr>
          <p:cNvPr id="35" name="Text 27"/>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Key Insights</a:t>
            </a:r>
            <a:endParaRPr lang="en-US" sz="900" dirty="0"/>
          </a:p>
        </p:txBody>
      </p:sp>
      <p:sp>
        <p:nvSpPr>
          <p:cNvPr id="36" name="Text 28"/>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Recommendations &amp; Conclusion</a:t>
            </a:r>
            <a:endParaRPr lang="en-US" sz="2800" dirty="0"/>
          </a:p>
        </p:txBody>
      </p:sp>
      <p:sp>
        <p:nvSpPr>
          <p:cNvPr id="4" name="Shape 2"/>
          <p:cNvSpPr/>
          <p:nvPr/>
        </p:nvSpPr>
        <p:spPr>
          <a:xfrm>
            <a:off x="457200" y="1417320"/>
            <a:ext cx="11292840" cy="841248"/>
          </a:xfrm>
          <a:prstGeom prst="roundRect">
            <a:avLst>
              <a:gd name="adj" fmla="val 8696"/>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5" name="Shape 3"/>
          <p:cNvSpPr/>
          <p:nvPr/>
        </p:nvSpPr>
        <p:spPr>
          <a:xfrm>
            <a:off x="658368" y="1554480"/>
            <a:ext cx="548640" cy="548640"/>
          </a:xfrm>
          <a:prstGeom prst="ellipse">
            <a:avLst/>
          </a:prstGeom>
          <a:solidFill>
            <a:srgbClr val="1E6FA8"/>
          </a:solidFill>
          <a:ln/>
        </p:spPr>
        <p:txBody>
          <a:bodyPr/>
          <a:lstStyle/>
          <a:p>
            <a:endParaRPr/>
          </a:p>
        </p:txBody>
      </p:sp>
      <p:pic>
        <p:nvPicPr>
          <p:cNvPr id="6" name="Image 0" descr="/home/claude/work/icons/target_FFFFFF.png"/>
          <p:cNvPicPr>
            <a:picLocks noChangeAspect="1"/>
          </p:cNvPicPr>
          <p:nvPr/>
        </p:nvPicPr>
        <p:blipFill>
          <a:blip r:embed="rId3"/>
          <a:stretch>
            <a:fillRect/>
          </a:stretch>
        </p:blipFill>
        <p:spPr>
          <a:xfrm>
            <a:off x="790042" y="1686154"/>
            <a:ext cx="285293" cy="285293"/>
          </a:xfrm>
          <a:prstGeom prst="rect">
            <a:avLst/>
          </a:prstGeom>
        </p:spPr>
      </p:pic>
      <p:sp>
        <p:nvSpPr>
          <p:cNvPr id="7" name="Text 4"/>
          <p:cNvSpPr/>
          <p:nvPr/>
        </p:nvSpPr>
        <p:spPr>
          <a:xfrm>
            <a:off x="1417320" y="1490472"/>
            <a:ext cx="3108960" cy="68580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Product / Platform Team</a:t>
            </a:r>
            <a:endParaRPr lang="en-US" sz="1250" dirty="0"/>
          </a:p>
        </p:txBody>
      </p:sp>
      <p:sp>
        <p:nvSpPr>
          <p:cNvPr id="8" name="Text 5"/>
          <p:cNvSpPr/>
          <p:nvPr/>
        </p:nvSpPr>
        <p:spPr>
          <a:xfrm>
            <a:off x="4663440" y="1490472"/>
            <a:ext cx="6903720" cy="685800"/>
          </a:xfrm>
          <a:prstGeom prst="rect">
            <a:avLst/>
          </a:prstGeom>
          <a:noFill/>
          <a:ln/>
        </p:spPr>
        <p:txBody>
          <a:bodyPr wrap="square" lIns="0" tIns="0" rIns="0" bIns="0" rtlCol="0" anchor="ctr"/>
          <a:lstStyle/>
          <a:p>
            <a:pPr marL="0" indent="0">
              <a:buNone/>
            </a:pPr>
            <a:r>
              <a:rPr lang="en-US" sz="1050" dirty="0">
                <a:solidFill>
                  <a:srgbClr val="13212B"/>
                </a:solidFill>
                <a:latin typeface="Calibri" pitchFamily="34" charset="0"/>
                <a:ea typeface="Calibri" pitchFamily="34" charset="-122"/>
                <a:cs typeface="Calibri" pitchFamily="34" charset="-120"/>
              </a:rPr>
              <a:t>Investigate the May–Jun 2023 spike (data quality vs. real growth) before using MoM trend as a KPI target; verify Device OS at the source before any Android-first decision.</a:t>
            </a:r>
            <a:endParaRPr lang="en-US" sz="1050" dirty="0"/>
          </a:p>
        </p:txBody>
      </p:sp>
      <p:sp>
        <p:nvSpPr>
          <p:cNvPr id="9" name="Shape 6"/>
          <p:cNvSpPr/>
          <p:nvPr/>
        </p:nvSpPr>
        <p:spPr>
          <a:xfrm>
            <a:off x="457200" y="2350008"/>
            <a:ext cx="11292840" cy="841248"/>
          </a:xfrm>
          <a:prstGeom prst="roundRect">
            <a:avLst>
              <a:gd name="adj" fmla="val 8696"/>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0" name="Shape 7"/>
          <p:cNvSpPr/>
          <p:nvPr/>
        </p:nvSpPr>
        <p:spPr>
          <a:xfrm>
            <a:off x="658368" y="2487168"/>
            <a:ext cx="548640" cy="548640"/>
          </a:xfrm>
          <a:prstGeom prst="ellipse">
            <a:avLst/>
          </a:prstGeom>
          <a:solidFill>
            <a:srgbClr val="1E6FA8"/>
          </a:solidFill>
          <a:ln/>
        </p:spPr>
        <p:txBody>
          <a:bodyPr/>
          <a:lstStyle/>
          <a:p>
            <a:endParaRPr/>
          </a:p>
        </p:txBody>
      </p:sp>
      <p:pic>
        <p:nvPicPr>
          <p:cNvPr id="11" name="Image 1" descr="/home/claude/work/icons/tv_FFFFFF.png"/>
          <p:cNvPicPr>
            <a:picLocks noChangeAspect="1"/>
          </p:cNvPicPr>
          <p:nvPr/>
        </p:nvPicPr>
        <p:blipFill>
          <a:blip r:embed="rId4"/>
          <a:stretch>
            <a:fillRect/>
          </a:stretch>
        </p:blipFill>
        <p:spPr>
          <a:xfrm>
            <a:off x="790042" y="2618842"/>
            <a:ext cx="285293" cy="285293"/>
          </a:xfrm>
          <a:prstGeom prst="rect">
            <a:avLst/>
          </a:prstGeom>
        </p:spPr>
      </p:pic>
      <p:sp>
        <p:nvSpPr>
          <p:cNvPr id="12" name="Text 8"/>
          <p:cNvSpPr/>
          <p:nvPr/>
        </p:nvSpPr>
        <p:spPr>
          <a:xfrm>
            <a:off x="1417320" y="2423160"/>
            <a:ext cx="3108960" cy="68580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Content Team</a:t>
            </a:r>
            <a:endParaRPr lang="en-US" sz="1250" dirty="0"/>
          </a:p>
        </p:txBody>
      </p:sp>
      <p:sp>
        <p:nvSpPr>
          <p:cNvPr id="13" name="Text 9"/>
          <p:cNvSpPr/>
          <p:nvPr/>
        </p:nvSpPr>
        <p:spPr>
          <a:xfrm>
            <a:off x="4663440" y="2423160"/>
            <a:ext cx="6903720" cy="685800"/>
          </a:xfrm>
          <a:prstGeom prst="rect">
            <a:avLst/>
          </a:prstGeom>
          <a:noFill/>
          <a:ln/>
        </p:spPr>
        <p:txBody>
          <a:bodyPr wrap="square" lIns="0" tIns="0" rIns="0" bIns="0" rtlCol="0" anchor="ctr"/>
          <a:lstStyle/>
          <a:p>
            <a:pPr marL="0" indent="0">
              <a:buNone/>
            </a:pPr>
            <a:r>
              <a:rPr lang="en-US" sz="1050" dirty="0">
                <a:solidFill>
                  <a:srgbClr val="13212B"/>
                </a:solidFill>
                <a:latin typeface="Calibri" pitchFamily="34" charset="0"/>
                <a:ea typeface="Calibri" pitchFamily="34" charset="-122"/>
                <a:cs typeface="Calibri" pitchFamily="34" charset="-120"/>
              </a:rPr>
              <a:t>Prioritize Live + Series investment (97.7% of hours); use the 663-title catalog list to review underperforming long-tail titles.</a:t>
            </a:r>
            <a:endParaRPr lang="en-US" sz="1050" dirty="0"/>
          </a:p>
        </p:txBody>
      </p:sp>
      <p:sp>
        <p:nvSpPr>
          <p:cNvPr id="14" name="Shape 10"/>
          <p:cNvSpPr/>
          <p:nvPr/>
        </p:nvSpPr>
        <p:spPr>
          <a:xfrm>
            <a:off x="457200" y="3282696"/>
            <a:ext cx="11292840" cy="841248"/>
          </a:xfrm>
          <a:prstGeom prst="roundRect">
            <a:avLst>
              <a:gd name="adj" fmla="val 8696"/>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15" name="Shape 11"/>
          <p:cNvSpPr/>
          <p:nvPr/>
        </p:nvSpPr>
        <p:spPr>
          <a:xfrm>
            <a:off x="658368" y="3419856"/>
            <a:ext cx="548640" cy="548640"/>
          </a:xfrm>
          <a:prstGeom prst="ellipse">
            <a:avLst/>
          </a:prstGeom>
          <a:solidFill>
            <a:srgbClr val="1E6FA8"/>
          </a:solidFill>
          <a:ln/>
        </p:spPr>
        <p:txBody>
          <a:bodyPr/>
          <a:lstStyle/>
          <a:p>
            <a:endParaRPr/>
          </a:p>
        </p:txBody>
      </p:sp>
      <p:pic>
        <p:nvPicPr>
          <p:cNvPr id="16" name="Image 2" descr="/home/claude/work/icons/mappin_FFFFFF.png"/>
          <p:cNvPicPr>
            <a:picLocks noChangeAspect="1"/>
          </p:cNvPicPr>
          <p:nvPr/>
        </p:nvPicPr>
        <p:blipFill>
          <a:blip r:embed="rId5"/>
          <a:stretch>
            <a:fillRect/>
          </a:stretch>
        </p:blipFill>
        <p:spPr>
          <a:xfrm>
            <a:off x="790042" y="3551530"/>
            <a:ext cx="285293" cy="285293"/>
          </a:xfrm>
          <a:prstGeom prst="rect">
            <a:avLst/>
          </a:prstGeom>
        </p:spPr>
      </p:pic>
      <p:sp>
        <p:nvSpPr>
          <p:cNvPr id="17" name="Text 12"/>
          <p:cNvSpPr/>
          <p:nvPr/>
        </p:nvSpPr>
        <p:spPr>
          <a:xfrm>
            <a:off x="1417320" y="3355848"/>
            <a:ext cx="3108960" cy="68580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Marketing / Customer Team</a:t>
            </a:r>
            <a:endParaRPr lang="en-US" sz="1250" dirty="0"/>
          </a:p>
        </p:txBody>
      </p:sp>
      <p:sp>
        <p:nvSpPr>
          <p:cNvPr id="18" name="Text 13"/>
          <p:cNvSpPr/>
          <p:nvPr/>
        </p:nvSpPr>
        <p:spPr>
          <a:xfrm>
            <a:off x="4663440" y="3355848"/>
            <a:ext cx="6903720" cy="685800"/>
          </a:xfrm>
          <a:prstGeom prst="rect">
            <a:avLst/>
          </a:prstGeom>
          <a:noFill/>
          <a:ln/>
        </p:spPr>
        <p:txBody>
          <a:bodyPr wrap="square" lIns="0" tIns="0" rIns="0" bIns="0" rtlCol="0" anchor="ctr"/>
          <a:lstStyle/>
          <a:p>
            <a:pPr marL="0" indent="0">
              <a:buNone/>
            </a:pPr>
            <a:r>
              <a:rPr lang="en-US" sz="1050" dirty="0">
                <a:solidFill>
                  <a:srgbClr val="13212B"/>
                </a:solidFill>
                <a:latin typeface="Calibri" pitchFamily="34" charset="0"/>
                <a:ea typeface="Calibri" pitchFamily="34" charset="-122"/>
                <a:cs typeface="Calibri" pitchFamily="34" charset="-120"/>
              </a:rPr>
              <a:t>Focus acquisition and retention on Jakarta, West Java, East Java (59.8% of users); pilot lower-cost campaigns in the remaining provinces.</a:t>
            </a:r>
            <a:endParaRPr lang="en-US" sz="1050" dirty="0"/>
          </a:p>
        </p:txBody>
      </p:sp>
      <p:sp>
        <p:nvSpPr>
          <p:cNvPr id="19" name="Shape 14"/>
          <p:cNvSpPr/>
          <p:nvPr/>
        </p:nvSpPr>
        <p:spPr>
          <a:xfrm>
            <a:off x="457200" y="4215384"/>
            <a:ext cx="11292840" cy="841248"/>
          </a:xfrm>
          <a:prstGeom prst="roundRect">
            <a:avLst>
              <a:gd name="adj" fmla="val 8696"/>
            </a:avLst>
          </a:prstGeom>
          <a:solidFill>
            <a:srgbClr val="F5F7FA"/>
          </a:solidFill>
          <a:ln w="9525">
            <a:solidFill>
              <a:srgbClr val="D7DEE6"/>
            </a:solidFill>
            <a:prstDash val="solid"/>
          </a:ln>
          <a:effectLst>
            <a:outerShdw blurRad="76200" dist="25400" dir="5400000" algn="bl" rotWithShape="0">
              <a:srgbClr val="3A4552">
                <a:alpha val="18000"/>
              </a:srgbClr>
            </a:outerShdw>
          </a:effectLst>
        </p:spPr>
        <p:txBody>
          <a:bodyPr/>
          <a:lstStyle/>
          <a:p>
            <a:endParaRPr/>
          </a:p>
        </p:txBody>
      </p:sp>
      <p:sp>
        <p:nvSpPr>
          <p:cNvPr id="20" name="Shape 15"/>
          <p:cNvSpPr/>
          <p:nvPr/>
        </p:nvSpPr>
        <p:spPr>
          <a:xfrm>
            <a:off x="658368" y="4352544"/>
            <a:ext cx="548640" cy="548640"/>
          </a:xfrm>
          <a:prstGeom prst="ellipse">
            <a:avLst/>
          </a:prstGeom>
          <a:solidFill>
            <a:srgbClr val="1E6FA8"/>
          </a:solidFill>
          <a:ln/>
        </p:spPr>
        <p:txBody>
          <a:bodyPr/>
          <a:lstStyle/>
          <a:p>
            <a:endParaRPr/>
          </a:p>
        </p:txBody>
      </p:sp>
      <p:pic>
        <p:nvPicPr>
          <p:cNvPr id="21" name="Image 3" descr="/home/claude/work/icons/package_FFFFFF.png"/>
          <p:cNvPicPr>
            <a:picLocks noChangeAspect="1"/>
          </p:cNvPicPr>
          <p:nvPr/>
        </p:nvPicPr>
        <p:blipFill>
          <a:blip r:embed="rId6"/>
          <a:stretch>
            <a:fillRect/>
          </a:stretch>
        </p:blipFill>
        <p:spPr>
          <a:xfrm>
            <a:off x="790042" y="4484218"/>
            <a:ext cx="285293" cy="285293"/>
          </a:xfrm>
          <a:prstGeom prst="rect">
            <a:avLst/>
          </a:prstGeom>
        </p:spPr>
      </p:pic>
      <p:sp>
        <p:nvSpPr>
          <p:cNvPr id="22" name="Text 16"/>
          <p:cNvSpPr/>
          <p:nvPr/>
        </p:nvSpPr>
        <p:spPr>
          <a:xfrm>
            <a:off x="1417320" y="4288536"/>
            <a:ext cx="3108960" cy="685800"/>
          </a:xfrm>
          <a:prstGeom prst="rect">
            <a:avLst/>
          </a:prstGeom>
          <a:noFill/>
          <a:ln/>
        </p:spPr>
        <p:txBody>
          <a:bodyPr wrap="square" lIns="0" tIns="0" rIns="0" bIns="0" rtlCol="0" anchor="ctr"/>
          <a:lstStyle/>
          <a:p>
            <a:pPr marL="0" indent="0">
              <a:buNone/>
            </a:pPr>
            <a:r>
              <a:rPr lang="en-US" sz="1250" b="1" dirty="0">
                <a:solidFill>
                  <a:srgbClr val="0B3556"/>
                </a:solidFill>
                <a:latin typeface="Calibri" pitchFamily="34" charset="0"/>
                <a:ea typeface="Calibri" pitchFamily="34" charset="-122"/>
                <a:cs typeface="Calibri" pitchFamily="34" charset="-120"/>
              </a:rPr>
              <a:t>Management</a:t>
            </a:r>
            <a:endParaRPr lang="en-US" sz="1250" dirty="0"/>
          </a:p>
        </p:txBody>
      </p:sp>
      <p:sp>
        <p:nvSpPr>
          <p:cNvPr id="23" name="Text 17"/>
          <p:cNvSpPr/>
          <p:nvPr/>
        </p:nvSpPr>
        <p:spPr>
          <a:xfrm>
            <a:off x="4663440" y="4288536"/>
            <a:ext cx="6903720" cy="685800"/>
          </a:xfrm>
          <a:prstGeom prst="rect">
            <a:avLst/>
          </a:prstGeom>
          <a:noFill/>
          <a:ln/>
        </p:spPr>
        <p:txBody>
          <a:bodyPr wrap="square" lIns="0" tIns="0" rIns="0" bIns="0" rtlCol="0" anchor="ctr"/>
          <a:lstStyle/>
          <a:p>
            <a:pPr marL="0" indent="0">
              <a:buNone/>
            </a:pPr>
            <a:r>
              <a:rPr lang="en-US" sz="1050" dirty="0">
                <a:solidFill>
                  <a:srgbClr val="13212B"/>
                </a:solidFill>
                <a:latin typeface="Calibri" pitchFamily="34" charset="0"/>
                <a:ea typeface="Calibri" pitchFamily="34" charset="-122"/>
                <a:cs typeface="Calibri" pitchFamily="34" charset="-120"/>
              </a:rPr>
              <a:t>Commission a watch-hours-per-package study before any tier-pricing decision — the current 25/25/25/25 split shows no usage-based signal yet.</a:t>
            </a:r>
            <a:endParaRPr lang="en-US" sz="1050" dirty="0"/>
          </a:p>
        </p:txBody>
      </p:sp>
      <p:sp>
        <p:nvSpPr>
          <p:cNvPr id="24" name="Shape 18"/>
          <p:cNvSpPr/>
          <p:nvPr/>
        </p:nvSpPr>
        <p:spPr>
          <a:xfrm>
            <a:off x="457200" y="5285232"/>
            <a:ext cx="11292840" cy="1051560"/>
          </a:xfrm>
          <a:prstGeom prst="roundRect">
            <a:avLst>
              <a:gd name="adj" fmla="val 6957"/>
            </a:avLst>
          </a:prstGeom>
          <a:solidFill>
            <a:srgbClr val="0B3556"/>
          </a:solidFill>
          <a:ln w="9525">
            <a:solidFill>
              <a:srgbClr val="0B3556"/>
            </a:solidFill>
            <a:prstDash val="solid"/>
          </a:ln>
          <a:effectLst>
            <a:outerShdw blurRad="76200" dist="25400" dir="5400000" algn="bl" rotWithShape="0">
              <a:srgbClr val="3A4552">
                <a:alpha val="18000"/>
              </a:srgbClr>
            </a:outerShdw>
          </a:effectLst>
        </p:spPr>
        <p:txBody>
          <a:bodyPr/>
          <a:lstStyle/>
          <a:p>
            <a:endParaRPr/>
          </a:p>
        </p:txBody>
      </p:sp>
      <p:sp>
        <p:nvSpPr>
          <p:cNvPr id="25" name="Text 19"/>
          <p:cNvSpPr/>
          <p:nvPr/>
        </p:nvSpPr>
        <p:spPr>
          <a:xfrm>
            <a:off x="851764" y="5349240"/>
            <a:ext cx="19659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Monitoring</a:t>
            </a:r>
            <a:endParaRPr lang="en-US" sz="1000" dirty="0"/>
          </a:p>
        </p:txBody>
      </p:sp>
      <p:sp>
        <p:nvSpPr>
          <p:cNvPr id="26" name="Text 20"/>
          <p:cNvSpPr/>
          <p:nvPr/>
        </p:nvSpPr>
        <p:spPr>
          <a:xfrm>
            <a:off x="2817724" y="5349240"/>
            <a:ext cx="164592" cy="457200"/>
          </a:xfrm>
          <a:prstGeom prst="rect">
            <a:avLst/>
          </a:prstGeom>
          <a:noFill/>
          <a:ln/>
        </p:spPr>
        <p:txBody>
          <a:bodyPr wrap="square" lIns="0" tIns="0" rIns="0" bIns="0" rtlCol="0" anchor="ctr"/>
          <a:lstStyle/>
          <a:p>
            <a:pPr marL="0" indent="0" algn="ctr">
              <a:buNone/>
            </a:pPr>
            <a:r>
              <a:rPr lang="en-US" sz="1200" dirty="0">
                <a:solidFill>
                  <a:srgbClr val="3DB8F0"/>
                </a:solidFill>
                <a:latin typeface="Calibri" pitchFamily="34" charset="0"/>
                <a:ea typeface="Calibri" pitchFamily="34" charset="-122"/>
                <a:cs typeface="Calibri" pitchFamily="34" charset="-120"/>
              </a:rPr>
              <a:t>→</a:t>
            </a:r>
            <a:endParaRPr lang="en-US" sz="1200" dirty="0"/>
          </a:p>
        </p:txBody>
      </p:sp>
      <p:sp>
        <p:nvSpPr>
          <p:cNvPr id="27" name="Text 21"/>
          <p:cNvSpPr/>
          <p:nvPr/>
        </p:nvSpPr>
        <p:spPr>
          <a:xfrm>
            <a:off x="2982316" y="5349240"/>
            <a:ext cx="19659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Engagement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28" name="Text 22"/>
          <p:cNvSpPr/>
          <p:nvPr/>
        </p:nvSpPr>
        <p:spPr>
          <a:xfrm>
            <a:off x="4948276" y="5349240"/>
            <a:ext cx="164592" cy="457200"/>
          </a:xfrm>
          <a:prstGeom prst="rect">
            <a:avLst/>
          </a:prstGeom>
          <a:noFill/>
          <a:ln/>
        </p:spPr>
        <p:txBody>
          <a:bodyPr wrap="square" lIns="0" tIns="0" rIns="0" bIns="0" rtlCol="0" anchor="ctr"/>
          <a:lstStyle/>
          <a:p>
            <a:pPr marL="0" indent="0" algn="ctr">
              <a:buNone/>
            </a:pPr>
            <a:r>
              <a:rPr lang="en-US" sz="1200" dirty="0">
                <a:solidFill>
                  <a:srgbClr val="3DB8F0"/>
                </a:solidFill>
                <a:latin typeface="Calibri" pitchFamily="34" charset="0"/>
                <a:ea typeface="Calibri" pitchFamily="34" charset="-122"/>
                <a:cs typeface="Calibri" pitchFamily="34" charset="-120"/>
              </a:rPr>
              <a:t>→</a:t>
            </a:r>
            <a:endParaRPr lang="en-US" sz="1200" dirty="0"/>
          </a:p>
        </p:txBody>
      </p:sp>
      <p:sp>
        <p:nvSpPr>
          <p:cNvPr id="29" name="Text 23"/>
          <p:cNvSpPr/>
          <p:nvPr/>
        </p:nvSpPr>
        <p:spPr>
          <a:xfrm>
            <a:off x="5112868" y="5349240"/>
            <a:ext cx="19659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Content &amp; Package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Optimization</a:t>
            </a:r>
            <a:endParaRPr lang="en-US" sz="1000" dirty="0"/>
          </a:p>
        </p:txBody>
      </p:sp>
      <p:sp>
        <p:nvSpPr>
          <p:cNvPr id="30" name="Text 24"/>
          <p:cNvSpPr/>
          <p:nvPr/>
        </p:nvSpPr>
        <p:spPr>
          <a:xfrm>
            <a:off x="7078828" y="5349240"/>
            <a:ext cx="164592" cy="457200"/>
          </a:xfrm>
          <a:prstGeom prst="rect">
            <a:avLst/>
          </a:prstGeom>
          <a:noFill/>
          <a:ln/>
        </p:spPr>
        <p:txBody>
          <a:bodyPr wrap="square" lIns="0" tIns="0" rIns="0" bIns="0" rtlCol="0" anchor="ctr"/>
          <a:lstStyle/>
          <a:p>
            <a:pPr marL="0" indent="0" algn="ctr">
              <a:buNone/>
            </a:pPr>
            <a:r>
              <a:rPr lang="en-US" sz="1200" dirty="0">
                <a:solidFill>
                  <a:srgbClr val="3DB8F0"/>
                </a:solidFill>
                <a:latin typeface="Calibri" pitchFamily="34" charset="0"/>
                <a:ea typeface="Calibri" pitchFamily="34" charset="-122"/>
                <a:cs typeface="Calibri" pitchFamily="34" charset="-120"/>
              </a:rPr>
              <a:t>→</a:t>
            </a:r>
            <a:endParaRPr lang="en-US" sz="1200" dirty="0"/>
          </a:p>
        </p:txBody>
      </p:sp>
      <p:sp>
        <p:nvSpPr>
          <p:cNvPr id="31" name="Text 25"/>
          <p:cNvSpPr/>
          <p:nvPr/>
        </p:nvSpPr>
        <p:spPr>
          <a:xfrm>
            <a:off x="7243420" y="5349240"/>
            <a:ext cx="19659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Regional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Drill-down</a:t>
            </a:r>
            <a:endParaRPr lang="en-US" sz="1000" dirty="0"/>
          </a:p>
        </p:txBody>
      </p:sp>
      <p:sp>
        <p:nvSpPr>
          <p:cNvPr id="32" name="Text 26"/>
          <p:cNvSpPr/>
          <p:nvPr/>
        </p:nvSpPr>
        <p:spPr>
          <a:xfrm>
            <a:off x="9209380" y="5349240"/>
            <a:ext cx="164592" cy="457200"/>
          </a:xfrm>
          <a:prstGeom prst="rect">
            <a:avLst/>
          </a:prstGeom>
          <a:noFill/>
          <a:ln/>
        </p:spPr>
        <p:txBody>
          <a:bodyPr wrap="square" lIns="0" tIns="0" rIns="0" bIns="0" rtlCol="0" anchor="ctr"/>
          <a:lstStyle/>
          <a:p>
            <a:pPr marL="0" indent="0" algn="ctr">
              <a:buNone/>
            </a:pPr>
            <a:r>
              <a:rPr lang="en-US" sz="1200" dirty="0">
                <a:solidFill>
                  <a:srgbClr val="3DB8F0"/>
                </a:solidFill>
                <a:latin typeface="Calibri" pitchFamily="34" charset="0"/>
                <a:ea typeface="Calibri" pitchFamily="34" charset="-122"/>
                <a:cs typeface="Calibri" pitchFamily="34" charset="-120"/>
              </a:rPr>
              <a:t>→</a:t>
            </a:r>
            <a:endParaRPr lang="en-US" sz="1200" dirty="0"/>
          </a:p>
        </p:txBody>
      </p:sp>
      <p:sp>
        <p:nvSpPr>
          <p:cNvPr id="33" name="Text 27"/>
          <p:cNvSpPr/>
          <p:nvPr/>
        </p:nvSpPr>
        <p:spPr>
          <a:xfrm>
            <a:off x="9373972" y="5349240"/>
            <a:ext cx="1965960" cy="457200"/>
          </a:xfrm>
          <a:prstGeom prst="rect">
            <a:avLst/>
          </a:prstGeom>
          <a:solidFill>
            <a:srgbClr val="3DB8F0"/>
          </a:solidFill>
          <a:ln/>
        </p:spPr>
        <p:txBody>
          <a:bodyPr wrap="square" lIns="0" tIns="0" rIns="0" bIns="0" rtlCol="0" anchor="ctr"/>
          <a:lstStyle/>
          <a:p>
            <a:pPr marL="0" indent="0" algn="ctr">
              <a:buNone/>
            </a:pPr>
            <a:r>
              <a:rPr lang="en-US" sz="1000" b="1" dirty="0">
                <a:solidFill>
                  <a:srgbClr val="0B3556"/>
                </a:solidFill>
                <a:latin typeface="Calibri" pitchFamily="34" charset="0"/>
                <a:ea typeface="Calibri" pitchFamily="34" charset="-122"/>
                <a:cs typeface="Calibri" pitchFamily="34" charset="-120"/>
              </a:rPr>
              <a:t>Decision</a:t>
            </a:r>
            <a:endParaRPr lang="en-US" sz="1000" dirty="0"/>
          </a:p>
          <a:p>
            <a:pPr marL="0" indent="0" algn="ctr">
              <a:buNone/>
            </a:pPr>
            <a:r>
              <a:rPr lang="en-US" sz="1000" b="1" dirty="0">
                <a:solidFill>
                  <a:srgbClr val="0B3556"/>
                </a:solidFill>
                <a:latin typeface="Calibri" pitchFamily="34" charset="0"/>
                <a:ea typeface="Calibri" pitchFamily="34" charset="-122"/>
                <a:cs typeface="Calibri" pitchFamily="34" charset="-120"/>
              </a:rPr>
              <a:t>Support</a:t>
            </a:r>
            <a:endParaRPr lang="en-US" sz="1000" dirty="0"/>
          </a:p>
        </p:txBody>
      </p:sp>
      <p:sp>
        <p:nvSpPr>
          <p:cNvPr id="34" name="Text 28"/>
          <p:cNvSpPr/>
          <p:nvPr/>
        </p:nvSpPr>
        <p:spPr>
          <a:xfrm>
            <a:off x="731520" y="5806440"/>
            <a:ext cx="10744200" cy="457200"/>
          </a:xfrm>
          <a:prstGeom prst="rect">
            <a:avLst/>
          </a:prstGeom>
          <a:noFill/>
          <a:ln/>
        </p:spPr>
        <p:txBody>
          <a:bodyPr wrap="square" lIns="0" tIns="0" rIns="0" bIns="0" rtlCol="0" anchor="ctr"/>
          <a:lstStyle/>
          <a:p>
            <a:pPr marL="0" indent="0" algn="ctr">
              <a:buNone/>
            </a:pPr>
            <a:r>
              <a:rPr lang="en-US" sz="1000" i="1" dirty="0">
                <a:solidFill>
                  <a:srgbClr val="E4EEF8"/>
                </a:solidFill>
                <a:latin typeface="Calibri" pitchFamily="34" charset="0"/>
                <a:ea typeface="Calibri" pitchFamily="34" charset="-122"/>
                <a:cs typeface="Calibri" pitchFamily="34" charset="-120"/>
              </a:rPr>
              <a:t>This flow is how the dashboard supports better decisions: it takes a stakeholder from a raw number to a specific, regional, evidence-backed action in a few clicks.</a:t>
            </a:r>
            <a:endParaRPr lang="en-US" sz="1000" dirty="0"/>
          </a:p>
        </p:txBody>
      </p:sp>
      <p:sp>
        <p:nvSpPr>
          <p:cNvPr id="36" name="Text 29"/>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Recommendations &amp; Conclusion</a:t>
            </a:r>
            <a:endParaRPr lang="en-US" sz="900" dirty="0"/>
          </a:p>
        </p:txBody>
      </p:sp>
      <p:sp>
        <p:nvSpPr>
          <p:cNvPr id="37" name="Text 30"/>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APPENDIX A</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Key DAX Measures</a:t>
            </a:r>
            <a:endParaRPr lang="en-US" sz="2800" dirty="0"/>
          </a:p>
        </p:txBody>
      </p:sp>
      <p:sp>
        <p:nvSpPr>
          <p:cNvPr id="35" name="Text 27"/>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Appendix A — Key DAX</a:t>
            </a:r>
            <a:endParaRPr lang="en-US" sz="900" dirty="0"/>
          </a:p>
        </p:txBody>
      </p:sp>
      <p:sp>
        <p:nvSpPr>
          <p:cNvPr id="36" name="Text 28"/>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12 / 15</a:t>
            </a:r>
            <a:endParaRPr lang="en-US" sz="900" dirty="0"/>
          </a:p>
        </p:txBody>
      </p:sp>
      <p:graphicFrame>
        <p:nvGraphicFramePr>
          <p:cNvPr id="37" name="Table 36"/>
          <p:cNvGraphicFramePr>
            <a:graphicFrameLocks noGrp="1"/>
          </p:cNvGraphicFramePr>
          <p:nvPr/>
        </p:nvGraphicFramePr>
        <p:xfrm>
          <a:off x="548640" y="1463040"/>
          <a:ext cx="11091672" cy="3931920"/>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393192">
                <a:tc>
                  <a:txBody>
                    <a:bodyPr/>
                    <a:lstStyle/>
                    <a:p>
                      <a:r>
                        <a:rPr sz="1100" b="1">
                          <a:solidFill>
                            <a:srgbClr val="FFFFFF"/>
                          </a:solidFill>
                          <a:latin typeface="Calibri"/>
                        </a:rPr>
                        <a:t>Measure</a:t>
                      </a:r>
                    </a:p>
                  </a:txBody>
                  <a:tcPr marT="36576" marB="36576" anchor="ctr">
                    <a:solidFill>
                      <a:srgbClr val="0B3556"/>
                    </a:solidFill>
                  </a:tcPr>
                </a:tc>
                <a:tc>
                  <a:txBody>
                    <a:bodyPr/>
                    <a:lstStyle/>
                    <a:p>
                      <a:r>
                        <a:rPr sz="1100" b="1">
                          <a:solidFill>
                            <a:srgbClr val="FFFFFF"/>
                          </a:solidFill>
                          <a:latin typeface="Calibri"/>
                        </a:rPr>
                        <a:t>Table</a:t>
                      </a:r>
                    </a:p>
                  </a:txBody>
                  <a:tcPr marT="36576" marB="36576" anchor="ctr">
                    <a:solidFill>
                      <a:srgbClr val="0B3556"/>
                    </a:solidFill>
                  </a:tcPr>
                </a:tc>
                <a:tc>
                  <a:txBody>
                    <a:bodyPr/>
                    <a:lstStyle/>
                    <a:p>
                      <a:r>
                        <a:rPr sz="1100" b="1">
                          <a:solidFill>
                            <a:srgbClr val="FFFFFF"/>
                          </a:solidFill>
                          <a:latin typeface="Calibri"/>
                        </a:rPr>
                        <a:t>Business Purpose</a:t>
                      </a:r>
                    </a:p>
                  </a:txBody>
                  <a:tcPr marT="36576" marB="36576" anchor="ctr">
                    <a:solidFill>
                      <a:srgbClr val="0B3556"/>
                    </a:solidFill>
                  </a:tcPr>
                </a:tc>
                <a:extLst>
                  <a:ext uri="{0D108BD9-81ED-4DB2-BD59-A6C34878D82A}">
                    <a16:rowId xmlns:a16="http://schemas.microsoft.com/office/drawing/2014/main" val="10000"/>
                  </a:ext>
                </a:extLst>
              </a:tr>
              <a:tr h="393192">
                <a:tc>
                  <a:txBody>
                    <a:bodyPr/>
                    <a:lstStyle/>
                    <a:p>
                      <a:r>
                        <a:rPr sz="1050">
                          <a:solidFill>
                            <a:srgbClr val="13212B"/>
                          </a:solidFill>
                          <a:latin typeface="Calibri"/>
                        </a:rPr>
                        <a:t>Total Users</a:t>
                      </a:r>
                    </a:p>
                  </a:txBody>
                  <a:tcPr marT="36576" marB="36576" anchor="ctr">
                    <a:solidFill>
                      <a:srgbClr val="FFFFFF"/>
                    </a:solidFill>
                  </a:tcPr>
                </a:tc>
                <a:tc>
                  <a:txBody>
                    <a:bodyPr/>
                    <a:lstStyle/>
                    <a:p>
                      <a:r>
                        <a:rPr sz="1050">
                          <a:solidFill>
                            <a:srgbClr val="13212B"/>
                          </a:solidFill>
                          <a:latin typeface="Calibri"/>
                        </a:rPr>
                        <a:t>Fact_Streaming</a:t>
                      </a:r>
                    </a:p>
                  </a:txBody>
                  <a:tcPr marT="36576" marB="36576" anchor="ctr">
                    <a:solidFill>
                      <a:srgbClr val="FFFFFF"/>
                    </a:solidFill>
                  </a:tcPr>
                </a:tc>
                <a:tc>
                  <a:txBody>
                    <a:bodyPr/>
                    <a:lstStyle/>
                    <a:p>
                      <a:r>
                        <a:rPr sz="1050">
                          <a:solidFill>
                            <a:srgbClr val="13212B"/>
                          </a:solidFill>
                          <a:latin typeface="Calibri"/>
                        </a:rPr>
                        <a:t>Counts distinct viewers (DISTINCTCOUNT) — the headline user figure.</a:t>
                      </a:r>
                    </a:p>
                  </a:txBody>
                  <a:tcPr marT="36576" marB="36576" anchor="ctr">
                    <a:solidFill>
                      <a:srgbClr val="FFFFFF"/>
                    </a:solidFill>
                  </a:tcPr>
                </a:tc>
                <a:extLst>
                  <a:ext uri="{0D108BD9-81ED-4DB2-BD59-A6C34878D82A}">
                    <a16:rowId xmlns:a16="http://schemas.microsoft.com/office/drawing/2014/main" val="10001"/>
                  </a:ext>
                </a:extLst>
              </a:tr>
              <a:tr h="393192">
                <a:tc>
                  <a:txBody>
                    <a:bodyPr/>
                    <a:lstStyle/>
                    <a:p>
                      <a:r>
                        <a:rPr sz="1050">
                          <a:solidFill>
                            <a:srgbClr val="13212B"/>
                          </a:solidFill>
                          <a:latin typeface="Calibri"/>
                        </a:rPr>
                        <a:t>Users MoM %</a:t>
                      </a:r>
                    </a:p>
                  </a:txBody>
                  <a:tcPr marT="36576" marB="36576" anchor="ctr">
                    <a:solidFill>
                      <a:srgbClr val="F5F7FA"/>
                    </a:solidFill>
                  </a:tcPr>
                </a:tc>
                <a:tc>
                  <a:txBody>
                    <a:bodyPr/>
                    <a:lstStyle/>
                    <a:p>
                      <a:r>
                        <a:rPr sz="1050">
                          <a:solidFill>
                            <a:srgbClr val="13212B"/>
                          </a:solidFill>
                          <a:latin typeface="Calibri"/>
                        </a:rPr>
                        <a:t>Fact_Streaming</a:t>
                      </a:r>
                    </a:p>
                  </a:txBody>
                  <a:tcPr marT="36576" marB="36576" anchor="ctr">
                    <a:solidFill>
                      <a:srgbClr val="F5F7FA"/>
                    </a:solidFill>
                  </a:tcPr>
                </a:tc>
                <a:tc>
                  <a:txBody>
                    <a:bodyPr/>
                    <a:lstStyle/>
                    <a:p>
                      <a:r>
                        <a:rPr sz="1050">
                          <a:solidFill>
                            <a:srgbClr val="13212B"/>
                          </a:solidFill>
                          <a:latin typeface="Calibri"/>
                        </a:rPr>
                        <a:t>Month-over-month change via DATEADD — needs a single-month filter context to return a value.</a:t>
                      </a:r>
                    </a:p>
                  </a:txBody>
                  <a:tcPr marT="36576" marB="36576" anchor="ctr">
                    <a:solidFill>
                      <a:srgbClr val="F5F7FA"/>
                    </a:solidFill>
                  </a:tcPr>
                </a:tc>
                <a:extLst>
                  <a:ext uri="{0D108BD9-81ED-4DB2-BD59-A6C34878D82A}">
                    <a16:rowId xmlns:a16="http://schemas.microsoft.com/office/drawing/2014/main" val="10002"/>
                  </a:ext>
                </a:extLst>
              </a:tr>
              <a:tr h="393192">
                <a:tc>
                  <a:txBody>
                    <a:bodyPr/>
                    <a:lstStyle/>
                    <a:p>
                      <a:r>
                        <a:rPr sz="1050">
                          <a:solidFill>
                            <a:srgbClr val="13212B"/>
                          </a:solidFill>
                          <a:latin typeface="Calibri"/>
                        </a:rPr>
                        <a:t>Total Users with Trend</a:t>
                      </a:r>
                    </a:p>
                  </a:txBody>
                  <a:tcPr marT="36576" marB="36576" anchor="ctr">
                    <a:solidFill>
                      <a:srgbClr val="FFFFFF"/>
                    </a:solidFill>
                  </a:tcPr>
                </a:tc>
                <a:tc>
                  <a:txBody>
                    <a:bodyPr/>
                    <a:lstStyle/>
                    <a:p>
                      <a:r>
                        <a:rPr sz="1050">
                          <a:solidFill>
                            <a:srgbClr val="13212B"/>
                          </a:solidFill>
                          <a:latin typeface="Calibri"/>
                        </a:rPr>
                        <a:t>Fact_Streaming</a:t>
                      </a:r>
                    </a:p>
                  </a:txBody>
                  <a:tcPr marT="36576" marB="36576" anchor="ctr">
                    <a:solidFill>
                      <a:srgbClr val="FFFFFF"/>
                    </a:solidFill>
                  </a:tcPr>
                </a:tc>
                <a:tc>
                  <a:txBody>
                    <a:bodyPr/>
                    <a:lstStyle/>
                    <a:p>
                      <a:r>
                        <a:rPr sz="1050">
                          <a:solidFill>
                            <a:srgbClr val="13212B"/>
                          </a:solidFill>
                          <a:latin typeface="Calibri"/>
                        </a:rPr>
                        <a:t>Formats the user count with a ▲/▼ arrow and the MoM% into one display string.</a:t>
                      </a:r>
                    </a:p>
                  </a:txBody>
                  <a:tcPr marT="36576" marB="36576" anchor="ctr">
                    <a:solidFill>
                      <a:srgbClr val="FFFFFF"/>
                    </a:solidFill>
                  </a:tcPr>
                </a:tc>
                <a:extLst>
                  <a:ext uri="{0D108BD9-81ED-4DB2-BD59-A6C34878D82A}">
                    <a16:rowId xmlns:a16="http://schemas.microsoft.com/office/drawing/2014/main" val="10003"/>
                  </a:ext>
                </a:extLst>
              </a:tr>
              <a:tr h="393192">
                <a:tc>
                  <a:txBody>
                    <a:bodyPr/>
                    <a:lstStyle/>
                    <a:p>
                      <a:r>
                        <a:rPr sz="1050">
                          <a:solidFill>
                            <a:srgbClr val="13212B"/>
                          </a:solidFill>
                          <a:latin typeface="Calibri"/>
                        </a:rPr>
                        <a:t>% of National Users</a:t>
                      </a:r>
                    </a:p>
                  </a:txBody>
                  <a:tcPr marT="36576" marB="36576" anchor="ctr">
                    <a:solidFill>
                      <a:srgbClr val="F5F7FA"/>
                    </a:solidFill>
                  </a:tcPr>
                </a:tc>
                <a:tc>
                  <a:txBody>
                    <a:bodyPr/>
                    <a:lstStyle/>
                    <a:p>
                      <a:r>
                        <a:rPr sz="1050">
                          <a:solidFill>
                            <a:srgbClr val="13212B"/>
                          </a:solidFill>
                          <a:latin typeface="Calibri"/>
                        </a:rPr>
                        <a:t>Fact_Streaming</a:t>
                      </a:r>
                    </a:p>
                  </a:txBody>
                  <a:tcPr marT="36576" marB="36576" anchor="ctr">
                    <a:solidFill>
                      <a:srgbClr val="F5F7FA"/>
                    </a:solidFill>
                  </a:tcPr>
                </a:tc>
                <a:tc>
                  <a:txBody>
                    <a:bodyPr/>
                    <a:lstStyle/>
                    <a:p>
                      <a:r>
                        <a:rPr sz="1050">
                          <a:solidFill>
                            <a:srgbClr val="13212B"/>
                          </a:solidFill>
                          <a:latin typeface="Calibri"/>
                        </a:rPr>
                        <a:t>A province's users ÷ all provinces (ALL) — powers the province-share card.</a:t>
                      </a:r>
                    </a:p>
                  </a:txBody>
                  <a:tcPr marT="36576" marB="36576" anchor="ctr">
                    <a:solidFill>
                      <a:srgbClr val="F5F7FA"/>
                    </a:solidFill>
                  </a:tcPr>
                </a:tc>
                <a:extLst>
                  <a:ext uri="{0D108BD9-81ED-4DB2-BD59-A6C34878D82A}">
                    <a16:rowId xmlns:a16="http://schemas.microsoft.com/office/drawing/2014/main" val="10004"/>
                  </a:ext>
                </a:extLst>
              </a:tr>
              <a:tr h="393192">
                <a:tc>
                  <a:txBody>
                    <a:bodyPr/>
                    <a:lstStyle/>
                    <a:p>
                      <a:r>
                        <a:rPr sz="1050">
                          <a:solidFill>
                            <a:srgbClr val="13212B"/>
                          </a:solidFill>
                          <a:latin typeface="Calibri"/>
                        </a:rPr>
                        <a:t>Province Rank</a:t>
                      </a:r>
                    </a:p>
                  </a:txBody>
                  <a:tcPr marT="36576" marB="36576" anchor="ctr">
                    <a:solidFill>
                      <a:srgbClr val="FFFFFF"/>
                    </a:solidFill>
                  </a:tcPr>
                </a:tc>
                <a:tc>
                  <a:txBody>
                    <a:bodyPr/>
                    <a:lstStyle/>
                    <a:p>
                      <a:r>
                        <a:rPr sz="1050">
                          <a:solidFill>
                            <a:srgbClr val="13212B"/>
                          </a:solidFill>
                          <a:latin typeface="Calibri"/>
                        </a:rPr>
                        <a:t>Fact_Streaming</a:t>
                      </a:r>
                    </a:p>
                  </a:txBody>
                  <a:tcPr marT="36576" marB="36576" anchor="ctr">
                    <a:solidFill>
                      <a:srgbClr val="FFFFFF"/>
                    </a:solidFill>
                  </a:tcPr>
                </a:tc>
                <a:tc>
                  <a:txBody>
                    <a:bodyPr/>
                    <a:lstStyle/>
                    <a:p>
                      <a:r>
                        <a:rPr sz="1050">
                          <a:solidFill>
                            <a:srgbClr val="13212B"/>
                          </a:solidFill>
                          <a:latin typeface="Calibri"/>
                        </a:rPr>
                        <a:t>RANKX of provinces by Total Users — feeds the “Rank #X / 79” label.</a:t>
                      </a:r>
                    </a:p>
                  </a:txBody>
                  <a:tcPr marT="36576" marB="36576" anchor="ctr">
                    <a:solidFill>
                      <a:srgbClr val="FFFFFF"/>
                    </a:solidFill>
                  </a:tcPr>
                </a:tc>
                <a:extLst>
                  <a:ext uri="{0D108BD9-81ED-4DB2-BD59-A6C34878D82A}">
                    <a16:rowId xmlns:a16="http://schemas.microsoft.com/office/drawing/2014/main" val="10005"/>
                  </a:ext>
                </a:extLst>
              </a:tr>
              <a:tr h="393192">
                <a:tc>
                  <a:txBody>
                    <a:bodyPr/>
                    <a:lstStyle/>
                    <a:p>
                      <a:r>
                        <a:rPr sz="1050">
                          <a:solidFill>
                            <a:srgbClr val="13212B"/>
                          </a:solidFill>
                          <a:latin typeface="Calibri"/>
                        </a:rPr>
                        <a:t>Rank Label / Percent Label</a:t>
                      </a:r>
                    </a:p>
                  </a:txBody>
                  <a:tcPr marT="36576" marB="36576" anchor="ctr">
                    <a:solidFill>
                      <a:srgbClr val="F5F7FA"/>
                    </a:solidFill>
                  </a:tcPr>
                </a:tc>
                <a:tc>
                  <a:txBody>
                    <a:bodyPr/>
                    <a:lstStyle/>
                    <a:p>
                      <a:r>
                        <a:rPr sz="1050">
                          <a:solidFill>
                            <a:srgbClr val="13212B"/>
                          </a:solidFill>
                          <a:latin typeface="Calibri"/>
                        </a:rPr>
                        <a:t>Fact_Streaming</a:t>
                      </a:r>
                    </a:p>
                  </a:txBody>
                  <a:tcPr marT="36576" marB="36576" anchor="ctr">
                    <a:solidFill>
                      <a:srgbClr val="F5F7FA"/>
                    </a:solidFill>
                  </a:tcPr>
                </a:tc>
                <a:tc>
                  <a:txBody>
                    <a:bodyPr/>
                    <a:lstStyle/>
                    <a:p>
                      <a:r>
                        <a:rPr sz="1050">
                          <a:solidFill>
                            <a:srgbClr val="13212B"/>
                          </a:solidFill>
                          <a:latin typeface="Calibri"/>
                        </a:rPr>
                        <a:t>Dynamic text measures that assemble the rank and share strings on Detail Province.</a:t>
                      </a:r>
                    </a:p>
                  </a:txBody>
                  <a:tcPr marT="36576" marB="36576" anchor="ctr">
                    <a:solidFill>
                      <a:srgbClr val="F5F7FA"/>
                    </a:solidFill>
                  </a:tcPr>
                </a:tc>
                <a:extLst>
                  <a:ext uri="{0D108BD9-81ED-4DB2-BD59-A6C34878D82A}">
                    <a16:rowId xmlns:a16="http://schemas.microsoft.com/office/drawing/2014/main" val="10006"/>
                  </a:ext>
                </a:extLst>
              </a:tr>
              <a:tr h="393192">
                <a:tc>
                  <a:txBody>
                    <a:bodyPr/>
                    <a:lstStyle/>
                    <a:p>
                      <a:r>
                        <a:rPr sz="1050">
                          <a:solidFill>
                            <a:srgbClr val="13212B"/>
                          </a:solidFill>
                          <a:latin typeface="Calibri"/>
                        </a:rPr>
                        <a:t>Top Age Group / Top Content Type</a:t>
                      </a:r>
                    </a:p>
                  </a:txBody>
                  <a:tcPr marT="36576" marB="36576" anchor="ctr">
                    <a:solidFill>
                      <a:srgbClr val="FFFFFF"/>
                    </a:solidFill>
                  </a:tcPr>
                </a:tc>
                <a:tc>
                  <a:txBody>
                    <a:bodyPr/>
                    <a:lstStyle/>
                    <a:p>
                      <a:r>
                        <a:rPr sz="1050">
                          <a:solidFill>
                            <a:srgbClr val="13212B"/>
                          </a:solidFill>
                          <a:latin typeface="Calibri"/>
                        </a:rPr>
                        <a:t>Fact_Streaming</a:t>
                      </a:r>
                    </a:p>
                  </a:txBody>
                  <a:tcPr marT="36576" marB="36576" anchor="ctr">
                    <a:solidFill>
                      <a:srgbClr val="FFFFFF"/>
                    </a:solidFill>
                  </a:tcPr>
                </a:tc>
                <a:tc>
                  <a:txBody>
                    <a:bodyPr/>
                    <a:lstStyle/>
                    <a:p>
                      <a:r>
                        <a:rPr sz="1050">
                          <a:solidFill>
                            <a:srgbClr val="13212B"/>
                          </a:solidFill>
                          <a:latin typeface="Calibri"/>
                        </a:rPr>
                        <a:t>TOPN over a virtual table finds the dominant age bracket / content type in context.</a:t>
                      </a:r>
                    </a:p>
                  </a:txBody>
                  <a:tcPr marT="36576" marB="36576" anchor="ctr">
                    <a:solidFill>
                      <a:srgbClr val="FFFFFF"/>
                    </a:solidFill>
                  </a:tcPr>
                </a:tc>
                <a:extLst>
                  <a:ext uri="{0D108BD9-81ED-4DB2-BD59-A6C34878D82A}">
                    <a16:rowId xmlns:a16="http://schemas.microsoft.com/office/drawing/2014/main" val="10007"/>
                  </a:ext>
                </a:extLst>
              </a:tr>
              <a:tr h="393192">
                <a:tc>
                  <a:txBody>
                    <a:bodyPr/>
                    <a:lstStyle/>
                    <a:p>
                      <a:r>
                        <a:rPr sz="1050">
                          <a:solidFill>
                            <a:srgbClr val="13212B"/>
                          </a:solidFill>
                          <a:latin typeface="Calibri"/>
                        </a:rPr>
                        <a:t>Province Insight</a:t>
                      </a:r>
                    </a:p>
                  </a:txBody>
                  <a:tcPr marT="36576" marB="36576" anchor="ctr">
                    <a:solidFill>
                      <a:srgbClr val="F5F7FA"/>
                    </a:solidFill>
                  </a:tcPr>
                </a:tc>
                <a:tc>
                  <a:txBody>
                    <a:bodyPr/>
                    <a:lstStyle/>
                    <a:p>
                      <a:r>
                        <a:rPr sz="1050">
                          <a:solidFill>
                            <a:srgbClr val="13212B"/>
                          </a:solidFill>
                          <a:latin typeface="Calibri"/>
                        </a:rPr>
                        <a:t>Fact_Streaming</a:t>
                      </a:r>
                    </a:p>
                  </a:txBody>
                  <a:tcPr marT="36576" marB="36576" anchor="ctr">
                    <a:solidFill>
                      <a:srgbClr val="F5F7FA"/>
                    </a:solidFill>
                  </a:tcPr>
                </a:tc>
                <a:tc>
                  <a:txBody>
                    <a:bodyPr/>
                    <a:lstStyle/>
                    <a:p>
                      <a:r>
                        <a:rPr sz="1050">
                          <a:solidFill>
                            <a:srgbClr val="13212B"/>
                          </a:solidFill>
                          <a:latin typeface="Calibri"/>
                        </a:rPr>
                        <a:t>Concatenates the measures above into one Indonesian sentence per province.</a:t>
                      </a:r>
                    </a:p>
                  </a:txBody>
                  <a:tcPr marT="36576" marB="36576" anchor="ctr">
                    <a:solidFill>
                      <a:srgbClr val="F5F7FA"/>
                    </a:solidFill>
                  </a:tcPr>
                </a:tc>
                <a:extLst>
                  <a:ext uri="{0D108BD9-81ED-4DB2-BD59-A6C34878D82A}">
                    <a16:rowId xmlns:a16="http://schemas.microsoft.com/office/drawing/2014/main" val="10008"/>
                  </a:ext>
                </a:extLst>
              </a:tr>
              <a:tr h="393192">
                <a:tc>
                  <a:txBody>
                    <a:bodyPr/>
                    <a:lstStyle/>
                    <a:p>
                      <a:r>
                        <a:rPr sz="1050">
                          <a:solidFill>
                            <a:srgbClr val="13212B"/>
                          </a:solidFill>
                          <a:latin typeface="Calibri"/>
                        </a:rPr>
                        <a:t>Total Users PM / User Growth MoM %</a:t>
                      </a:r>
                    </a:p>
                  </a:txBody>
                  <a:tcPr marT="36576" marB="36576" anchor="ctr">
                    <a:solidFill>
                      <a:srgbClr val="FFFFFF"/>
                    </a:solidFill>
                  </a:tcPr>
                </a:tc>
                <a:tc>
                  <a:txBody>
                    <a:bodyPr/>
                    <a:lstStyle/>
                    <a:p>
                      <a:r>
                        <a:rPr sz="1050">
                          <a:solidFill>
                            <a:srgbClr val="13212B"/>
                          </a:solidFill>
                          <a:latin typeface="Calibri"/>
                        </a:rPr>
                        <a:t>Dim_Calendar</a:t>
                      </a:r>
                    </a:p>
                  </a:txBody>
                  <a:tcPr marT="36576" marB="36576" anchor="ctr">
                    <a:solidFill>
                      <a:srgbClr val="FFFFFF"/>
                    </a:solidFill>
                  </a:tcPr>
                </a:tc>
                <a:tc>
                  <a:txBody>
                    <a:bodyPr/>
                    <a:lstStyle/>
                    <a:p>
                      <a:r>
                        <a:rPr sz="1050">
                          <a:solidFill>
                            <a:srgbClr val="13212B"/>
                          </a:solidFill>
                          <a:latin typeface="Calibri"/>
                        </a:rPr>
                        <a:t>A parallel-period pair mirrored from Fact_Streaming for card conditional-formatting arrows.</a:t>
                      </a:r>
                    </a:p>
                  </a:txBody>
                  <a:tcPr marT="36576" marB="36576" anchor="ctr">
                    <a:solidFill>
                      <a:srgbClr val="FFFFFF"/>
                    </a:solidFill>
                  </a:tcPr>
                </a:tc>
                <a:extLst>
                  <a:ext uri="{0D108BD9-81ED-4DB2-BD59-A6C34878D82A}">
                    <a16:rowId xmlns:a16="http://schemas.microsoft.com/office/drawing/2014/main" val="10009"/>
                  </a:ext>
                </a:extLst>
              </a:tr>
            </a:tbl>
          </a:graphicData>
        </a:graphic>
      </p:graphicFrame>
      <p:sp>
        <p:nvSpPr>
          <p:cNvPr id="38" name="Rounded Rectangle 37"/>
          <p:cNvSpPr/>
          <p:nvPr/>
        </p:nvSpPr>
        <p:spPr>
          <a:xfrm>
            <a:off x="548640" y="6035040"/>
            <a:ext cx="11091672" cy="45720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6035040"/>
            <a:ext cx="10607040" cy="457200"/>
          </a:xfrm>
          <a:prstGeom prst="rect">
            <a:avLst/>
          </a:prstGeom>
          <a:noFill/>
        </p:spPr>
        <p:txBody>
          <a:bodyPr wrap="square" lIns="0" tIns="0" rIns="0" bIns="0" anchor="ctr">
            <a:spAutoFit/>
          </a:bodyPr>
          <a:lstStyle/>
          <a:p>
            <a:pPr algn="l"/>
            <a:r>
              <a:rPr sz="900" b="1" i="0">
                <a:solidFill>
                  <a:srgbClr val="1E6FA8"/>
                </a:solidFill>
                <a:latin typeface="Calibri"/>
              </a:rPr>
              <a:t>5 calculated columns</a:t>
            </a:r>
            <a:r>
              <a:rPr sz="900" b="0" i="0">
                <a:solidFill>
                  <a:srgbClr val="13212B"/>
                </a:solidFill>
                <a:latin typeface="Calibri"/>
              </a:rPr>
              <a:t> live on Dim_Calendar (Year, MonthName, MonthNumber, Quarter, QuarterSort). Power BI also auto-built 3 hidden date tables — one per date column not explicitly linked to Dim_Calendar — a cleanup opportunity: marking Dim_Calendar as the official date table would remove the duplicates.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APPENDIX B</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Data Model — Relationships &amp; Structure</a:t>
            </a:r>
            <a:endParaRPr lang="en-US" sz="2800" dirty="0"/>
          </a:p>
        </p:txBody>
      </p:sp>
      <p:sp>
        <p:nvSpPr>
          <p:cNvPr id="48" name="Text 40"/>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Appendix B — Data Model</a:t>
            </a:r>
            <a:endParaRPr lang="en-US" sz="900" dirty="0"/>
          </a:p>
        </p:txBody>
      </p:sp>
      <p:sp>
        <p:nvSpPr>
          <p:cNvPr id="49" name="Text 41"/>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13 / 15</a:t>
            </a:r>
            <a:endParaRPr lang="en-US" sz="900" dirty="0"/>
          </a:p>
        </p:txBody>
      </p:sp>
      <p:sp>
        <p:nvSpPr>
          <p:cNvPr id="50" name="Rounded Rectangle 49"/>
          <p:cNvSpPr/>
          <p:nvPr/>
        </p:nvSpPr>
        <p:spPr>
          <a:xfrm>
            <a:off x="548640" y="1508760"/>
            <a:ext cx="5394960" cy="160020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13232" y="1655063"/>
            <a:ext cx="411480" cy="411480"/>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mage.png"/>
          <p:cNvPicPr>
            <a:picLocks noChangeAspect="1"/>
          </p:cNvPicPr>
          <p:nvPr/>
        </p:nvPicPr>
        <p:blipFill>
          <a:blip r:embed="rId2"/>
          <a:stretch>
            <a:fillRect/>
          </a:stretch>
        </p:blipFill>
        <p:spPr>
          <a:xfrm>
            <a:off x="820216" y="1762048"/>
            <a:ext cx="197510" cy="197510"/>
          </a:xfrm>
          <a:prstGeom prst="rect">
            <a:avLst/>
          </a:prstGeom>
        </p:spPr>
      </p:pic>
      <p:sp>
        <p:nvSpPr>
          <p:cNvPr id="53" name="TextBox 52"/>
          <p:cNvSpPr txBox="1"/>
          <p:nvPr/>
        </p:nvSpPr>
        <p:spPr>
          <a:xfrm>
            <a:off x="1261872" y="1636776"/>
            <a:ext cx="3017520" cy="274320"/>
          </a:xfrm>
          <a:prstGeom prst="rect">
            <a:avLst/>
          </a:prstGeom>
          <a:noFill/>
        </p:spPr>
        <p:txBody>
          <a:bodyPr wrap="square" lIns="0" tIns="0" rIns="0" bIns="0" anchor="t">
            <a:spAutoFit/>
          </a:bodyPr>
          <a:lstStyle/>
          <a:p>
            <a:pPr algn="l"/>
            <a:r>
              <a:rPr sz="1250" b="1" i="0">
                <a:solidFill>
                  <a:srgbClr val="0B3556"/>
                </a:solidFill>
                <a:latin typeface="Calibri"/>
              </a:rPr>
              <a:t>Fact_Streaming ↔ Dim_Calendar</a:t>
            </a:r>
          </a:p>
        </p:txBody>
      </p:sp>
      <p:sp>
        <p:nvSpPr>
          <p:cNvPr id="54" name="TextBox 53"/>
          <p:cNvSpPr txBox="1"/>
          <p:nvPr/>
        </p:nvSpPr>
        <p:spPr>
          <a:xfrm>
            <a:off x="713232" y="2167128"/>
            <a:ext cx="5074920" cy="868680"/>
          </a:xfrm>
          <a:prstGeom prst="rect">
            <a:avLst/>
          </a:prstGeom>
          <a:noFill/>
        </p:spPr>
        <p:txBody>
          <a:bodyPr wrap="square" lIns="0" tIns="0" rIns="0" bIns="0" anchor="t">
            <a:spAutoFit/>
          </a:bodyPr>
          <a:lstStyle/>
          <a:p>
            <a:pPr algn="l"/>
            <a:r>
              <a:rPr sz="980" b="0" i="0">
                <a:solidFill>
                  <a:srgbClr val="13212B"/>
                </a:solidFill>
                <a:latin typeface="Calibri"/>
              </a:rPr>
              <a:t>Tanggal (Fact) relates to Date (Dim_Calendar) — required for the DATEADD time-intelligence measures to work. Direct relationship metadata wasn't exposed by this audit's extraction tool; verify cardinality and direction in Power BI's Model view.</a:t>
            </a:r>
          </a:p>
        </p:txBody>
      </p:sp>
      <p:sp>
        <p:nvSpPr>
          <p:cNvPr id="55" name="TextBox 54"/>
          <p:cNvSpPr txBox="1"/>
          <p:nvPr/>
        </p:nvSpPr>
        <p:spPr>
          <a:xfrm>
            <a:off x="4251959" y="1673351"/>
            <a:ext cx="1554480" cy="228600"/>
          </a:xfrm>
          <a:prstGeom prst="rect">
            <a:avLst/>
          </a:prstGeom>
          <a:noFill/>
        </p:spPr>
        <p:txBody>
          <a:bodyPr wrap="square" lIns="0" tIns="0" rIns="0" bIns="0" anchor="t">
            <a:spAutoFit/>
          </a:bodyPr>
          <a:lstStyle/>
          <a:p>
            <a:pPr algn="r"/>
            <a:r>
              <a:rPr sz="900" b="1" i="0">
                <a:solidFill>
                  <a:srgbClr val="1E6FA8"/>
                </a:solidFill>
                <a:latin typeface="Calibri"/>
              </a:rPr>
              <a:t>Many-to-one</a:t>
            </a:r>
          </a:p>
        </p:txBody>
      </p:sp>
      <p:sp>
        <p:nvSpPr>
          <p:cNvPr id="56" name="Rounded Rectangle 55"/>
          <p:cNvSpPr/>
          <p:nvPr/>
        </p:nvSpPr>
        <p:spPr>
          <a:xfrm>
            <a:off x="6217920" y="1508760"/>
            <a:ext cx="5394960" cy="160020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6382512" y="1655063"/>
            <a:ext cx="411480" cy="411480"/>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image.png"/>
          <p:cNvPicPr>
            <a:picLocks noChangeAspect="1"/>
          </p:cNvPicPr>
          <p:nvPr/>
        </p:nvPicPr>
        <p:blipFill>
          <a:blip r:embed="rId3"/>
          <a:stretch>
            <a:fillRect/>
          </a:stretch>
        </p:blipFill>
        <p:spPr>
          <a:xfrm>
            <a:off x="6489496" y="1762048"/>
            <a:ext cx="197510" cy="197510"/>
          </a:xfrm>
          <a:prstGeom prst="rect">
            <a:avLst/>
          </a:prstGeom>
        </p:spPr>
      </p:pic>
      <p:sp>
        <p:nvSpPr>
          <p:cNvPr id="59" name="TextBox 58"/>
          <p:cNvSpPr txBox="1"/>
          <p:nvPr/>
        </p:nvSpPr>
        <p:spPr>
          <a:xfrm>
            <a:off x="6931152" y="1636776"/>
            <a:ext cx="3017520" cy="274320"/>
          </a:xfrm>
          <a:prstGeom prst="rect">
            <a:avLst/>
          </a:prstGeom>
          <a:noFill/>
        </p:spPr>
        <p:txBody>
          <a:bodyPr wrap="square" lIns="0" tIns="0" rIns="0" bIns="0" anchor="t">
            <a:spAutoFit/>
          </a:bodyPr>
          <a:lstStyle/>
          <a:p>
            <a:pPr algn="l"/>
            <a:r>
              <a:rPr sz="1250" b="1" i="0">
                <a:solidFill>
                  <a:srgbClr val="0B3556"/>
                </a:solidFill>
                <a:latin typeface="Calibri"/>
              </a:rPr>
              <a:t>Metric Selector</a:t>
            </a:r>
          </a:p>
        </p:txBody>
      </p:sp>
      <p:sp>
        <p:nvSpPr>
          <p:cNvPr id="60" name="TextBox 59"/>
          <p:cNvSpPr txBox="1"/>
          <p:nvPr/>
        </p:nvSpPr>
        <p:spPr>
          <a:xfrm>
            <a:off x="6382512" y="2167128"/>
            <a:ext cx="5074920" cy="868680"/>
          </a:xfrm>
          <a:prstGeom prst="rect">
            <a:avLst/>
          </a:prstGeom>
          <a:noFill/>
        </p:spPr>
        <p:txBody>
          <a:bodyPr wrap="square" lIns="0" tIns="0" rIns="0" bIns="0" anchor="t">
            <a:spAutoFit/>
          </a:bodyPr>
          <a:lstStyle/>
          <a:p>
            <a:pPr algn="l"/>
            <a:r>
              <a:rPr sz="980" b="0" i="0">
                <a:solidFill>
                  <a:srgbClr val="13212B"/>
                </a:solidFill>
                <a:latin typeface="Calibri"/>
              </a:rPr>
              <a:t>Not related to any table — this is Power BI's native Field Parameter feature. Its 3 rows carry field references that the visual switches between.</a:t>
            </a:r>
          </a:p>
        </p:txBody>
      </p:sp>
      <p:sp>
        <p:nvSpPr>
          <p:cNvPr id="61" name="TextBox 60"/>
          <p:cNvSpPr txBox="1"/>
          <p:nvPr/>
        </p:nvSpPr>
        <p:spPr>
          <a:xfrm>
            <a:off x="9921240" y="1673351"/>
            <a:ext cx="1554480" cy="228600"/>
          </a:xfrm>
          <a:prstGeom prst="rect">
            <a:avLst/>
          </a:prstGeom>
          <a:noFill/>
        </p:spPr>
        <p:txBody>
          <a:bodyPr wrap="square" lIns="0" tIns="0" rIns="0" bIns="0" anchor="t">
            <a:spAutoFit/>
          </a:bodyPr>
          <a:lstStyle/>
          <a:p>
            <a:pPr algn="r"/>
            <a:r>
              <a:rPr sz="900" b="1" i="0">
                <a:solidFill>
                  <a:srgbClr val="1E6FA8"/>
                </a:solidFill>
                <a:latin typeface="Calibri"/>
              </a:rPr>
              <a:t>Disconnected</a:t>
            </a:r>
          </a:p>
        </p:txBody>
      </p:sp>
      <p:sp>
        <p:nvSpPr>
          <p:cNvPr id="62" name="Rounded Rectangle 61"/>
          <p:cNvSpPr/>
          <p:nvPr/>
        </p:nvSpPr>
        <p:spPr>
          <a:xfrm>
            <a:off x="548640" y="3246120"/>
            <a:ext cx="5394960" cy="160020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713232" y="3392424"/>
            <a:ext cx="411480" cy="411480"/>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image.png"/>
          <p:cNvPicPr>
            <a:picLocks noChangeAspect="1"/>
          </p:cNvPicPr>
          <p:nvPr/>
        </p:nvPicPr>
        <p:blipFill>
          <a:blip r:embed="rId4"/>
          <a:stretch>
            <a:fillRect/>
          </a:stretch>
        </p:blipFill>
        <p:spPr>
          <a:xfrm>
            <a:off x="820216" y="3499408"/>
            <a:ext cx="197510" cy="197510"/>
          </a:xfrm>
          <a:prstGeom prst="rect">
            <a:avLst/>
          </a:prstGeom>
        </p:spPr>
      </p:pic>
      <p:sp>
        <p:nvSpPr>
          <p:cNvPr id="65" name="TextBox 64"/>
          <p:cNvSpPr txBox="1"/>
          <p:nvPr/>
        </p:nvSpPr>
        <p:spPr>
          <a:xfrm>
            <a:off x="1261872" y="3374136"/>
            <a:ext cx="3017520" cy="274320"/>
          </a:xfrm>
          <a:prstGeom prst="rect">
            <a:avLst/>
          </a:prstGeom>
          <a:noFill/>
        </p:spPr>
        <p:txBody>
          <a:bodyPr wrap="square" lIns="0" tIns="0" rIns="0" bIns="0" anchor="t">
            <a:spAutoFit/>
          </a:bodyPr>
          <a:lstStyle/>
          <a:p>
            <a:pPr algn="l"/>
            <a:r>
              <a:rPr sz="1250" b="1" i="0">
                <a:solidFill>
                  <a:srgbClr val="0B3556"/>
                </a:solidFill>
                <a:latin typeface="Calibri"/>
              </a:rPr>
              <a:t>Ref_ProvinsiIndonesia</a:t>
            </a:r>
          </a:p>
        </p:txBody>
      </p:sp>
      <p:sp>
        <p:nvSpPr>
          <p:cNvPr id="66" name="TextBox 65"/>
          <p:cNvSpPr txBox="1"/>
          <p:nvPr/>
        </p:nvSpPr>
        <p:spPr>
          <a:xfrm>
            <a:off x="713232" y="3904487"/>
            <a:ext cx="5074920" cy="868680"/>
          </a:xfrm>
          <a:prstGeom prst="rect">
            <a:avLst/>
          </a:prstGeom>
          <a:noFill/>
        </p:spPr>
        <p:txBody>
          <a:bodyPr wrap="square" lIns="0" tIns="0" rIns="0" bIns="0" anchor="t">
            <a:spAutoFit/>
          </a:bodyPr>
          <a:lstStyle/>
          <a:p>
            <a:pPr algn="l"/>
            <a:r>
              <a:rPr sz="980" b="0" i="0">
                <a:solidFill>
                  <a:srgbClr val="13212B"/>
                </a:solidFill>
                <a:latin typeface="Calibri"/>
              </a:rPr>
              <a:t>38 standardized province names used during Power Query cleaning to fix text inconsistencies — not connected in the live model.</a:t>
            </a:r>
          </a:p>
        </p:txBody>
      </p:sp>
      <p:sp>
        <p:nvSpPr>
          <p:cNvPr id="67" name="TextBox 66"/>
          <p:cNvSpPr txBox="1"/>
          <p:nvPr/>
        </p:nvSpPr>
        <p:spPr>
          <a:xfrm>
            <a:off x="4251959" y="3410712"/>
            <a:ext cx="1554480" cy="228600"/>
          </a:xfrm>
          <a:prstGeom prst="rect">
            <a:avLst/>
          </a:prstGeom>
          <a:noFill/>
        </p:spPr>
        <p:txBody>
          <a:bodyPr wrap="square" lIns="0" tIns="0" rIns="0" bIns="0" anchor="t">
            <a:spAutoFit/>
          </a:bodyPr>
          <a:lstStyle/>
          <a:p>
            <a:pPr algn="r"/>
            <a:r>
              <a:rPr sz="900" b="1" i="0">
                <a:solidFill>
                  <a:srgbClr val="1E6FA8"/>
                </a:solidFill>
                <a:latin typeface="Calibri"/>
              </a:rPr>
              <a:t>Lookup only</a:t>
            </a:r>
          </a:p>
        </p:txBody>
      </p:sp>
      <p:sp>
        <p:nvSpPr>
          <p:cNvPr id="68" name="Rounded Rectangle 67"/>
          <p:cNvSpPr/>
          <p:nvPr/>
        </p:nvSpPr>
        <p:spPr>
          <a:xfrm>
            <a:off x="6217920" y="3246120"/>
            <a:ext cx="5394960" cy="160020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6382512" y="3392424"/>
            <a:ext cx="411480" cy="411480"/>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Picture 69" descr="gitbranch_FFFFFF.png"/>
          <p:cNvPicPr>
            <a:picLocks noChangeAspect="1"/>
          </p:cNvPicPr>
          <p:nvPr/>
        </p:nvPicPr>
        <p:blipFill>
          <a:blip r:embed="rId5"/>
          <a:stretch>
            <a:fillRect/>
          </a:stretch>
        </p:blipFill>
        <p:spPr>
          <a:xfrm>
            <a:off x="6489496" y="3499408"/>
            <a:ext cx="197510" cy="197510"/>
          </a:xfrm>
          <a:prstGeom prst="rect">
            <a:avLst/>
          </a:prstGeom>
        </p:spPr>
      </p:pic>
      <p:sp>
        <p:nvSpPr>
          <p:cNvPr id="71" name="TextBox 70"/>
          <p:cNvSpPr txBox="1"/>
          <p:nvPr/>
        </p:nvSpPr>
        <p:spPr>
          <a:xfrm>
            <a:off x="6931152" y="3374136"/>
            <a:ext cx="3017520" cy="274320"/>
          </a:xfrm>
          <a:prstGeom prst="rect">
            <a:avLst/>
          </a:prstGeom>
          <a:noFill/>
        </p:spPr>
        <p:txBody>
          <a:bodyPr wrap="square" lIns="0" tIns="0" rIns="0" bIns="0" anchor="t">
            <a:spAutoFit/>
          </a:bodyPr>
          <a:lstStyle/>
          <a:p>
            <a:pPr algn="l"/>
            <a:r>
              <a:rPr sz="1250" b="1" i="0">
                <a:solidFill>
                  <a:srgbClr val="0B3556"/>
                </a:solidFill>
                <a:latin typeface="Calibri"/>
              </a:rPr>
              <a:t>Auto Date Tables (×3)</a:t>
            </a:r>
          </a:p>
        </p:txBody>
      </p:sp>
      <p:sp>
        <p:nvSpPr>
          <p:cNvPr id="72" name="TextBox 71"/>
          <p:cNvSpPr txBox="1"/>
          <p:nvPr/>
        </p:nvSpPr>
        <p:spPr>
          <a:xfrm>
            <a:off x="6382512" y="3904487"/>
            <a:ext cx="5074920" cy="868680"/>
          </a:xfrm>
          <a:prstGeom prst="rect">
            <a:avLst/>
          </a:prstGeom>
          <a:noFill/>
        </p:spPr>
        <p:txBody>
          <a:bodyPr wrap="square" lIns="0" tIns="0" rIns="0" bIns="0" anchor="t">
            <a:spAutoFit/>
          </a:bodyPr>
          <a:lstStyle/>
          <a:p>
            <a:pPr algn="l"/>
            <a:r>
              <a:rPr sz="980" b="0" i="0">
                <a:solidFill>
                  <a:srgbClr val="13212B"/>
                </a:solidFill>
                <a:latin typeface="Calibri"/>
              </a:rPr>
              <a:t>Power BI's default behavior when a date column isn't linked through the official date table — each adds hidden Year/Month/Quarter columns duplicating Dim_Calendar's.</a:t>
            </a:r>
          </a:p>
        </p:txBody>
      </p:sp>
      <p:sp>
        <p:nvSpPr>
          <p:cNvPr id="73" name="TextBox 72"/>
          <p:cNvSpPr txBox="1"/>
          <p:nvPr/>
        </p:nvSpPr>
        <p:spPr>
          <a:xfrm>
            <a:off x="9921240" y="3410712"/>
            <a:ext cx="1554480" cy="228600"/>
          </a:xfrm>
          <a:prstGeom prst="rect">
            <a:avLst/>
          </a:prstGeom>
          <a:noFill/>
        </p:spPr>
        <p:txBody>
          <a:bodyPr wrap="square" lIns="0" tIns="0" rIns="0" bIns="0" anchor="t">
            <a:spAutoFit/>
          </a:bodyPr>
          <a:lstStyle/>
          <a:p>
            <a:pPr algn="r"/>
            <a:r>
              <a:rPr sz="900" b="1" i="0">
                <a:solidFill>
                  <a:srgbClr val="1E6FA8"/>
                </a:solidFill>
                <a:latin typeface="Calibri"/>
              </a:rPr>
              <a:t>Hidden ×3</a:t>
            </a:r>
          </a:p>
        </p:txBody>
      </p:sp>
      <p:sp>
        <p:nvSpPr>
          <p:cNvPr id="74" name="Rounded Rectangle 73"/>
          <p:cNvSpPr/>
          <p:nvPr/>
        </p:nvSpPr>
        <p:spPr>
          <a:xfrm>
            <a:off x="548640" y="5074920"/>
            <a:ext cx="11091672" cy="118872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77240" y="5257800"/>
            <a:ext cx="457200" cy="457200"/>
          </a:xfrm>
          <a:prstGeom prst="ellipse">
            <a:avLst/>
          </a:prstGeom>
          <a:solidFill>
            <a:srgbClr val="1E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6" name="Picture 75" descr="info_FFFFFF.png"/>
          <p:cNvPicPr>
            <a:picLocks noChangeAspect="1"/>
          </p:cNvPicPr>
          <p:nvPr/>
        </p:nvPicPr>
        <p:blipFill>
          <a:blip r:embed="rId6"/>
          <a:stretch>
            <a:fillRect/>
          </a:stretch>
        </p:blipFill>
        <p:spPr>
          <a:xfrm>
            <a:off x="896112" y="5376672"/>
            <a:ext cx="219456" cy="219456"/>
          </a:xfrm>
          <a:prstGeom prst="rect">
            <a:avLst/>
          </a:prstGeom>
        </p:spPr>
      </p:pic>
      <p:sp>
        <p:nvSpPr>
          <p:cNvPr id="77" name="TextBox 76"/>
          <p:cNvSpPr txBox="1"/>
          <p:nvPr/>
        </p:nvSpPr>
        <p:spPr>
          <a:xfrm>
            <a:off x="1417320" y="5212080"/>
            <a:ext cx="9966960" cy="292608"/>
          </a:xfrm>
          <a:prstGeom prst="rect">
            <a:avLst/>
          </a:prstGeom>
          <a:noFill/>
        </p:spPr>
        <p:txBody>
          <a:bodyPr wrap="square" lIns="0" tIns="0" rIns="0" bIns="0" anchor="t">
            <a:spAutoFit/>
          </a:bodyPr>
          <a:lstStyle/>
          <a:p>
            <a:pPr algn="l"/>
            <a:r>
              <a:rPr sz="1250" b="1" i="0">
                <a:solidFill>
                  <a:srgbClr val="0B3556"/>
                </a:solidFill>
                <a:latin typeface="Calibri"/>
              </a:rPr>
              <a:t>A note on this audit's limits</a:t>
            </a:r>
          </a:p>
        </p:txBody>
      </p:sp>
      <p:sp>
        <p:nvSpPr>
          <p:cNvPr id="78" name="TextBox 77"/>
          <p:cNvSpPr txBox="1"/>
          <p:nvPr/>
        </p:nvSpPr>
        <p:spPr>
          <a:xfrm>
            <a:off x="1417320" y="5513832"/>
            <a:ext cx="9966960" cy="640080"/>
          </a:xfrm>
          <a:prstGeom prst="rect">
            <a:avLst/>
          </a:prstGeom>
          <a:noFill/>
        </p:spPr>
        <p:txBody>
          <a:bodyPr wrap="square" lIns="0" tIns="0" rIns="0" bIns="0" anchor="t">
            <a:spAutoFit/>
          </a:bodyPr>
          <a:lstStyle/>
          <a:p>
            <a:pPr algn="l"/>
            <a:r>
              <a:rPr sz="980" b="0" i="0">
                <a:solidFill>
                  <a:srgbClr val="13212B"/>
                </a:solidFill>
                <a:latin typeface="Calibri"/>
              </a:rPr>
              <a:t>The extraction tool used for this audit could read every DAX measure, calculated column, and table row, but not the relationship graph itself. The relationship above is inferred from the fact that MoM measures using DATEADD actually work — treat it as highly likely, not directly confirmed.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APPENDIX C</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Interactivity</a:t>
            </a:r>
            <a:endParaRPr lang="en-US" sz="2800" dirty="0"/>
          </a:p>
        </p:txBody>
      </p:sp>
      <p:sp>
        <p:nvSpPr>
          <p:cNvPr id="35" name="Text 27"/>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Appendix C — Interactivity</a:t>
            </a:r>
            <a:endParaRPr lang="en-US" sz="900" dirty="0"/>
          </a:p>
        </p:txBody>
      </p:sp>
      <p:sp>
        <p:nvSpPr>
          <p:cNvPr id="36" name="Text 28"/>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14 / 15</a:t>
            </a:r>
            <a:endParaRPr lang="en-US" sz="900" dirty="0"/>
          </a:p>
        </p:txBody>
      </p:sp>
      <p:sp>
        <p:nvSpPr>
          <p:cNvPr id="37" name="Rounded Rectangle 36"/>
          <p:cNvSpPr/>
          <p:nvPr/>
        </p:nvSpPr>
        <p:spPr>
          <a:xfrm>
            <a:off x="457200" y="1417320"/>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58368" y="1545336"/>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filter_FFFFFF.png"/>
          <p:cNvPicPr>
            <a:picLocks noChangeAspect="1"/>
          </p:cNvPicPr>
          <p:nvPr/>
        </p:nvPicPr>
        <p:blipFill>
          <a:blip r:embed="rId2"/>
          <a:stretch>
            <a:fillRect/>
          </a:stretch>
        </p:blipFill>
        <p:spPr>
          <a:xfrm>
            <a:off x="805769" y="1692737"/>
            <a:ext cx="272125" cy="272125"/>
          </a:xfrm>
          <a:prstGeom prst="rect">
            <a:avLst/>
          </a:prstGeom>
        </p:spPr>
      </p:pic>
      <p:sp>
        <p:nvSpPr>
          <p:cNvPr id="40" name="TextBox 39"/>
          <p:cNvSpPr txBox="1"/>
          <p:nvPr/>
        </p:nvSpPr>
        <p:spPr>
          <a:xfrm>
            <a:off x="1417320" y="1453896"/>
            <a:ext cx="3657600" cy="256032"/>
          </a:xfrm>
          <a:prstGeom prst="rect">
            <a:avLst/>
          </a:prstGeom>
          <a:noFill/>
        </p:spPr>
        <p:txBody>
          <a:bodyPr wrap="square" lIns="0" tIns="0" rIns="0" bIns="0" anchor="t">
            <a:spAutoFit/>
          </a:bodyPr>
          <a:lstStyle/>
          <a:p>
            <a:pPr algn="l"/>
            <a:r>
              <a:rPr sz="950" b="1" i="0">
                <a:solidFill>
                  <a:srgbClr val="1E6FA8"/>
                </a:solidFill>
                <a:latin typeface="Calibri"/>
              </a:rPr>
              <a:t>MULTI-FIELD SLICERS</a:t>
            </a:r>
          </a:p>
        </p:txBody>
      </p:sp>
      <p:sp>
        <p:nvSpPr>
          <p:cNvPr id="41" name="TextBox 40"/>
          <p:cNvSpPr txBox="1"/>
          <p:nvPr/>
        </p:nvSpPr>
        <p:spPr>
          <a:xfrm>
            <a:off x="1417320" y="1673352"/>
            <a:ext cx="9966960" cy="274320"/>
          </a:xfrm>
          <a:prstGeom prst="rect">
            <a:avLst/>
          </a:prstGeom>
          <a:noFill/>
        </p:spPr>
        <p:txBody>
          <a:bodyPr wrap="square" lIns="0" tIns="0" rIns="0" bIns="0" anchor="t">
            <a:spAutoFit/>
          </a:bodyPr>
          <a:lstStyle/>
          <a:p>
            <a:pPr algn="l"/>
            <a:r>
              <a:rPr sz="1300" b="1" i="0">
                <a:solidFill>
                  <a:srgbClr val="0B3556"/>
                </a:solidFill>
                <a:latin typeface="Calibri"/>
              </a:rPr>
              <a:t>Five slicers on the Dashboard page</a:t>
            </a:r>
          </a:p>
        </p:txBody>
      </p:sp>
      <p:sp>
        <p:nvSpPr>
          <p:cNvPr id="42" name="TextBox 41"/>
          <p:cNvSpPr txBox="1"/>
          <p:nvPr/>
        </p:nvSpPr>
        <p:spPr>
          <a:xfrm>
            <a:off x="1417320" y="1929384"/>
            <a:ext cx="10149840" cy="292608"/>
          </a:xfrm>
          <a:prstGeom prst="rect">
            <a:avLst/>
          </a:prstGeom>
          <a:noFill/>
        </p:spPr>
        <p:txBody>
          <a:bodyPr wrap="square" lIns="0" tIns="0" rIns="0" bIns="0" anchor="t">
            <a:spAutoFit/>
          </a:bodyPr>
          <a:lstStyle/>
          <a:p>
            <a:pPr algn="l"/>
            <a:r>
              <a:rPr sz="980" b="0" i="0">
                <a:solidFill>
                  <a:srgbClr val="13212B"/>
                </a:solidFill>
                <a:latin typeface="Calibri"/>
              </a:rPr>
              <a:t>Date (Dim_Calendar), Province, Content Type, Package, and the Metric Selector field parameter.</a:t>
            </a:r>
          </a:p>
        </p:txBody>
      </p:sp>
      <p:sp>
        <p:nvSpPr>
          <p:cNvPr id="43" name="Rounded Rectangle 42"/>
          <p:cNvSpPr/>
          <p:nvPr/>
        </p:nvSpPr>
        <p:spPr>
          <a:xfrm>
            <a:off x="457200" y="2350008"/>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58368" y="2478024"/>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image.png"/>
          <p:cNvPicPr>
            <a:picLocks noChangeAspect="1"/>
          </p:cNvPicPr>
          <p:nvPr/>
        </p:nvPicPr>
        <p:blipFill>
          <a:blip r:embed="rId3"/>
          <a:stretch>
            <a:fillRect/>
          </a:stretch>
        </p:blipFill>
        <p:spPr>
          <a:xfrm>
            <a:off x="805769" y="2625425"/>
            <a:ext cx="272125" cy="272125"/>
          </a:xfrm>
          <a:prstGeom prst="rect">
            <a:avLst/>
          </a:prstGeom>
        </p:spPr>
      </p:pic>
      <p:sp>
        <p:nvSpPr>
          <p:cNvPr id="46" name="TextBox 45"/>
          <p:cNvSpPr txBox="1"/>
          <p:nvPr/>
        </p:nvSpPr>
        <p:spPr>
          <a:xfrm>
            <a:off x="1417320" y="2386584"/>
            <a:ext cx="3657600" cy="256032"/>
          </a:xfrm>
          <a:prstGeom prst="rect">
            <a:avLst/>
          </a:prstGeom>
          <a:noFill/>
        </p:spPr>
        <p:txBody>
          <a:bodyPr wrap="square" lIns="0" tIns="0" rIns="0" bIns="0" anchor="t">
            <a:spAutoFit/>
          </a:bodyPr>
          <a:lstStyle/>
          <a:p>
            <a:pPr algn="l"/>
            <a:r>
              <a:rPr sz="950" b="1" i="0">
                <a:solidFill>
                  <a:srgbClr val="1E6FA8"/>
                </a:solidFill>
                <a:latin typeface="Calibri"/>
              </a:rPr>
              <a:t>METRIC SELECTOR</a:t>
            </a:r>
          </a:p>
        </p:txBody>
      </p:sp>
      <p:sp>
        <p:nvSpPr>
          <p:cNvPr id="47" name="TextBox 46"/>
          <p:cNvSpPr txBox="1"/>
          <p:nvPr/>
        </p:nvSpPr>
        <p:spPr>
          <a:xfrm>
            <a:off x="1417320" y="2606040"/>
            <a:ext cx="9966960" cy="274320"/>
          </a:xfrm>
          <a:prstGeom prst="rect">
            <a:avLst/>
          </a:prstGeom>
          <a:noFill/>
        </p:spPr>
        <p:txBody>
          <a:bodyPr wrap="square" lIns="0" tIns="0" rIns="0" bIns="0" anchor="t">
            <a:spAutoFit/>
          </a:bodyPr>
          <a:lstStyle/>
          <a:p>
            <a:pPr algn="l"/>
            <a:r>
              <a:rPr sz="1300" b="1" i="0">
                <a:solidFill>
                  <a:srgbClr val="0B3556"/>
                </a:solidFill>
                <a:latin typeface="Calibri"/>
              </a:rPr>
              <a:t>One chart, three switchable metrics</a:t>
            </a:r>
          </a:p>
        </p:txBody>
      </p:sp>
      <p:sp>
        <p:nvSpPr>
          <p:cNvPr id="48" name="TextBox 47"/>
          <p:cNvSpPr txBox="1"/>
          <p:nvPr/>
        </p:nvSpPr>
        <p:spPr>
          <a:xfrm>
            <a:off x="1417320" y="2862072"/>
            <a:ext cx="10149840" cy="292608"/>
          </a:xfrm>
          <a:prstGeom prst="rect">
            <a:avLst/>
          </a:prstGeom>
          <a:noFill/>
        </p:spPr>
        <p:txBody>
          <a:bodyPr wrap="square" lIns="0" tIns="0" rIns="0" bIns="0" anchor="t">
            <a:spAutoFit/>
          </a:bodyPr>
          <a:lstStyle/>
          <a:p>
            <a:pPr algn="l"/>
            <a:r>
              <a:rPr sz="980" b="0" i="0">
                <a:solidFill>
                  <a:srgbClr val="13212B"/>
                </a:solidFill>
                <a:latin typeface="Calibri"/>
              </a:rPr>
              <a:t>A field-parameter slicer lets the same line chart display Total Users, Streaming Hours, or Avg Watch Time without duplicating visuals.</a:t>
            </a:r>
          </a:p>
        </p:txBody>
      </p:sp>
      <p:sp>
        <p:nvSpPr>
          <p:cNvPr id="49" name="Rounded Rectangle 48"/>
          <p:cNvSpPr/>
          <p:nvPr/>
        </p:nvSpPr>
        <p:spPr>
          <a:xfrm>
            <a:off x="457200" y="3282696"/>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58368" y="3410712"/>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image.png"/>
          <p:cNvPicPr>
            <a:picLocks noChangeAspect="1"/>
          </p:cNvPicPr>
          <p:nvPr/>
        </p:nvPicPr>
        <p:blipFill>
          <a:blip r:embed="rId4"/>
          <a:stretch>
            <a:fillRect/>
          </a:stretch>
        </p:blipFill>
        <p:spPr>
          <a:xfrm>
            <a:off x="805769" y="3558113"/>
            <a:ext cx="272125" cy="272125"/>
          </a:xfrm>
          <a:prstGeom prst="rect">
            <a:avLst/>
          </a:prstGeom>
        </p:spPr>
      </p:pic>
      <p:sp>
        <p:nvSpPr>
          <p:cNvPr id="52" name="TextBox 51"/>
          <p:cNvSpPr txBox="1"/>
          <p:nvPr/>
        </p:nvSpPr>
        <p:spPr>
          <a:xfrm>
            <a:off x="1417320" y="3319272"/>
            <a:ext cx="3657600" cy="256032"/>
          </a:xfrm>
          <a:prstGeom prst="rect">
            <a:avLst/>
          </a:prstGeom>
          <a:noFill/>
        </p:spPr>
        <p:txBody>
          <a:bodyPr wrap="square" lIns="0" tIns="0" rIns="0" bIns="0" anchor="t">
            <a:spAutoFit/>
          </a:bodyPr>
          <a:lstStyle/>
          <a:p>
            <a:pPr algn="l"/>
            <a:r>
              <a:rPr sz="950" b="1" i="0">
                <a:solidFill>
                  <a:srgbClr val="1E6FA8"/>
                </a:solidFill>
                <a:latin typeface="Calibri"/>
              </a:rPr>
              <a:t>MAP-DRIVEN NAVIGATION</a:t>
            </a:r>
          </a:p>
        </p:txBody>
      </p:sp>
      <p:sp>
        <p:nvSpPr>
          <p:cNvPr id="53" name="TextBox 52"/>
          <p:cNvSpPr txBox="1"/>
          <p:nvPr/>
        </p:nvSpPr>
        <p:spPr>
          <a:xfrm>
            <a:off x="1417320" y="3538728"/>
            <a:ext cx="9966960" cy="274320"/>
          </a:xfrm>
          <a:prstGeom prst="rect">
            <a:avLst/>
          </a:prstGeom>
          <a:noFill/>
        </p:spPr>
        <p:txBody>
          <a:bodyPr wrap="square" lIns="0" tIns="0" rIns="0" bIns="0" anchor="t">
            <a:spAutoFit/>
          </a:bodyPr>
          <a:lstStyle/>
          <a:p>
            <a:pPr algn="l"/>
            <a:r>
              <a:rPr sz="1300" b="1" i="0">
                <a:solidFill>
                  <a:srgbClr val="0B3556"/>
                </a:solidFill>
                <a:latin typeface="Calibri"/>
              </a:rPr>
              <a:t>Click a province dot to drill down</a:t>
            </a:r>
          </a:p>
        </p:txBody>
      </p:sp>
      <p:sp>
        <p:nvSpPr>
          <p:cNvPr id="54" name="TextBox 53"/>
          <p:cNvSpPr txBox="1"/>
          <p:nvPr/>
        </p:nvSpPr>
        <p:spPr>
          <a:xfrm>
            <a:off x="1417320" y="3794760"/>
            <a:ext cx="10149840" cy="292608"/>
          </a:xfrm>
          <a:prstGeom prst="rect">
            <a:avLst/>
          </a:prstGeom>
          <a:noFill/>
        </p:spPr>
        <p:txBody>
          <a:bodyPr wrap="square" lIns="0" tIns="0" rIns="0" bIns="0" anchor="t">
            <a:spAutoFit/>
          </a:bodyPr>
          <a:lstStyle/>
          <a:p>
            <a:pPr algn="l"/>
            <a:r>
              <a:rPr sz="980" b="0" i="0">
                <a:solidFill>
                  <a:srgbClr val="13212B"/>
                </a:solidFill>
                <a:latin typeface="Calibri"/>
              </a:rPr>
              <a:t>Clicking a province on the national map carries a page-level Province filter into Detail Province — the on-page tip literally instructs users to click.</a:t>
            </a:r>
          </a:p>
        </p:txBody>
      </p:sp>
      <p:sp>
        <p:nvSpPr>
          <p:cNvPr id="55" name="Rounded Rectangle 54"/>
          <p:cNvSpPr/>
          <p:nvPr/>
        </p:nvSpPr>
        <p:spPr>
          <a:xfrm>
            <a:off x="457200" y="4215384"/>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58368" y="4343400"/>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back_FFFFFF.png"/>
          <p:cNvPicPr>
            <a:picLocks noChangeAspect="1"/>
          </p:cNvPicPr>
          <p:nvPr/>
        </p:nvPicPr>
        <p:blipFill>
          <a:blip r:embed="rId5"/>
          <a:stretch>
            <a:fillRect/>
          </a:stretch>
        </p:blipFill>
        <p:spPr>
          <a:xfrm>
            <a:off x="805769" y="4490801"/>
            <a:ext cx="272125" cy="272125"/>
          </a:xfrm>
          <a:prstGeom prst="rect">
            <a:avLst/>
          </a:prstGeom>
        </p:spPr>
      </p:pic>
      <p:sp>
        <p:nvSpPr>
          <p:cNvPr id="58" name="TextBox 57"/>
          <p:cNvSpPr txBox="1"/>
          <p:nvPr/>
        </p:nvSpPr>
        <p:spPr>
          <a:xfrm>
            <a:off x="1417320" y="4251960"/>
            <a:ext cx="3657600" cy="256032"/>
          </a:xfrm>
          <a:prstGeom prst="rect">
            <a:avLst/>
          </a:prstGeom>
          <a:noFill/>
        </p:spPr>
        <p:txBody>
          <a:bodyPr wrap="square" lIns="0" tIns="0" rIns="0" bIns="0" anchor="t">
            <a:spAutoFit/>
          </a:bodyPr>
          <a:lstStyle/>
          <a:p>
            <a:pPr algn="l"/>
            <a:r>
              <a:rPr sz="950" b="1" i="0">
                <a:solidFill>
                  <a:srgbClr val="1E6FA8"/>
                </a:solidFill>
                <a:latin typeface="Calibri"/>
              </a:rPr>
              <a:t>BACK &amp; RESET BUTTONS</a:t>
            </a:r>
          </a:p>
        </p:txBody>
      </p:sp>
      <p:sp>
        <p:nvSpPr>
          <p:cNvPr id="59" name="TextBox 58"/>
          <p:cNvSpPr txBox="1"/>
          <p:nvPr/>
        </p:nvSpPr>
        <p:spPr>
          <a:xfrm>
            <a:off x="1417320" y="4471416"/>
            <a:ext cx="9966960" cy="274320"/>
          </a:xfrm>
          <a:prstGeom prst="rect">
            <a:avLst/>
          </a:prstGeom>
          <a:noFill/>
        </p:spPr>
        <p:txBody>
          <a:bodyPr wrap="square" lIns="0" tIns="0" rIns="0" bIns="0" anchor="t">
            <a:spAutoFit/>
          </a:bodyPr>
          <a:lstStyle/>
          <a:p>
            <a:pPr algn="l"/>
            <a:r>
              <a:rPr sz="1300" b="1" i="0">
                <a:solidFill>
                  <a:srgbClr val="0B3556"/>
                </a:solidFill>
                <a:latin typeface="Calibri"/>
              </a:rPr>
              <a:t>One-click return to a clean state</a:t>
            </a:r>
          </a:p>
        </p:txBody>
      </p:sp>
      <p:sp>
        <p:nvSpPr>
          <p:cNvPr id="60" name="TextBox 59"/>
          <p:cNvSpPr txBox="1"/>
          <p:nvPr/>
        </p:nvSpPr>
        <p:spPr>
          <a:xfrm>
            <a:off x="1417320" y="4727448"/>
            <a:ext cx="10149840" cy="292608"/>
          </a:xfrm>
          <a:prstGeom prst="rect">
            <a:avLst/>
          </a:prstGeom>
          <a:noFill/>
        </p:spPr>
        <p:txBody>
          <a:bodyPr wrap="square" lIns="0" tIns="0" rIns="0" bIns="0" anchor="t">
            <a:spAutoFit/>
          </a:bodyPr>
          <a:lstStyle/>
          <a:p>
            <a:pPr algn="l"/>
            <a:r>
              <a:rPr sz="980" b="0" i="0">
                <a:solidFill>
                  <a:srgbClr val="13212B"/>
                </a:solidFill>
                <a:latin typeface="Calibri"/>
              </a:rPr>
              <a:t>A native Back button plus a Reset Filter button clear slicer selections without leaving the page.</a:t>
            </a:r>
          </a:p>
        </p:txBody>
      </p:sp>
      <p:sp>
        <p:nvSpPr>
          <p:cNvPr id="61" name="Rounded Rectangle 60"/>
          <p:cNvSpPr/>
          <p:nvPr/>
        </p:nvSpPr>
        <p:spPr>
          <a:xfrm>
            <a:off x="457200" y="5148072"/>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58368" y="5276088"/>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image.png"/>
          <p:cNvPicPr>
            <a:picLocks noChangeAspect="1"/>
          </p:cNvPicPr>
          <p:nvPr/>
        </p:nvPicPr>
        <p:blipFill>
          <a:blip r:embed="rId6"/>
          <a:stretch>
            <a:fillRect/>
          </a:stretch>
        </p:blipFill>
        <p:spPr>
          <a:xfrm>
            <a:off x="805769" y="5423489"/>
            <a:ext cx="272125" cy="272125"/>
          </a:xfrm>
          <a:prstGeom prst="rect">
            <a:avLst/>
          </a:prstGeom>
        </p:spPr>
      </p:pic>
      <p:sp>
        <p:nvSpPr>
          <p:cNvPr id="64" name="TextBox 63"/>
          <p:cNvSpPr txBox="1"/>
          <p:nvPr/>
        </p:nvSpPr>
        <p:spPr>
          <a:xfrm>
            <a:off x="1417320" y="5184648"/>
            <a:ext cx="3657600" cy="256032"/>
          </a:xfrm>
          <a:prstGeom prst="rect">
            <a:avLst/>
          </a:prstGeom>
          <a:noFill/>
        </p:spPr>
        <p:txBody>
          <a:bodyPr wrap="square" lIns="0" tIns="0" rIns="0" bIns="0" anchor="t">
            <a:spAutoFit/>
          </a:bodyPr>
          <a:lstStyle/>
          <a:p>
            <a:pPr algn="l"/>
            <a:r>
              <a:rPr sz="950" b="1" i="0">
                <a:solidFill>
                  <a:srgbClr val="1E6FA8"/>
                </a:solidFill>
                <a:latin typeface="Calibri"/>
              </a:rPr>
              <a:t>DYNAMIC NARRATIVE TEXT</a:t>
            </a:r>
          </a:p>
        </p:txBody>
      </p:sp>
      <p:sp>
        <p:nvSpPr>
          <p:cNvPr id="65" name="TextBox 64"/>
          <p:cNvSpPr txBox="1"/>
          <p:nvPr/>
        </p:nvSpPr>
        <p:spPr>
          <a:xfrm>
            <a:off x="1417320" y="5404104"/>
            <a:ext cx="9966960" cy="274320"/>
          </a:xfrm>
          <a:prstGeom prst="rect">
            <a:avLst/>
          </a:prstGeom>
          <a:noFill/>
        </p:spPr>
        <p:txBody>
          <a:bodyPr wrap="square" lIns="0" tIns="0" rIns="0" bIns="0" anchor="t">
            <a:spAutoFit/>
          </a:bodyPr>
          <a:lstStyle/>
          <a:p>
            <a:pPr algn="l"/>
            <a:r>
              <a:rPr sz="1300" b="1" i="0">
                <a:solidFill>
                  <a:srgbClr val="0B3556"/>
                </a:solidFill>
                <a:latin typeface="Calibri"/>
              </a:rPr>
              <a:t>Sentences that update with the filter</a:t>
            </a:r>
          </a:p>
        </p:txBody>
      </p:sp>
      <p:sp>
        <p:nvSpPr>
          <p:cNvPr id="66" name="TextBox 65"/>
          <p:cNvSpPr txBox="1"/>
          <p:nvPr/>
        </p:nvSpPr>
        <p:spPr>
          <a:xfrm>
            <a:off x="1417320" y="5660136"/>
            <a:ext cx="10149840" cy="292608"/>
          </a:xfrm>
          <a:prstGeom prst="rect">
            <a:avLst/>
          </a:prstGeom>
          <a:noFill/>
        </p:spPr>
        <p:txBody>
          <a:bodyPr wrap="square" lIns="0" tIns="0" rIns="0" bIns="0" anchor="t">
            <a:spAutoFit/>
          </a:bodyPr>
          <a:lstStyle/>
          <a:p>
            <a:pPr algn="l"/>
            <a:r>
              <a:rPr sz="980" b="0" i="0">
                <a:solidFill>
                  <a:srgbClr val="13212B"/>
                </a:solidFill>
                <a:latin typeface="Calibri"/>
              </a:rPr>
              <a:t>Province Insight, Rank Label and Percent Label rewrite themselves live as the province selection changes — no static commentary.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E6FA8"/>
                </a:solidFill>
                <a:latin typeface="Calibri" pitchFamily="34" charset="0"/>
                <a:ea typeface="Calibri" pitchFamily="34" charset="-122"/>
                <a:cs typeface="Calibri" pitchFamily="34" charset="-120"/>
              </a:rPr>
              <a:t>APPENDIX D</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0B3556"/>
                </a:solidFill>
                <a:latin typeface="Cambria" pitchFamily="34" charset="0"/>
                <a:ea typeface="Cambria" pitchFamily="34" charset="-122"/>
                <a:cs typeface="Cambria" pitchFamily="34" charset="-120"/>
              </a:rPr>
              <a:t>Power BI Features Used</a:t>
            </a:r>
            <a:endParaRPr lang="en-US" sz="2800" dirty="0"/>
          </a:p>
        </p:txBody>
      </p:sp>
      <p:sp>
        <p:nvSpPr>
          <p:cNvPr id="35" name="Text 27"/>
          <p:cNvSpPr/>
          <p:nvPr/>
        </p:nvSpPr>
        <p:spPr>
          <a:xfrm>
            <a:off x="457200" y="6547104"/>
            <a:ext cx="7315200" cy="274320"/>
          </a:xfrm>
          <a:prstGeom prst="rect">
            <a:avLst/>
          </a:prstGeom>
          <a:noFill/>
          <a:ln/>
        </p:spPr>
        <p:txBody>
          <a:bodyPr wrap="square" lIns="0" tIns="0" rIns="0" bIns="0" rtlCol="0" anchor="ctr"/>
          <a:lstStyle/>
          <a:p>
            <a:pPr marL="0" indent="0" algn="l">
              <a:buNone/>
            </a:pPr>
            <a:r>
              <a:rPr lang="en-US" sz="900" dirty="0">
                <a:solidFill>
                  <a:srgbClr val="6E7A87"/>
                </a:solidFill>
                <a:latin typeface="Calibri" pitchFamily="34" charset="0"/>
                <a:ea typeface="Calibri" pitchFamily="34" charset="-122"/>
                <a:cs typeface="Calibri" pitchFamily="34" charset="-120"/>
              </a:rPr>
              <a:t>Appendix D — Power BI Features</a:t>
            </a:r>
            <a:endParaRPr lang="en-US" sz="900" dirty="0"/>
          </a:p>
        </p:txBody>
      </p:sp>
      <p:sp>
        <p:nvSpPr>
          <p:cNvPr id="36" name="Text 28"/>
          <p:cNvSpPr/>
          <p:nvPr/>
        </p:nvSpPr>
        <p:spPr>
          <a:xfrm>
            <a:off x="11002975" y="6547104"/>
            <a:ext cx="822960" cy="274320"/>
          </a:xfrm>
          <a:prstGeom prst="rect">
            <a:avLst/>
          </a:prstGeom>
          <a:noFill/>
          <a:ln/>
        </p:spPr>
        <p:txBody>
          <a:bodyPr wrap="square" lIns="0" tIns="0" rIns="0" bIns="0" rtlCol="0" anchor="ctr"/>
          <a:lstStyle/>
          <a:p>
            <a:pPr marL="0" indent="0" algn="r">
              <a:buNone/>
            </a:pPr>
            <a:r>
              <a:rPr lang="en-US" sz="900" dirty="0">
                <a:solidFill>
                  <a:srgbClr val="6E7A87"/>
                </a:solidFill>
                <a:latin typeface="Calibri" pitchFamily="34" charset="0"/>
                <a:ea typeface="Calibri" pitchFamily="34" charset="-122"/>
                <a:cs typeface="Calibri" pitchFamily="34" charset="-120"/>
              </a:rPr>
              <a:t>15 / 15</a:t>
            </a:r>
            <a:endParaRPr lang="en-US" sz="900" dirty="0"/>
          </a:p>
        </p:txBody>
      </p:sp>
      <p:sp>
        <p:nvSpPr>
          <p:cNvPr id="37" name="Rounded Rectangle 36"/>
          <p:cNvSpPr/>
          <p:nvPr/>
        </p:nvSpPr>
        <p:spPr>
          <a:xfrm>
            <a:off x="457200" y="1417320"/>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58368" y="1545336"/>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mage.png"/>
          <p:cNvPicPr>
            <a:picLocks noChangeAspect="1"/>
          </p:cNvPicPr>
          <p:nvPr/>
        </p:nvPicPr>
        <p:blipFill>
          <a:blip r:embed="rId2"/>
          <a:stretch>
            <a:fillRect/>
          </a:stretch>
        </p:blipFill>
        <p:spPr>
          <a:xfrm>
            <a:off x="805769" y="1692737"/>
            <a:ext cx="272125" cy="272125"/>
          </a:xfrm>
          <a:prstGeom prst="rect">
            <a:avLst/>
          </a:prstGeom>
        </p:spPr>
      </p:pic>
      <p:sp>
        <p:nvSpPr>
          <p:cNvPr id="40" name="TextBox 39"/>
          <p:cNvSpPr txBox="1"/>
          <p:nvPr/>
        </p:nvSpPr>
        <p:spPr>
          <a:xfrm>
            <a:off x="1417320" y="1453896"/>
            <a:ext cx="5029200" cy="256032"/>
          </a:xfrm>
          <a:prstGeom prst="rect">
            <a:avLst/>
          </a:prstGeom>
          <a:noFill/>
        </p:spPr>
        <p:txBody>
          <a:bodyPr wrap="square" lIns="0" tIns="0" rIns="0" bIns="0" anchor="t">
            <a:spAutoFit/>
          </a:bodyPr>
          <a:lstStyle/>
          <a:p>
            <a:pPr algn="l"/>
            <a:r>
              <a:rPr sz="950" b="1" i="0">
                <a:solidFill>
                  <a:srgbClr val="1E6FA8"/>
                </a:solidFill>
                <a:latin typeface="Calibri"/>
              </a:rPr>
              <a:t>FIELD PARAMETERS</a:t>
            </a:r>
          </a:p>
        </p:txBody>
      </p:sp>
      <p:sp>
        <p:nvSpPr>
          <p:cNvPr id="41" name="TextBox 40"/>
          <p:cNvSpPr txBox="1"/>
          <p:nvPr/>
        </p:nvSpPr>
        <p:spPr>
          <a:xfrm>
            <a:off x="1417320" y="1673352"/>
            <a:ext cx="9966960" cy="274320"/>
          </a:xfrm>
          <a:prstGeom prst="rect">
            <a:avLst/>
          </a:prstGeom>
          <a:noFill/>
        </p:spPr>
        <p:txBody>
          <a:bodyPr wrap="square" lIns="0" tIns="0" rIns="0" bIns="0" anchor="t">
            <a:spAutoFit/>
          </a:bodyPr>
          <a:lstStyle/>
          <a:p>
            <a:pPr algn="l"/>
            <a:r>
              <a:rPr sz="1300" b="1" i="0">
                <a:solidFill>
                  <a:srgbClr val="0B3556"/>
                </a:solidFill>
                <a:latin typeface="Calibri"/>
              </a:rPr>
              <a:t>Metric Selector, built natively</a:t>
            </a:r>
          </a:p>
        </p:txBody>
      </p:sp>
      <p:sp>
        <p:nvSpPr>
          <p:cNvPr id="42" name="TextBox 41"/>
          <p:cNvSpPr txBox="1"/>
          <p:nvPr/>
        </p:nvSpPr>
        <p:spPr>
          <a:xfrm>
            <a:off x="1417320" y="1929384"/>
            <a:ext cx="10149840" cy="292608"/>
          </a:xfrm>
          <a:prstGeom prst="rect">
            <a:avLst/>
          </a:prstGeom>
          <a:noFill/>
        </p:spPr>
        <p:txBody>
          <a:bodyPr wrap="square" lIns="0" tIns="0" rIns="0" bIns="0" anchor="t">
            <a:spAutoFit/>
          </a:bodyPr>
          <a:lstStyle/>
          <a:p>
            <a:pPr algn="l"/>
            <a:r>
              <a:rPr sz="980" b="0" i="0">
                <a:solidFill>
                  <a:srgbClr val="13212B"/>
                </a:solidFill>
                <a:latin typeface="Calibri"/>
              </a:rPr>
              <a:t>Created via Power BI's “New parameter → Fields” — not a manual SWITCH measure.</a:t>
            </a:r>
          </a:p>
        </p:txBody>
      </p:sp>
      <p:sp>
        <p:nvSpPr>
          <p:cNvPr id="43" name="Rounded Rectangle 42"/>
          <p:cNvSpPr/>
          <p:nvPr/>
        </p:nvSpPr>
        <p:spPr>
          <a:xfrm>
            <a:off x="457200" y="2350008"/>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58368" y="2478024"/>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clock_FFFFFF.png"/>
          <p:cNvPicPr>
            <a:picLocks noChangeAspect="1"/>
          </p:cNvPicPr>
          <p:nvPr/>
        </p:nvPicPr>
        <p:blipFill>
          <a:blip r:embed="rId3"/>
          <a:stretch>
            <a:fillRect/>
          </a:stretch>
        </p:blipFill>
        <p:spPr>
          <a:xfrm>
            <a:off x="805769" y="2625425"/>
            <a:ext cx="272125" cy="272125"/>
          </a:xfrm>
          <a:prstGeom prst="rect">
            <a:avLst/>
          </a:prstGeom>
        </p:spPr>
      </p:pic>
      <p:sp>
        <p:nvSpPr>
          <p:cNvPr id="46" name="TextBox 45"/>
          <p:cNvSpPr txBox="1"/>
          <p:nvPr/>
        </p:nvSpPr>
        <p:spPr>
          <a:xfrm>
            <a:off x="1417320" y="2386584"/>
            <a:ext cx="5029200" cy="256032"/>
          </a:xfrm>
          <a:prstGeom prst="rect">
            <a:avLst/>
          </a:prstGeom>
          <a:noFill/>
        </p:spPr>
        <p:txBody>
          <a:bodyPr wrap="square" lIns="0" tIns="0" rIns="0" bIns="0" anchor="t">
            <a:spAutoFit/>
          </a:bodyPr>
          <a:lstStyle/>
          <a:p>
            <a:pPr algn="l"/>
            <a:r>
              <a:rPr sz="950" b="1" i="0">
                <a:solidFill>
                  <a:srgbClr val="1E6FA8"/>
                </a:solidFill>
                <a:latin typeface="Calibri"/>
              </a:rPr>
              <a:t>TIME-INTELLIGENCE DAX</a:t>
            </a:r>
          </a:p>
        </p:txBody>
      </p:sp>
      <p:sp>
        <p:nvSpPr>
          <p:cNvPr id="47" name="TextBox 46"/>
          <p:cNvSpPr txBox="1"/>
          <p:nvPr/>
        </p:nvSpPr>
        <p:spPr>
          <a:xfrm>
            <a:off x="1417320" y="2606040"/>
            <a:ext cx="9966960" cy="274320"/>
          </a:xfrm>
          <a:prstGeom prst="rect">
            <a:avLst/>
          </a:prstGeom>
          <a:noFill/>
        </p:spPr>
        <p:txBody>
          <a:bodyPr wrap="square" lIns="0" tIns="0" rIns="0" bIns="0" anchor="t">
            <a:spAutoFit/>
          </a:bodyPr>
          <a:lstStyle/>
          <a:p>
            <a:pPr algn="l"/>
            <a:r>
              <a:rPr sz="1300" b="1" i="0">
                <a:solidFill>
                  <a:srgbClr val="0B3556"/>
                </a:solidFill>
                <a:latin typeface="Calibri"/>
              </a:rPr>
              <a:t>DATEADD-based MoM measures</a:t>
            </a:r>
          </a:p>
        </p:txBody>
      </p:sp>
      <p:sp>
        <p:nvSpPr>
          <p:cNvPr id="48" name="TextBox 47"/>
          <p:cNvSpPr txBox="1"/>
          <p:nvPr/>
        </p:nvSpPr>
        <p:spPr>
          <a:xfrm>
            <a:off x="1417320" y="2862072"/>
            <a:ext cx="10149840" cy="292608"/>
          </a:xfrm>
          <a:prstGeom prst="rect">
            <a:avLst/>
          </a:prstGeom>
          <a:noFill/>
        </p:spPr>
        <p:txBody>
          <a:bodyPr wrap="square" lIns="0" tIns="0" rIns="0" bIns="0" anchor="t">
            <a:spAutoFit/>
          </a:bodyPr>
          <a:lstStyle/>
          <a:p>
            <a:pPr algn="l"/>
            <a:r>
              <a:rPr sz="980" b="0" i="0">
                <a:solidFill>
                  <a:srgbClr val="13212B"/>
                </a:solidFill>
                <a:latin typeface="Calibri"/>
              </a:rPr>
              <a:t>Mirrored on both Fact_Streaming and Dim_Calendar to support card conditional-formatting arrows.</a:t>
            </a:r>
          </a:p>
        </p:txBody>
      </p:sp>
      <p:sp>
        <p:nvSpPr>
          <p:cNvPr id="49" name="Rounded Rectangle 48"/>
          <p:cNvSpPr/>
          <p:nvPr/>
        </p:nvSpPr>
        <p:spPr>
          <a:xfrm>
            <a:off x="457200" y="3282696"/>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58368" y="3410712"/>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image.png"/>
          <p:cNvPicPr>
            <a:picLocks noChangeAspect="1"/>
          </p:cNvPicPr>
          <p:nvPr/>
        </p:nvPicPr>
        <p:blipFill>
          <a:blip r:embed="rId4"/>
          <a:stretch>
            <a:fillRect/>
          </a:stretch>
        </p:blipFill>
        <p:spPr>
          <a:xfrm>
            <a:off x="805769" y="3558113"/>
            <a:ext cx="272125" cy="272125"/>
          </a:xfrm>
          <a:prstGeom prst="rect">
            <a:avLst/>
          </a:prstGeom>
        </p:spPr>
      </p:pic>
      <p:sp>
        <p:nvSpPr>
          <p:cNvPr id="52" name="TextBox 51"/>
          <p:cNvSpPr txBox="1"/>
          <p:nvPr/>
        </p:nvSpPr>
        <p:spPr>
          <a:xfrm>
            <a:off x="1417320" y="3319272"/>
            <a:ext cx="5029200" cy="256032"/>
          </a:xfrm>
          <a:prstGeom prst="rect">
            <a:avLst/>
          </a:prstGeom>
          <a:noFill/>
        </p:spPr>
        <p:txBody>
          <a:bodyPr wrap="square" lIns="0" tIns="0" rIns="0" bIns="0" anchor="t">
            <a:spAutoFit/>
          </a:bodyPr>
          <a:lstStyle/>
          <a:p>
            <a:pPr algn="l"/>
            <a:r>
              <a:rPr sz="950" b="1" i="0">
                <a:solidFill>
                  <a:srgbClr val="1E6FA8"/>
                </a:solidFill>
                <a:latin typeface="Calibri"/>
              </a:rPr>
              <a:t>RANKX &amp; TOPN</a:t>
            </a:r>
          </a:p>
        </p:txBody>
      </p:sp>
      <p:sp>
        <p:nvSpPr>
          <p:cNvPr id="53" name="TextBox 52"/>
          <p:cNvSpPr txBox="1"/>
          <p:nvPr/>
        </p:nvSpPr>
        <p:spPr>
          <a:xfrm>
            <a:off x="1417320" y="3538728"/>
            <a:ext cx="9966960" cy="274320"/>
          </a:xfrm>
          <a:prstGeom prst="rect">
            <a:avLst/>
          </a:prstGeom>
          <a:noFill/>
        </p:spPr>
        <p:txBody>
          <a:bodyPr wrap="square" lIns="0" tIns="0" rIns="0" bIns="0" anchor="t">
            <a:spAutoFit/>
          </a:bodyPr>
          <a:lstStyle/>
          <a:p>
            <a:pPr algn="l"/>
            <a:r>
              <a:rPr sz="1300" b="1" i="0">
                <a:solidFill>
                  <a:srgbClr val="0B3556"/>
                </a:solidFill>
                <a:latin typeface="Calibri"/>
              </a:rPr>
              <a:t>Live ranking and dominant-category lookups</a:t>
            </a:r>
          </a:p>
        </p:txBody>
      </p:sp>
      <p:sp>
        <p:nvSpPr>
          <p:cNvPr id="54" name="TextBox 53"/>
          <p:cNvSpPr txBox="1"/>
          <p:nvPr/>
        </p:nvSpPr>
        <p:spPr>
          <a:xfrm>
            <a:off x="1417320" y="3794760"/>
            <a:ext cx="10149840" cy="292608"/>
          </a:xfrm>
          <a:prstGeom prst="rect">
            <a:avLst/>
          </a:prstGeom>
          <a:noFill/>
        </p:spPr>
        <p:txBody>
          <a:bodyPr wrap="square" lIns="0" tIns="0" rIns="0" bIns="0" anchor="t">
            <a:spAutoFit/>
          </a:bodyPr>
          <a:lstStyle/>
          <a:p>
            <a:pPr algn="l"/>
            <a:r>
              <a:rPr sz="980" b="0" i="0">
                <a:solidFill>
                  <a:srgbClr val="13212B"/>
                </a:solidFill>
                <a:latin typeface="Calibri"/>
              </a:rPr>
              <a:t>Province Rank, Top Age Group and Top Content Type are computed fresh in the current filter context, not hardcoded.</a:t>
            </a:r>
          </a:p>
        </p:txBody>
      </p:sp>
      <p:sp>
        <p:nvSpPr>
          <p:cNvPr id="55" name="Rounded Rectangle 54"/>
          <p:cNvSpPr/>
          <p:nvPr/>
        </p:nvSpPr>
        <p:spPr>
          <a:xfrm>
            <a:off x="457200" y="4215384"/>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58368" y="4343400"/>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image.png"/>
          <p:cNvPicPr>
            <a:picLocks noChangeAspect="1"/>
          </p:cNvPicPr>
          <p:nvPr/>
        </p:nvPicPr>
        <p:blipFill>
          <a:blip r:embed="rId5"/>
          <a:stretch>
            <a:fillRect/>
          </a:stretch>
        </p:blipFill>
        <p:spPr>
          <a:xfrm>
            <a:off x="805769" y="4490801"/>
            <a:ext cx="272125" cy="272125"/>
          </a:xfrm>
          <a:prstGeom prst="rect">
            <a:avLst/>
          </a:prstGeom>
        </p:spPr>
      </p:pic>
      <p:sp>
        <p:nvSpPr>
          <p:cNvPr id="58" name="TextBox 57"/>
          <p:cNvSpPr txBox="1"/>
          <p:nvPr/>
        </p:nvSpPr>
        <p:spPr>
          <a:xfrm>
            <a:off x="1417320" y="4251960"/>
            <a:ext cx="5029200" cy="256032"/>
          </a:xfrm>
          <a:prstGeom prst="rect">
            <a:avLst/>
          </a:prstGeom>
          <a:noFill/>
        </p:spPr>
        <p:txBody>
          <a:bodyPr wrap="square" lIns="0" tIns="0" rIns="0" bIns="0" anchor="t">
            <a:spAutoFit/>
          </a:bodyPr>
          <a:lstStyle/>
          <a:p>
            <a:pPr algn="l"/>
            <a:r>
              <a:rPr sz="950" b="1" i="0">
                <a:solidFill>
                  <a:srgbClr val="1E6FA8"/>
                </a:solidFill>
                <a:latin typeface="Calibri"/>
              </a:rPr>
              <a:t>DYNAMIC TEXT MEASURES</a:t>
            </a:r>
          </a:p>
        </p:txBody>
      </p:sp>
      <p:sp>
        <p:nvSpPr>
          <p:cNvPr id="59" name="TextBox 58"/>
          <p:cNvSpPr txBox="1"/>
          <p:nvPr/>
        </p:nvSpPr>
        <p:spPr>
          <a:xfrm>
            <a:off x="1417320" y="4471416"/>
            <a:ext cx="9966960" cy="274320"/>
          </a:xfrm>
          <a:prstGeom prst="rect">
            <a:avLst/>
          </a:prstGeom>
          <a:noFill/>
        </p:spPr>
        <p:txBody>
          <a:bodyPr wrap="square" lIns="0" tIns="0" rIns="0" bIns="0" anchor="t">
            <a:spAutoFit/>
          </a:bodyPr>
          <a:lstStyle/>
          <a:p>
            <a:pPr algn="l"/>
            <a:r>
              <a:rPr sz="1300" b="1" i="0">
                <a:solidFill>
                  <a:srgbClr val="0B3556"/>
                </a:solidFill>
                <a:latin typeface="Calibri"/>
              </a:rPr>
              <a:t>Four sentence-building measures</a:t>
            </a:r>
          </a:p>
        </p:txBody>
      </p:sp>
      <p:sp>
        <p:nvSpPr>
          <p:cNvPr id="60" name="TextBox 59"/>
          <p:cNvSpPr txBox="1"/>
          <p:nvPr/>
        </p:nvSpPr>
        <p:spPr>
          <a:xfrm>
            <a:off x="1417320" y="4727448"/>
            <a:ext cx="10149840" cy="292608"/>
          </a:xfrm>
          <a:prstGeom prst="rect">
            <a:avLst/>
          </a:prstGeom>
          <a:noFill/>
        </p:spPr>
        <p:txBody>
          <a:bodyPr wrap="square" lIns="0" tIns="0" rIns="0" bIns="0" anchor="t">
            <a:spAutoFit/>
          </a:bodyPr>
          <a:lstStyle/>
          <a:p>
            <a:pPr algn="l"/>
            <a:r>
              <a:rPr sz="980" b="0" i="0">
                <a:solidFill>
                  <a:srgbClr val="13212B"/>
                </a:solidFill>
                <a:latin typeface="Calibri"/>
              </a:rPr>
              <a:t>Total Users with Trend, Rank Label, Percent Label and Province Insight turn live numbers into readable Indonesian sentences.</a:t>
            </a:r>
          </a:p>
        </p:txBody>
      </p:sp>
      <p:sp>
        <p:nvSpPr>
          <p:cNvPr id="61" name="Rounded Rectangle 60"/>
          <p:cNvSpPr/>
          <p:nvPr/>
        </p:nvSpPr>
        <p:spPr>
          <a:xfrm>
            <a:off x="457200" y="5148072"/>
            <a:ext cx="11292840" cy="822960"/>
          </a:xfrm>
          <a:prstGeom prst="roundRect">
            <a:avLst>
              <a:gd name="adj" fmla="val 6000"/>
            </a:avLst>
          </a:prstGeom>
          <a:solidFill>
            <a:srgbClr val="F5F7FA"/>
          </a:solidFill>
          <a:ln w="9525">
            <a:solidFill>
              <a:srgbClr val="D7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58368" y="5276088"/>
            <a:ext cx="566928" cy="566928"/>
          </a:xfrm>
          <a:prstGeom prst="ellipse">
            <a:avLst/>
          </a:prstGeom>
          <a:solidFill>
            <a:srgbClr val="0B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image.png"/>
          <p:cNvPicPr>
            <a:picLocks noChangeAspect="1"/>
          </p:cNvPicPr>
          <p:nvPr/>
        </p:nvPicPr>
        <p:blipFill>
          <a:blip r:embed="rId6"/>
          <a:stretch>
            <a:fillRect/>
          </a:stretch>
        </p:blipFill>
        <p:spPr>
          <a:xfrm>
            <a:off x="805769" y="5423489"/>
            <a:ext cx="272125" cy="272125"/>
          </a:xfrm>
          <a:prstGeom prst="rect">
            <a:avLst/>
          </a:prstGeom>
        </p:spPr>
      </p:pic>
      <p:sp>
        <p:nvSpPr>
          <p:cNvPr id="64" name="TextBox 63"/>
          <p:cNvSpPr txBox="1"/>
          <p:nvPr/>
        </p:nvSpPr>
        <p:spPr>
          <a:xfrm>
            <a:off x="1417320" y="5184648"/>
            <a:ext cx="5029200" cy="256032"/>
          </a:xfrm>
          <a:prstGeom prst="rect">
            <a:avLst/>
          </a:prstGeom>
          <a:noFill/>
        </p:spPr>
        <p:txBody>
          <a:bodyPr wrap="square" lIns="0" tIns="0" rIns="0" bIns="0" anchor="t">
            <a:spAutoFit/>
          </a:bodyPr>
          <a:lstStyle/>
          <a:p>
            <a:pPr algn="l"/>
            <a:r>
              <a:rPr sz="950" b="1" i="0">
                <a:solidFill>
                  <a:srgbClr val="1E6FA8"/>
                </a:solidFill>
                <a:latin typeface="Calibri"/>
              </a:rPr>
              <a:t>DATA-QUALITY FLAG &amp; CLEANUP NOTE</a:t>
            </a:r>
          </a:p>
        </p:txBody>
      </p:sp>
      <p:sp>
        <p:nvSpPr>
          <p:cNvPr id="65" name="TextBox 64"/>
          <p:cNvSpPr txBox="1"/>
          <p:nvPr/>
        </p:nvSpPr>
        <p:spPr>
          <a:xfrm>
            <a:off x="1417320" y="5404104"/>
            <a:ext cx="9966960" cy="274320"/>
          </a:xfrm>
          <a:prstGeom prst="rect">
            <a:avLst/>
          </a:prstGeom>
          <a:noFill/>
        </p:spPr>
        <p:txBody>
          <a:bodyPr wrap="square" lIns="0" tIns="0" rIns="0" bIns="0" anchor="t">
            <a:spAutoFit/>
          </a:bodyPr>
          <a:lstStyle/>
          <a:p>
            <a:pPr algn="l"/>
            <a:r>
              <a:rPr sz="1300" b="1" i="0">
                <a:solidFill>
                  <a:srgbClr val="0B3556"/>
                </a:solidFill>
                <a:latin typeface="Calibri"/>
              </a:rPr>
              <a:t>Is Outlier column + 3 duplicate date tables</a:t>
            </a:r>
          </a:p>
        </p:txBody>
      </p:sp>
      <p:sp>
        <p:nvSpPr>
          <p:cNvPr id="66" name="TextBox 65"/>
          <p:cNvSpPr txBox="1"/>
          <p:nvPr/>
        </p:nvSpPr>
        <p:spPr>
          <a:xfrm>
            <a:off x="1417320" y="5660136"/>
            <a:ext cx="10149840" cy="292608"/>
          </a:xfrm>
          <a:prstGeom prst="rect">
            <a:avLst/>
          </a:prstGeom>
          <a:noFill/>
        </p:spPr>
        <p:txBody>
          <a:bodyPr wrap="square" lIns="0" tIns="0" rIns="0" bIns="0" anchor="t">
            <a:spAutoFit/>
          </a:bodyPr>
          <a:lstStyle/>
          <a:p>
            <a:pPr algn="l"/>
            <a:r>
              <a:rPr sz="980" b="0" i="0">
                <a:solidFill>
                  <a:srgbClr val="13212B"/>
                </a:solidFill>
                <a:latin typeface="Calibri"/>
              </a:rPr>
              <a:t>Power Query flags sessions over 6 hours; the model would benefit from marking Dim_Calendar as the official date table to remove the auto-generated duplicates.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4307</Words>
  <Application>Microsoft Office PowerPoint</Application>
  <PresentationFormat>Widescreen</PresentationFormat>
  <Paragraphs>327</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naufal</cp:lastModifiedBy>
  <cp:revision>2</cp:revision>
  <dcterms:created xsi:type="dcterms:W3CDTF">2026-09-05T14:54:24Z</dcterms:created>
  <dcterms:modified xsi:type="dcterms:W3CDTF">2026-09-06T11:03:57Z</dcterms:modified>
</cp:coreProperties>
</file>